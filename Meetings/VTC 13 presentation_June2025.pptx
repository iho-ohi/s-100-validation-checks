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6" r:id="rId2"/>
    <p:sldId id="318" r:id="rId3"/>
    <p:sldId id="315" r:id="rId4"/>
    <p:sldId id="422" r:id="rId5"/>
    <p:sldId id="417" r:id="rId6"/>
    <p:sldId id="414" r:id="rId7"/>
    <p:sldId id="415" r:id="rId8"/>
    <p:sldId id="416" r:id="rId9"/>
    <p:sldId id="418" r:id="rId10"/>
    <p:sldId id="420" r:id="rId11"/>
    <p:sldId id="358" r:id="rId12"/>
    <p:sldId id="327" r:id="rId13"/>
  </p:sldIdLst>
  <p:sldSz cx="12192000" cy="6858000"/>
  <p:notesSz cx="6805613" cy="99441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10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E966-1BD1-4C85-866E-DF3AF3395196}" type="slidenum">
              <a:rPr lang="fr-FR" smtClean="0"/>
              <a:t>‹#›</a:t>
            </a:fld>
            <a:endParaRPr lang="fr-FR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1319" y="0"/>
            <a:ext cx="3437937" cy="1145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225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E966-1BD1-4C85-866E-DF3AF3395196}" type="slidenum">
              <a:rPr lang="fr-FR" smtClean="0"/>
              <a:t>‹#›</a:t>
            </a:fld>
            <a:endParaRPr lang="fr-FR" dirty="0"/>
          </a:p>
        </p:txBody>
      </p:sp>
      <p:grpSp>
        <p:nvGrpSpPr>
          <p:cNvPr id="7" name="Group 6"/>
          <p:cNvGrpSpPr/>
          <p:nvPr/>
        </p:nvGrpSpPr>
        <p:grpSpPr>
          <a:xfrm>
            <a:off x="-2" y="0"/>
            <a:ext cx="1884105" cy="1887824"/>
            <a:chOff x="-2" y="0"/>
            <a:chExt cx="1884105" cy="1887824"/>
          </a:xfrm>
        </p:grpSpPr>
        <p:grpSp>
          <p:nvGrpSpPr>
            <p:cNvPr id="8" name="Group 7"/>
            <p:cNvGrpSpPr/>
            <p:nvPr/>
          </p:nvGrpSpPr>
          <p:grpSpPr>
            <a:xfrm>
              <a:off x="-2" y="818"/>
              <a:ext cx="1884105" cy="1887006"/>
              <a:chOff x="-2" y="818"/>
              <a:chExt cx="1884105" cy="1887006"/>
            </a:xfrm>
          </p:grpSpPr>
          <p:pic>
            <p:nvPicPr>
              <p:cNvPr id="10" name="Picture 9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39566" y="818"/>
                <a:ext cx="944537" cy="941640"/>
              </a:xfrm>
              <a:prstGeom prst="rect">
                <a:avLst/>
              </a:prstGeom>
            </p:spPr>
          </p:pic>
          <p:pic>
            <p:nvPicPr>
              <p:cNvPr id="11" name="Picture 10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" y="942458"/>
                <a:ext cx="939567" cy="945366"/>
              </a:xfrm>
              <a:prstGeom prst="rect">
                <a:avLst/>
              </a:prstGeom>
            </p:spPr>
          </p:pic>
        </p:grp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" y="0"/>
              <a:ext cx="939567" cy="942458"/>
            </a:xfrm>
            <a:prstGeom prst="rect">
              <a:avLst/>
            </a:prstGeom>
          </p:spPr>
        </p:pic>
      </p:grp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879132" y="0"/>
            <a:ext cx="10312867" cy="883167"/>
          </a:xfrm>
        </p:spPr>
        <p:txBody>
          <a:bodyPr>
            <a:normAutofit/>
          </a:bodyPr>
          <a:lstStyle>
            <a:lvl1pPr>
              <a:defRPr sz="2400" cap="all" baseline="0">
                <a:latin typeface="Arial Black" panose="020B0A04020102020204" pitchFamily="34" charset="0"/>
                <a:cs typeface="Adobe Naskh Medium" panose="01010101010101010101" pitchFamily="50" charset="-78"/>
              </a:defRPr>
            </a:lvl1pPr>
          </a:lstStyle>
          <a:p>
            <a:r>
              <a:rPr lang="en-US"/>
              <a:t>Click to edit Master title style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44420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EDD24-6168-4C6E-B4D2-E6B466BDF756}" type="datetimeFigureOut">
              <a:rPr lang="fr-FR" smtClean="0"/>
              <a:t>16/06/2025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E966-1BD1-4C85-866E-DF3AF3395196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56858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EDD24-6168-4C6E-B4D2-E6B466BDF756}" type="datetimeFigureOut">
              <a:rPr lang="fr-FR" smtClean="0"/>
              <a:t>16/06/2025</a:t>
            </a:fld>
            <a:endParaRPr lang="fr-F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E966-1BD1-4C85-866E-DF3AF3395196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4080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EDD24-6168-4C6E-B4D2-E6B466BDF756}" type="datetimeFigureOut">
              <a:rPr lang="fr-FR" smtClean="0"/>
              <a:t>16/06/2025</a:t>
            </a:fld>
            <a:endParaRPr lang="fr-F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E966-1BD1-4C85-866E-DF3AF3395196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62058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EDD24-6168-4C6E-B4D2-E6B466BDF756}" type="datetimeFigureOut">
              <a:rPr lang="fr-FR" smtClean="0"/>
              <a:t>16/06/2025</a:t>
            </a:fld>
            <a:endParaRPr lang="fr-F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E966-1BD1-4C85-866E-DF3AF3395196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15845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EDD24-6168-4C6E-B4D2-E6B466BDF756}" type="datetimeFigureOut">
              <a:rPr lang="fr-FR" smtClean="0"/>
              <a:t>16/06/2025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E966-1BD1-4C85-866E-DF3AF3395196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99216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lang="fr-F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EDD24-6168-4C6E-B4D2-E6B466BDF756}" type="datetimeFigureOut">
              <a:rPr lang="fr-FR" smtClean="0"/>
              <a:t>16/06/2025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E966-1BD1-4C85-866E-DF3AF3395196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76748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EDD24-6168-4C6E-B4D2-E6B466BDF756}" type="datetimeFigureOut">
              <a:rPr lang="fr-FR" smtClean="0"/>
              <a:t>16/06/2025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E966-1BD1-4C85-866E-DF3AF3395196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26867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EDD24-6168-4C6E-B4D2-E6B466BDF756}" type="datetimeFigureOut">
              <a:rPr lang="fr-FR" smtClean="0"/>
              <a:t>16/06/2025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E966-1BD1-4C85-866E-DF3AF3395196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64010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EDD24-6168-4C6E-B4D2-E6B466BDF756}" type="datetimeFigureOut">
              <a:rPr lang="fr-FR" smtClean="0"/>
              <a:t>16/06/2025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D0E966-1BD1-4C85-866E-DF3AF3395196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68783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33383" y="2498209"/>
            <a:ext cx="9776088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S-100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Validation Tests sub group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13</a:t>
            </a:r>
            <a:r>
              <a:rPr lang="en-GB" sz="2400" b="1" baseline="300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VTC Meeting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ctr">
              <a:defRPr/>
            </a:pPr>
            <a:r>
              <a:rPr lang="en-GB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</a:t>
            </a:r>
            <a:r>
              <a:rPr lang="en-GB" sz="24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GB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June 2025</a:t>
            </a:r>
            <a:endParaRPr lang="en-GB" sz="24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829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9125CD-4B94-44E0-9DF0-58984603E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659" y="1692235"/>
            <a:ext cx="10678612" cy="4494810"/>
          </a:xfrm>
        </p:spPr>
        <p:txBody>
          <a:bodyPr>
            <a:no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2000" dirty="0">
                <a:solidFill>
                  <a:srgbClr val="000000"/>
                </a:solidFill>
                <a:ea typeface="Calibri" panose="020F0502020204030204" pitchFamily="34" charset="0"/>
              </a:rPr>
              <a:t>Meeting participants are kindly requested to note the following meeting protocols;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00" dirty="0">
                <a:solidFill>
                  <a:srgbClr val="000000"/>
                </a:solidFill>
                <a:ea typeface="Calibri" panose="020F0502020204030204" pitchFamily="34" charset="0"/>
              </a:rPr>
              <a:t>Please keep your camera and microphone turned </a:t>
            </a:r>
            <a:r>
              <a:rPr lang="en-GB" sz="1400" b="1" dirty="0">
                <a:solidFill>
                  <a:srgbClr val="000000"/>
                </a:solidFill>
                <a:ea typeface="Calibri" panose="020F0502020204030204" pitchFamily="34" charset="0"/>
              </a:rPr>
              <a:t>“off”</a:t>
            </a:r>
            <a:r>
              <a:rPr lang="en-GB" sz="1400" dirty="0">
                <a:solidFill>
                  <a:srgbClr val="000000"/>
                </a:solidFill>
                <a:ea typeface="Calibri" panose="020F0502020204030204" pitchFamily="34" charset="0"/>
              </a:rPr>
              <a:t> if you are not talking or presenting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00" dirty="0">
                <a:solidFill>
                  <a:srgbClr val="000000"/>
                </a:solidFill>
                <a:ea typeface="Calibri" panose="020F0502020204030204" pitchFamily="34" charset="0"/>
              </a:rPr>
              <a:t>If you want to make an intervention, </a:t>
            </a:r>
            <a:r>
              <a:rPr lang="en-GB" sz="1400" b="1" dirty="0">
                <a:solidFill>
                  <a:srgbClr val="000000"/>
                </a:solidFill>
                <a:ea typeface="Calibri" panose="020F0502020204030204" pitchFamily="34" charset="0"/>
              </a:rPr>
              <a:t>please turn your camera and microphone on and, raise your hand </a:t>
            </a:r>
            <a:r>
              <a:rPr lang="en-GB" sz="1400" dirty="0">
                <a:solidFill>
                  <a:srgbClr val="000000"/>
                </a:solidFill>
                <a:ea typeface="Calibri" panose="020F0502020204030204" pitchFamily="34" charset="0"/>
              </a:rPr>
              <a:t>to indicate that you wish to speak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00" dirty="0">
                <a:solidFill>
                  <a:srgbClr val="000000"/>
                </a:solidFill>
                <a:ea typeface="Calibri" panose="020F0502020204030204" pitchFamily="34" charset="0"/>
              </a:rPr>
              <a:t>Don’t forget to turn your microphone </a:t>
            </a:r>
            <a:r>
              <a:rPr lang="en-GB" sz="1400" b="1" dirty="0">
                <a:solidFill>
                  <a:srgbClr val="000000"/>
                </a:solidFill>
                <a:ea typeface="Calibri" panose="020F0502020204030204" pitchFamily="34" charset="0"/>
              </a:rPr>
              <a:t>“on”</a:t>
            </a:r>
            <a:r>
              <a:rPr lang="en-GB" sz="1400" dirty="0">
                <a:solidFill>
                  <a:srgbClr val="000000"/>
                </a:solidFill>
                <a:ea typeface="Calibri" panose="020F0502020204030204" pitchFamily="34" charset="0"/>
              </a:rPr>
              <a:t> before speaking, and </a:t>
            </a:r>
            <a:r>
              <a:rPr lang="en-GB" sz="1400" b="1" dirty="0">
                <a:solidFill>
                  <a:srgbClr val="000000"/>
                </a:solidFill>
                <a:ea typeface="Calibri" panose="020F0502020204030204" pitchFamily="34" charset="0"/>
              </a:rPr>
              <a:t>“off” </a:t>
            </a:r>
            <a:r>
              <a:rPr lang="en-GB" sz="1400" dirty="0">
                <a:solidFill>
                  <a:srgbClr val="000000"/>
                </a:solidFill>
                <a:ea typeface="Calibri" panose="020F0502020204030204" pitchFamily="34" charset="0"/>
              </a:rPr>
              <a:t>when finished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00" dirty="0">
                <a:solidFill>
                  <a:srgbClr val="000000"/>
                </a:solidFill>
                <a:ea typeface="Calibri" panose="020F0502020204030204" pitchFamily="34" charset="0"/>
              </a:rPr>
              <a:t>Please use the </a:t>
            </a:r>
            <a:r>
              <a:rPr lang="en-GB" sz="1400" b="1" dirty="0">
                <a:solidFill>
                  <a:srgbClr val="000000"/>
                </a:solidFill>
                <a:ea typeface="Calibri" panose="020F0502020204030204" pitchFamily="34" charset="0"/>
              </a:rPr>
              <a:t>“Chat”</a:t>
            </a:r>
            <a:r>
              <a:rPr lang="en-GB" sz="1400" dirty="0">
                <a:solidFill>
                  <a:srgbClr val="000000"/>
                </a:solidFill>
                <a:ea typeface="Calibri" panose="020F0502020204030204" pitchFamily="34" charset="0"/>
              </a:rPr>
              <a:t> function to communicate an text information to the meeting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00" dirty="0">
                <a:solidFill>
                  <a:srgbClr val="000000"/>
                </a:solidFill>
                <a:ea typeface="Calibri" panose="020F0502020204030204" pitchFamily="34" charset="0"/>
              </a:rPr>
              <a:t>If you have any problems connecting using Firefox or other browser – please try using Chrome.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9EE54E-F8A4-410F-966E-CB7363C11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en-GB" b="1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Meeting protocol</a:t>
            </a:r>
            <a:endParaRPr lang="en-GB" b="1" dirty="0">
              <a:solidFill>
                <a:srgbClr val="2E74B5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5891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9125CD-4B94-44E0-9DF0-58984603E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485" y="1374937"/>
            <a:ext cx="10724818" cy="4505256"/>
          </a:xfrm>
        </p:spPr>
        <p:txBody>
          <a:bodyPr>
            <a:no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GB" sz="900" dirty="0">
              <a:solidFill>
                <a:srgbClr val="000000"/>
              </a:solidFill>
              <a:ea typeface="Calibri" panose="020F0502020204030204" pitchFamily="34" charset="0"/>
            </a:endParaRPr>
          </a:p>
          <a:p>
            <a:pPr lvl="0"/>
            <a:r>
              <a:rPr lang="da-DK" sz="2400" dirty="0"/>
              <a:t>Feedback from HSSC &amp; S-100 TSM</a:t>
            </a:r>
          </a:p>
          <a:p>
            <a:pPr lvl="0"/>
            <a:r>
              <a:rPr lang="da-DK" sz="2400" dirty="0"/>
              <a:t>Status on S-158:100 &amp; S-158:98</a:t>
            </a:r>
          </a:p>
          <a:p>
            <a:r>
              <a:rPr lang="da-DK" sz="2400" dirty="0"/>
              <a:t>Status of cross product validation – S-98</a:t>
            </a:r>
          </a:p>
          <a:p>
            <a:r>
              <a:rPr lang="en-US" sz="2400" dirty="0"/>
              <a:t>O</a:t>
            </a:r>
            <a:r>
              <a:rPr lang="da-DK" sz="2400" dirty="0"/>
              <a:t>utstanding issues</a:t>
            </a:r>
          </a:p>
          <a:p>
            <a:pPr lvl="0"/>
            <a:r>
              <a:rPr lang="da-DK" sz="2400" dirty="0"/>
              <a:t>Next steps</a:t>
            </a:r>
          </a:p>
          <a:p>
            <a:pPr lvl="1"/>
            <a:r>
              <a:rPr lang="en-US" sz="2000" dirty="0"/>
              <a:t>Tasks for S-100 WG10 (September)</a:t>
            </a:r>
            <a:endParaRPr lang="da-DK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9EE54E-F8A4-410F-966E-CB7363C11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en-GB" b="1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GB" b="1" dirty="0">
              <a:solidFill>
                <a:srgbClr val="2E74B5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617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A21391C-902B-41E5-AA43-CDA36C2DC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2841" y="1257735"/>
            <a:ext cx="10515600" cy="4981302"/>
          </a:xfrm>
        </p:spPr>
        <p:txBody>
          <a:bodyPr>
            <a:normAutofit/>
          </a:bodyPr>
          <a:lstStyle/>
          <a:p>
            <a:r>
              <a:rPr lang="en-US" dirty="0"/>
              <a:t>Approved Edition 1.0.0s for submission to HSSC</a:t>
            </a:r>
          </a:p>
          <a:p>
            <a:endParaRPr lang="en-US" dirty="0"/>
          </a:p>
          <a:p>
            <a:r>
              <a:rPr lang="en-US" dirty="0"/>
              <a:t>Discussed the issue with linking the validation clause to a document </a:t>
            </a:r>
          </a:p>
          <a:p>
            <a:pPr lvl="1"/>
            <a:r>
              <a:rPr lang="en-US" dirty="0"/>
              <a:t>S-98 &amp; potentially C-165</a:t>
            </a:r>
          </a:p>
          <a:p>
            <a:pPr lvl="1"/>
            <a:endParaRPr lang="en-US" dirty="0"/>
          </a:p>
          <a:p>
            <a:r>
              <a:rPr lang="en-US" dirty="0"/>
              <a:t>Discussed issues with criticality of checks and reaching consensus</a:t>
            </a:r>
          </a:p>
          <a:p>
            <a:pPr lvl="1"/>
            <a:endParaRPr lang="en-US" dirty="0"/>
          </a:p>
          <a:p>
            <a:r>
              <a:rPr lang="en-US" dirty="0"/>
              <a:t>Discussed how to hold the validation checks</a:t>
            </a:r>
          </a:p>
          <a:p>
            <a:pPr lvl="1"/>
            <a:r>
              <a:rPr lang="en-US" dirty="0"/>
              <a:t>Relational database, potentially Infrastructure Centre task</a:t>
            </a:r>
          </a:p>
          <a:p>
            <a:pPr marL="0" indent="0">
              <a:buNone/>
            </a:pPr>
            <a:endParaRPr lang="da-DK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414722C-A493-4E05-81AA-688AE306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TSM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397335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1131F41-2F0F-421D-A1DF-50A12180E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379" y="1253331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Increased from Classification of Error to Critical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US" sz="2400" dirty="0"/>
              <a:t>Reason: </a:t>
            </a:r>
          </a:p>
          <a:p>
            <a:pPr lvl="1"/>
            <a:r>
              <a:rPr lang="en-US" sz="2000" dirty="0"/>
              <a:t>significant impact it has on the usability of datasets on ECDIS for the mariner and processing power on the ECDIS</a:t>
            </a:r>
          </a:p>
          <a:p>
            <a:pPr marL="457200" lvl="1" indent="0">
              <a:buNone/>
            </a:pPr>
            <a:endParaRPr lang="en-US" sz="1400" dirty="0"/>
          </a:p>
          <a:p>
            <a:r>
              <a:rPr lang="en-US" sz="2400" dirty="0"/>
              <a:t>Requested by S-98/S-164 sub group</a:t>
            </a:r>
          </a:p>
          <a:p>
            <a:endParaRPr lang="en-US" sz="2000" dirty="0"/>
          </a:p>
          <a:p>
            <a:r>
              <a:rPr lang="en-US" sz="2400" dirty="0"/>
              <a:t>Was agreed at TSM 11 that PS owners decided criticality of checks for assigned S-158:xxx, made in consultations with affected stakeholders</a:t>
            </a:r>
            <a:endParaRPr lang="da-DK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AD551D-AA1E-4CAE-BAE8-1A379FAE5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check  98_7007 </a:t>
            </a:r>
            <a:endParaRPr lang="da-DK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89DDE44-31F6-4530-BD8C-7E7DE09FAC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6893657"/>
              </p:ext>
            </p:extLst>
          </p:nvPr>
        </p:nvGraphicFramePr>
        <p:xfrm>
          <a:off x="246993" y="5139558"/>
          <a:ext cx="11698013" cy="157789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72583">
                  <a:extLst>
                    <a:ext uri="{9D8B030D-6E8A-4147-A177-3AD203B41FA5}">
                      <a16:colId xmlns:a16="http://schemas.microsoft.com/office/drawing/2014/main" val="1613206475"/>
                    </a:ext>
                  </a:extLst>
                </a:gridCol>
                <a:gridCol w="580848">
                  <a:extLst>
                    <a:ext uri="{9D8B030D-6E8A-4147-A177-3AD203B41FA5}">
                      <a16:colId xmlns:a16="http://schemas.microsoft.com/office/drawing/2014/main" val="3439179262"/>
                    </a:ext>
                  </a:extLst>
                </a:gridCol>
                <a:gridCol w="945568">
                  <a:extLst>
                    <a:ext uri="{9D8B030D-6E8A-4147-A177-3AD203B41FA5}">
                      <a16:colId xmlns:a16="http://schemas.microsoft.com/office/drawing/2014/main" val="3070068042"/>
                    </a:ext>
                  </a:extLst>
                </a:gridCol>
                <a:gridCol w="2701619">
                  <a:extLst>
                    <a:ext uri="{9D8B030D-6E8A-4147-A177-3AD203B41FA5}">
                      <a16:colId xmlns:a16="http://schemas.microsoft.com/office/drawing/2014/main" val="2559068664"/>
                    </a:ext>
                  </a:extLst>
                </a:gridCol>
                <a:gridCol w="2998798">
                  <a:extLst>
                    <a:ext uri="{9D8B030D-6E8A-4147-A177-3AD203B41FA5}">
                      <a16:colId xmlns:a16="http://schemas.microsoft.com/office/drawing/2014/main" val="3886017571"/>
                    </a:ext>
                  </a:extLst>
                </a:gridCol>
                <a:gridCol w="2120771">
                  <a:extLst>
                    <a:ext uri="{9D8B030D-6E8A-4147-A177-3AD203B41FA5}">
                      <a16:colId xmlns:a16="http://schemas.microsoft.com/office/drawing/2014/main" val="3102882573"/>
                    </a:ext>
                  </a:extLst>
                </a:gridCol>
                <a:gridCol w="1377826">
                  <a:extLst>
                    <a:ext uri="{9D8B030D-6E8A-4147-A177-3AD203B41FA5}">
                      <a16:colId xmlns:a16="http://schemas.microsoft.com/office/drawing/2014/main" val="3918853763"/>
                    </a:ext>
                  </a:extLst>
                </a:gridCol>
              </a:tblGrid>
              <a:tr h="7777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a-DK" sz="1050" dirty="0">
                          <a:effectLst/>
                        </a:rPr>
                        <a:t>Dev ID </a:t>
                      </a:r>
                      <a:endParaRPr lang="da-DK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7903" marR="27903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050" dirty="0">
                          <a:effectLst/>
                        </a:rPr>
                        <a:t>Check ID</a:t>
                      </a:r>
                      <a:endParaRPr lang="da-DK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7903" marR="27903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a-DK" sz="1050" dirty="0">
                          <a:effectLst/>
                        </a:rPr>
                        <a:t>Classification</a:t>
                      </a:r>
                      <a:endParaRPr lang="da-DK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7903" marR="27903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Check Message </a:t>
                      </a:r>
                      <a:endParaRPr lang="da-DK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7903" marR="27903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Check Description</a:t>
                      </a:r>
                      <a:endParaRPr lang="da-DK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7903" marR="27903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a-DK" sz="1050" dirty="0">
                          <a:effectLst/>
                        </a:rPr>
                        <a:t>Check Solution </a:t>
                      </a:r>
                      <a:endParaRPr lang="da-DK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7903" marR="27903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a-DK" sz="1050" dirty="0">
                          <a:effectLst/>
                        </a:rPr>
                        <a:t>Standards document reference</a:t>
                      </a:r>
                      <a:endParaRPr lang="da-DK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7903" marR="27903" marT="0" marB="0" anchor="ctr"/>
                </a:tc>
                <a:extLst>
                  <a:ext uri="{0D108BD9-81ED-4DB2-BD59-A6C34878D82A}">
                    <a16:rowId xmlns:a16="http://schemas.microsoft.com/office/drawing/2014/main" val="3977637246"/>
                  </a:ext>
                </a:extLst>
              </a:tr>
              <a:tr h="7777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a-DK" sz="1050" dirty="0">
                          <a:effectLst/>
                        </a:rPr>
                        <a:t>S98_Dev7009</a:t>
                      </a:r>
                      <a:endParaRPr lang="da-DK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7903" marR="27903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050" dirty="0">
                          <a:effectLst/>
                        </a:rPr>
                        <a:t>98_7007</a:t>
                      </a:r>
                      <a:endParaRPr lang="da-DK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7903" marR="27903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a-DK" sz="1050" dirty="0">
                          <a:effectLst/>
                        </a:rPr>
                        <a:t>C</a:t>
                      </a:r>
                      <a:endParaRPr lang="da-DK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7903" marR="27903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Gap in bathymetric data relative to ENC</a:t>
                      </a:r>
                      <a:endParaRPr lang="da-DK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7903" marR="27903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Cells with fill values must  intersect one of the following S-101 features in the largest scale ENC:</a:t>
                      </a:r>
                      <a:br>
                        <a:rPr lang="en-US" sz="1050" dirty="0">
                          <a:effectLst/>
                        </a:rPr>
                      </a:br>
                      <a:r>
                        <a:rPr lang="en-US" sz="1050" dirty="0">
                          <a:effectLst/>
                        </a:rPr>
                        <a:t>(1) LandArea</a:t>
                      </a:r>
                      <a:br>
                        <a:rPr lang="en-US" sz="1050" dirty="0">
                          <a:effectLst/>
                        </a:rPr>
                      </a:br>
                      <a:r>
                        <a:rPr lang="en-US" sz="1050" dirty="0">
                          <a:effectLst/>
                        </a:rPr>
                        <a:t>(2) UnsurveyedArea</a:t>
                      </a:r>
                      <a:br>
                        <a:rPr lang="en-US" sz="1050" dirty="0">
                          <a:effectLst/>
                        </a:rPr>
                      </a:br>
                      <a:r>
                        <a:rPr lang="en-US" sz="1050" dirty="0">
                          <a:effectLst/>
                        </a:rPr>
                        <a:t>See Note (1) in linked table.</a:t>
                      </a:r>
                      <a:endParaRPr lang="da-DK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7903" marR="27903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a-DK" sz="1050" dirty="0">
                          <a:effectLst/>
                        </a:rPr>
                        <a:t>Amend dataset</a:t>
                      </a:r>
                      <a:endParaRPr lang="da-DK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7903" marR="27903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a-DK" sz="1050" dirty="0">
                          <a:effectLst/>
                        </a:rPr>
                        <a:t>S-98</a:t>
                      </a:r>
                      <a:endParaRPr lang="da-DK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7903" marR="27903" marT="0" marB="0" anchor="ctr"/>
                </a:tc>
                <a:extLst>
                  <a:ext uri="{0D108BD9-81ED-4DB2-BD59-A6C34878D82A}">
                    <a16:rowId xmlns:a16="http://schemas.microsoft.com/office/drawing/2014/main" val="24431977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2537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F35E76-E904-4F10-B257-10055BF0C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S-158 Validation Checks, S-158:100 &amp; S-158:98 Approved for Edition 1.0</a:t>
            </a:r>
          </a:p>
          <a:p>
            <a:pPr lvl="1"/>
            <a:r>
              <a:rPr lang="en-US" dirty="0"/>
              <a:t>List available on GitHub of checks that have been included since circulation (agreed at VTCs)</a:t>
            </a:r>
          </a:p>
          <a:p>
            <a:endParaRPr lang="en-US" dirty="0"/>
          </a:p>
          <a:p>
            <a:r>
              <a:rPr lang="en-US" dirty="0"/>
              <a:t>Agreed that will aim for Edition 2.0 for HSSC 19 (2027) or approve via circular letter early 2027</a:t>
            </a:r>
          </a:p>
          <a:p>
            <a:pPr lvl="1"/>
            <a:r>
              <a:rPr lang="en-US" dirty="0"/>
              <a:t>Needs to be ready for approval at S-100 WG 11 (2026)</a:t>
            </a:r>
          </a:p>
          <a:p>
            <a:pPr lvl="1"/>
            <a:endParaRPr lang="en-US" dirty="0"/>
          </a:p>
          <a:p>
            <a:r>
              <a:rPr lang="en-US" dirty="0"/>
              <a:t>C-165 approved</a:t>
            </a:r>
            <a:endParaRPr lang="da-DK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12BF7F8-A134-450A-9688-C5C5FC736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Hssc, may 2025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700128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A560D7-2AE9-48D0-A79F-42AD8360A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082" y="1242299"/>
            <a:ext cx="10773104" cy="532403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Will include:</a:t>
            </a:r>
          </a:p>
          <a:p>
            <a:pPr lvl="1"/>
            <a:r>
              <a:rPr lang="en-US" dirty="0"/>
              <a:t>Phase 2 Product Specifications (list has changed)</a:t>
            </a:r>
          </a:p>
          <a:p>
            <a:pPr lvl="1"/>
            <a:r>
              <a:rPr lang="en-US" dirty="0"/>
              <a:t>Outstanding corrections that are known or fed back in time to include</a:t>
            </a:r>
          </a:p>
          <a:p>
            <a:pPr lvl="1"/>
            <a:r>
              <a:rPr lang="en-US" dirty="0"/>
              <a:t>New section to provide data constraints – this is a guide to data producers and can serve as a reference for validation checks</a:t>
            </a:r>
          </a:p>
          <a:p>
            <a:pPr lvl="1"/>
            <a:endParaRPr lang="en-US" dirty="0"/>
          </a:p>
          <a:p>
            <a:r>
              <a:rPr lang="en-US" dirty="0"/>
              <a:t>Will not include:</a:t>
            </a:r>
          </a:p>
          <a:p>
            <a:pPr lvl="1"/>
            <a:r>
              <a:rPr lang="en-US" dirty="0"/>
              <a:t>Any new interoperability functionality for a navigational product on an ECDIS</a:t>
            </a:r>
          </a:p>
          <a:p>
            <a:pPr lvl="1"/>
            <a:endParaRPr lang="en-US" dirty="0"/>
          </a:p>
          <a:p>
            <a:r>
              <a:rPr lang="en-US" dirty="0"/>
              <a:t>Will present at S-100 WG 10 in September for approval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is the version that will be used for Type Approval of ECDIS, it will be difficult/long to include ECDIS functionality changes after Edition 3.0</a:t>
            </a:r>
            <a:endParaRPr lang="da-DK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518829-20CE-4808-BA00-8672591DD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S-98 Edition 3.0.0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775177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32B882-FC82-4924-AC65-273E899AA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783" y="1464574"/>
            <a:ext cx="10515600" cy="463011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Putting together contract request with Julia &amp; Benjamin to cover some S-100 WG activities including Edition 2.0.0 of S-158:xxx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u="sng" dirty="0"/>
              <a:t>Outstanding work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dirty="0"/>
              <a:t>Consistency of language</a:t>
            </a:r>
          </a:p>
          <a:p>
            <a:pPr lvl="1"/>
            <a:r>
              <a:rPr lang="en-US" dirty="0"/>
              <a:t>Different writing styles</a:t>
            </a:r>
          </a:p>
          <a:p>
            <a:pPr lvl="1"/>
            <a:r>
              <a:rPr lang="en-US" dirty="0"/>
              <a:t>Negative/positive writing style</a:t>
            </a:r>
          </a:p>
          <a:p>
            <a:pPr lvl="1"/>
            <a:endParaRPr lang="en-US" sz="2000" dirty="0"/>
          </a:p>
          <a:p>
            <a:pPr marL="0" indent="0">
              <a:buNone/>
            </a:pPr>
            <a:r>
              <a:rPr lang="en-US" dirty="0"/>
              <a:t>Outstanding issues to be resolved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dirty="0"/>
              <a:t>New checks identified for S-100 5.2.1 and S-98 Edition 3.0.0</a:t>
            </a:r>
          </a:p>
          <a:p>
            <a:pPr lvl="1"/>
            <a:r>
              <a:rPr lang="en-US" dirty="0"/>
              <a:t>Is there a link to S-164?</a:t>
            </a:r>
          </a:p>
          <a:p>
            <a:pPr lvl="1"/>
            <a:r>
              <a:rPr lang="en-US" dirty="0"/>
              <a:t>Potentially design a timeline to factor in the updating of interconnected elements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Feedback on existing checks</a:t>
            </a:r>
            <a:endParaRPr lang="da-DK" dirty="0"/>
          </a:p>
          <a:p>
            <a:endParaRPr lang="da-DK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D718B8-5B96-45EA-95A8-30CEB7CF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S-158:100 &amp; S-158:98 edition 2.0.0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712798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C6E7A5-D0D2-4555-B03D-0BE4B643D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Paper on possible future of S-100 Validation checks format</a:t>
            </a:r>
          </a:p>
          <a:p>
            <a:endParaRPr lang="en-US" dirty="0"/>
          </a:p>
          <a:p>
            <a:r>
              <a:rPr lang="en-US" dirty="0"/>
              <a:t>Produce a proposal form (similar to S-100 proposal form) for changing validation checks, to be shared with S-100 PS owners </a:t>
            </a:r>
          </a:p>
          <a:p>
            <a:endParaRPr lang="en-US" dirty="0"/>
          </a:p>
          <a:p>
            <a:r>
              <a:rPr lang="en-US" dirty="0"/>
              <a:t>Input to S-97 – contract being awarded</a:t>
            </a:r>
          </a:p>
          <a:p>
            <a:endParaRPr lang="en-US" dirty="0"/>
          </a:p>
          <a:p>
            <a:r>
              <a:rPr lang="en-US" dirty="0"/>
              <a:t>Metanorma - Not part of IHO project, do we try to switch over or leave it for now?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3F4B49-179E-4E0D-B10B-BD013A56F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Deliverables for S-100 WG10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15425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D6C034-B360-4B3C-B37F-13D570BA6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294" y="142140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Review 28 open issues</a:t>
            </a:r>
          </a:p>
          <a:p>
            <a:endParaRPr lang="en-US" dirty="0"/>
          </a:p>
          <a:p>
            <a:r>
              <a:rPr lang="en-US" dirty="0"/>
              <a:t>Prepare papers for S-100 WG </a:t>
            </a:r>
          </a:p>
          <a:p>
            <a:endParaRPr lang="en-US" dirty="0"/>
          </a:p>
          <a:p>
            <a:r>
              <a:rPr lang="en-US" dirty="0"/>
              <a:t>Continue with arranging funding requests</a:t>
            </a:r>
          </a:p>
          <a:p>
            <a:endParaRPr lang="en-US" dirty="0"/>
          </a:p>
          <a:p>
            <a:r>
              <a:rPr lang="en-US" dirty="0"/>
              <a:t>Provide support to Phase 2 products</a:t>
            </a:r>
          </a:p>
          <a:p>
            <a:endParaRPr lang="en-US" dirty="0"/>
          </a:p>
          <a:p>
            <a:r>
              <a:rPr lang="en-US" dirty="0"/>
              <a:t>Monitor S-98 development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6558373-BE1C-462B-AC58-67CFCE31A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555206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9125CD-4B94-44E0-9DF0-58984603E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4095" y="1479190"/>
            <a:ext cx="10678612" cy="4541165"/>
          </a:xfrm>
        </p:spPr>
        <p:txBody>
          <a:bodyPr>
            <a:noAutofit/>
          </a:bodyPr>
          <a:lstStyle/>
          <a:p>
            <a:pPr marL="457200" lvl="1" indent="0">
              <a:lnSpc>
                <a:spcPct val="107000"/>
              </a:lnSpc>
              <a:spcAft>
                <a:spcPts val="800"/>
              </a:spcAft>
              <a:buNone/>
            </a:pPr>
            <a:endParaRPr lang="en-GB" sz="1600" dirty="0">
              <a:solidFill>
                <a:srgbClr val="000000"/>
              </a:solidFill>
              <a:ea typeface="Calibri" panose="020F0502020204030204" pitchFamily="34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2400" dirty="0">
                <a:solidFill>
                  <a:srgbClr val="000000"/>
                </a:solidFill>
                <a:ea typeface="Calibri" panose="020F0502020204030204" pitchFamily="34" charset="0"/>
              </a:rPr>
              <a:t>S-100 WG 10, Indonesia –  22-26</a:t>
            </a:r>
            <a:r>
              <a:rPr lang="en-GB" sz="2400" baseline="30000" dirty="0">
                <a:solidFill>
                  <a:srgbClr val="000000"/>
                </a:solidFill>
                <a:ea typeface="Calibri" panose="020F0502020204030204" pitchFamily="34" charset="0"/>
              </a:rPr>
              <a:t>th</a:t>
            </a:r>
            <a:r>
              <a:rPr lang="en-GB" sz="2400" dirty="0">
                <a:solidFill>
                  <a:srgbClr val="000000"/>
                </a:solidFill>
                <a:ea typeface="Calibri" panose="020F0502020204030204" pitchFamily="34" charset="0"/>
              </a:rPr>
              <a:t> September 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GB" sz="2400" dirty="0">
              <a:solidFill>
                <a:srgbClr val="000000"/>
              </a:solidFill>
              <a:ea typeface="Calibri" panose="020F0502020204030204" pitchFamily="34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2400" dirty="0">
                <a:solidFill>
                  <a:srgbClr val="000000"/>
                </a:solidFill>
                <a:ea typeface="Calibri" panose="020F0502020204030204" pitchFamily="34" charset="0"/>
              </a:rPr>
              <a:t>Next VTC meeting: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GB" sz="2000" dirty="0">
                <a:solidFill>
                  <a:srgbClr val="000000"/>
                </a:solidFill>
                <a:ea typeface="Calibri" panose="020F0502020204030204" pitchFamily="34" charset="0"/>
              </a:rPr>
              <a:t>I am out the whole of September  - ENC WG/S-101 PT and annual leave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GB" sz="2000" dirty="0">
                <a:solidFill>
                  <a:srgbClr val="000000"/>
                </a:solidFill>
                <a:ea typeface="Calibri" panose="020F0502020204030204" pitchFamily="34" charset="0"/>
              </a:rPr>
              <a:t>Need to be nearly finalised on submission by August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GB" sz="2000" dirty="0">
                <a:solidFill>
                  <a:srgbClr val="000000"/>
                </a:solidFill>
                <a:ea typeface="Calibri" panose="020F0502020204030204" pitchFamily="34" charset="0"/>
              </a:rPr>
              <a:t>Hold VTC mid/late August or hold after S-100 WG in October?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9EE54E-F8A4-410F-966E-CB7363C11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solidFill>
                  <a:srgbClr val="000000"/>
                </a:solidFill>
                <a:ea typeface="Calibri" panose="020F0502020204030204" pitchFamily="34" charset="0"/>
              </a:rPr>
              <a:t>Next meetings</a:t>
            </a:r>
          </a:p>
        </p:txBody>
      </p:sp>
    </p:spTree>
    <p:extLst>
      <p:ext uri="{BB962C8B-B14F-4D97-AF65-F5344CB8AC3E}">
        <p14:creationId xmlns:p14="http://schemas.microsoft.com/office/powerpoint/2010/main" val="3440666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45DE57-B719-4819-B1AE-BFFE82277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				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	</a:t>
            </a:r>
            <a:r>
              <a:rPr lang="en-US" sz="3200" dirty="0"/>
              <a:t>Any Questions?</a:t>
            </a:r>
            <a:endParaRPr lang="da-DK" sz="3200" dirty="0"/>
          </a:p>
        </p:txBody>
      </p:sp>
    </p:spTree>
    <p:extLst>
      <p:ext uri="{BB962C8B-B14F-4D97-AF65-F5344CB8AC3E}">
        <p14:creationId xmlns:p14="http://schemas.microsoft.com/office/powerpoint/2010/main" val="113324402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_IHO_New_Log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ster_IHO_New_Logo" id="{92376390-61D0-4A4A-9DAB-DA9E6EE3EAC4}" vid="{E943696B-60C2-4457-926B-515312E413C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10236</TotalTime>
  <Words>728</Words>
  <Application>Microsoft Office PowerPoint</Application>
  <PresentationFormat>Widescreen</PresentationFormat>
  <Paragraphs>119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Adobe Naskh Medium</vt:lpstr>
      <vt:lpstr>Arial</vt:lpstr>
      <vt:lpstr>Arial Black</vt:lpstr>
      <vt:lpstr>Calibri</vt:lpstr>
      <vt:lpstr>Calibri Light</vt:lpstr>
      <vt:lpstr>Times New Roman</vt:lpstr>
      <vt:lpstr>Master_IHO_New_Logo</vt:lpstr>
      <vt:lpstr>PowerPoint Presentation</vt:lpstr>
      <vt:lpstr>Meeting protocol</vt:lpstr>
      <vt:lpstr>AGENDA</vt:lpstr>
      <vt:lpstr>TSM</vt:lpstr>
      <vt:lpstr>Critical check  98_7007 </vt:lpstr>
      <vt:lpstr>Hssc, may 2025</vt:lpstr>
      <vt:lpstr>S-98 Edition 3.0.0</vt:lpstr>
      <vt:lpstr>S-158:100 &amp; S-158:98 edition 2.0.0</vt:lpstr>
      <vt:lpstr>Deliverables for S-100 WG10</vt:lpstr>
      <vt:lpstr>Next steps</vt:lpstr>
      <vt:lpstr>Next meetings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Elizabeth Helen Hahessy</dc:creator>
  <cp:lastModifiedBy>Elizabeth Helen Hahessy</cp:lastModifiedBy>
  <cp:revision>293</cp:revision>
  <cp:lastPrinted>2023-04-25T14:17:38Z</cp:lastPrinted>
  <dcterms:created xsi:type="dcterms:W3CDTF">2023-04-24T11:04:19Z</dcterms:created>
  <dcterms:modified xsi:type="dcterms:W3CDTF">2025-06-16T19:35:16Z</dcterms:modified>
</cp:coreProperties>
</file>