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318" r:id="rId3"/>
    <p:sldId id="315" r:id="rId4"/>
    <p:sldId id="433" r:id="rId5"/>
    <p:sldId id="423" r:id="rId6"/>
    <p:sldId id="419" r:id="rId7"/>
    <p:sldId id="434" r:id="rId8"/>
    <p:sldId id="424" r:id="rId9"/>
    <p:sldId id="425" r:id="rId10"/>
    <p:sldId id="426" r:id="rId11"/>
    <p:sldId id="427" r:id="rId12"/>
    <p:sldId id="428" r:id="rId13"/>
    <p:sldId id="358" r:id="rId14"/>
    <p:sldId id="327" r:id="rId15"/>
  </p:sldIdLst>
  <p:sldSz cx="12192000" cy="6858000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19" y="0"/>
            <a:ext cx="3437937" cy="11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2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grpSp>
        <p:nvGrpSpPr>
          <p:cNvPr id="7" name="Group 6"/>
          <p:cNvGrpSpPr/>
          <p:nvPr/>
        </p:nvGrpSpPr>
        <p:grpSpPr>
          <a:xfrm>
            <a:off x="-2" y="0"/>
            <a:ext cx="1884105" cy="1887824"/>
            <a:chOff x="-2" y="0"/>
            <a:chExt cx="1884105" cy="1887824"/>
          </a:xfrm>
        </p:grpSpPr>
        <p:grpSp>
          <p:nvGrpSpPr>
            <p:cNvPr id="8" name="Group 7"/>
            <p:cNvGrpSpPr/>
            <p:nvPr/>
          </p:nvGrpSpPr>
          <p:grpSpPr>
            <a:xfrm>
              <a:off x="-2" y="818"/>
              <a:ext cx="1884105" cy="1887006"/>
              <a:chOff x="-2" y="818"/>
              <a:chExt cx="1884105" cy="188700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566" y="818"/>
                <a:ext cx="944537" cy="94164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" y="942458"/>
                <a:ext cx="939567" cy="945366"/>
              </a:xfrm>
              <a:prstGeom prst="rect">
                <a:avLst/>
              </a:prstGeom>
            </p:spPr>
          </p:pic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939567" cy="942458"/>
            </a:xfrm>
            <a:prstGeom prst="rect">
              <a:avLst/>
            </a:prstGeom>
          </p:spPr>
        </p:pic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79132" y="0"/>
            <a:ext cx="10312867" cy="883167"/>
          </a:xfrm>
        </p:spPr>
        <p:txBody>
          <a:bodyPr>
            <a:normAutofit/>
          </a:bodyPr>
          <a:lstStyle>
            <a:lvl1pPr>
              <a:defRPr sz="2400" cap="all" baseline="0">
                <a:latin typeface="Arial Black" panose="020B0A04020102020204" pitchFamily="34" charset="0"/>
                <a:cs typeface="Adobe Naskh Medium" panose="01010101010101010101" pitchFamily="50" charset="-78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44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685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8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05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4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921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674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86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401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DD24-6168-4C6E-B4D2-E6B466BDF756}" type="datetimeFigureOut">
              <a:rPr lang="fr-FR" smtClean="0"/>
              <a:t>11/03/2026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878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ho-ohi/S-100-Validation-Check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3383" y="2498209"/>
            <a:ext cx="97760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S-100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Validation Tests sub group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14</a:t>
            </a:r>
            <a:r>
              <a:rPr lang="en-GB" sz="2400" b="1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VTC Meeting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GB" sz="2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March 2026</a:t>
            </a:r>
            <a:endParaRPr lang="en-GB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82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659" y="1692235"/>
            <a:ext cx="10678612" cy="449481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Meeting participants are kindly requested to note the following meeting protocols;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keep your camera and microphone turned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if you are not talking or presenting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want to make an intervention,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please turn your camera and microphone on and, raise your hand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to indicate that you wish to speak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Don’t forget to turn your microphone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“on”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before speaking, and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when finished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use the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“Chat”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function to communicate an text information to the meeting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have any problems connecting using Firefox or other browser – please try using Chrome.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Meeting protocol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89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5" y="1374937"/>
            <a:ext cx="10724818" cy="4505256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9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lvl="0"/>
            <a:r>
              <a:rPr lang="en-GB" sz="2000" dirty="0"/>
              <a:t>Update from S100 WG10</a:t>
            </a:r>
          </a:p>
          <a:p>
            <a:pPr lvl="0"/>
            <a:r>
              <a:rPr lang="en-GB" sz="2000" dirty="0"/>
              <a:t>S-98 changes &amp; Data Constraints document</a:t>
            </a:r>
          </a:p>
          <a:p>
            <a:pPr lvl="0"/>
            <a:r>
              <a:rPr lang="en-GB" sz="2000" dirty="0"/>
              <a:t>Changes to other validation standards </a:t>
            </a:r>
          </a:p>
          <a:p>
            <a:pPr lvl="0"/>
            <a:r>
              <a:rPr lang="en-GB" sz="2000" dirty="0"/>
              <a:t>Versioning issues</a:t>
            </a:r>
          </a:p>
          <a:p>
            <a:pPr lvl="0"/>
            <a:r>
              <a:rPr lang="en-GB" sz="2000" dirty="0"/>
              <a:t>Work plan for Edition 2.0.0</a:t>
            </a:r>
          </a:p>
          <a:p>
            <a:pPr lvl="0"/>
            <a:r>
              <a:rPr lang="en-GB" sz="2000" dirty="0"/>
              <a:t>Outstanding issues and topics</a:t>
            </a:r>
          </a:p>
          <a:p>
            <a:pPr lvl="0"/>
            <a:r>
              <a:rPr lang="da-DK" sz="2000" dirty="0"/>
              <a:t>Next meeting</a:t>
            </a:r>
            <a:endParaRPr lang="da-DK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1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69E96-BC4F-4E9D-9362-C87F5B2A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S100 validation sub group standards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E6791-8152-454C-991D-030279CD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969" y="1613645"/>
            <a:ext cx="5752862" cy="406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5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52C96B-406B-4D6A-BCC9-9CEA42DD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Working group presentation</a:t>
            </a:r>
          </a:p>
          <a:p>
            <a:pPr lvl="1"/>
            <a:r>
              <a:rPr lang="da-DK" dirty="0"/>
              <a:t>A</a:t>
            </a:r>
            <a:r>
              <a:rPr lang="en-GB" dirty="0"/>
              <a:t>sked for approval to produce a revision to amend the criticality of the S-158:98 ‘holes’ error 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N</a:t>
            </a:r>
            <a:r>
              <a:rPr lang="en-GB" dirty="0"/>
              <a:t>ew issues raised that have been added to the GitHub</a:t>
            </a:r>
          </a:p>
          <a:p>
            <a:endParaRPr lang="en-GB" dirty="0"/>
          </a:p>
          <a:p>
            <a:r>
              <a:rPr lang="da-DK" dirty="0"/>
              <a:t>D</a:t>
            </a:r>
            <a:r>
              <a:rPr lang="en-GB" dirty="0"/>
              <a:t>iscussed the longer term plans for S-158:100 &amp; 98 storage</a:t>
            </a:r>
          </a:p>
          <a:p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97FF5C-BFE4-4CF9-AD17-86E35A0F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Update from S-100 WG10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645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A4274-BBA3-46CB-BE36-4C1503F5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773" y="1168404"/>
            <a:ext cx="10591800" cy="5008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was a last minute change to S-158:98 prior to HSSC</a:t>
            </a:r>
          </a:p>
          <a:p>
            <a:pPr lvl="1"/>
            <a:r>
              <a:rPr lang="en-US" sz="1800" dirty="0"/>
              <a:t>The check related to gaps in bathymetric data relative to the ENC and it has been difficult to reach consensus across WG/PTs</a:t>
            </a:r>
          </a:p>
          <a:p>
            <a:pPr lvl="1"/>
            <a:r>
              <a:rPr lang="en-US" sz="1800" dirty="0"/>
              <a:t>S-158:98 check S98_7007 has been upgraded from an Error to a Critical</a:t>
            </a:r>
          </a:p>
          <a:p>
            <a:pPr lvl="1"/>
            <a:r>
              <a:rPr lang="en-US" sz="1800" dirty="0"/>
              <a:t>At TSM it was clarified that the PT that owns the validation checks sets the criticality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3EB52-A8DC-45D7-8CB4-89B86CAE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Update from S-100 WG10 - HOles</a:t>
            </a:r>
          </a:p>
        </p:txBody>
      </p:sp>
      <p:pic>
        <p:nvPicPr>
          <p:cNvPr id="1026" name="image_0" descr="b180d216-1974-4a35-b309-927a43f4b7e4">
            <a:extLst>
              <a:ext uri="{FF2B5EF4-FFF2-40B4-BE49-F238E27FC236}">
                <a16:creationId xmlns:a16="http://schemas.microsoft.com/office/drawing/2014/main" id="{6714C965-26A4-4305-8D70-6A335A8CB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946" y="3105990"/>
            <a:ext cx="5701017" cy="320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0147992-173B-4A23-A22A-F0540F521F6B}"/>
              </a:ext>
            </a:extLst>
          </p:cNvPr>
          <p:cNvSpPr txBox="1">
            <a:spLocks/>
          </p:cNvSpPr>
          <p:nvPr/>
        </p:nvSpPr>
        <p:spPr>
          <a:xfrm>
            <a:off x="969773" y="2664061"/>
            <a:ext cx="5004816" cy="2621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/>
              <a:t>This was agreed unanimously by the S-98 group and explained at HSSC and the validation sub group were informed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Request that that S-100WG approve the publication of S-158:98 1.1.0 to include the already agreed change to Critical</a:t>
            </a:r>
            <a:endParaRPr lang="da-DK" sz="1800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4A638-B035-4AED-94F7-6CD638BDD595}"/>
              </a:ext>
            </a:extLst>
          </p:cNvPr>
          <p:cNvSpPr txBox="1"/>
          <p:nvPr/>
        </p:nvSpPr>
        <p:spPr>
          <a:xfrm>
            <a:off x="233437" y="4833867"/>
            <a:ext cx="5921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[Decision 10/36] </a:t>
            </a:r>
            <a:r>
              <a:rPr lang="en-GB" dirty="0"/>
              <a:t>WG10 agreed to leave the S-158:98 check S98_7007 classified as an error in this edition and tasked the S-102PT to discuss and develop a validation check for holes in S-158:102, determining whether it should be classified as an error or critical, taking OEM feedback into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74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EFC396-0D6F-43DF-96C0-71477454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792" y="1423289"/>
            <a:ext cx="10515600" cy="435133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AU" dirty="0"/>
              <a:t>Continue in Excel and Word</a:t>
            </a:r>
            <a:endParaRPr lang="da-DK" dirty="0"/>
          </a:p>
          <a:p>
            <a:pPr marL="514350" lvl="0" indent="-514350">
              <a:buFont typeface="+mj-lt"/>
              <a:buAutoNum type="arabicPeriod"/>
            </a:pPr>
            <a:r>
              <a:rPr lang="en-AU" dirty="0"/>
              <a:t>Capture the validation checks in Metanorma</a:t>
            </a:r>
            <a:endParaRPr lang="da-DK" dirty="0"/>
          </a:p>
          <a:p>
            <a:pPr marL="514350" lvl="0" indent="-514350">
              <a:buFont typeface="+mj-lt"/>
              <a:buAutoNum type="arabicPeriod"/>
            </a:pPr>
            <a:r>
              <a:rPr lang="en-AU" dirty="0">
                <a:solidFill>
                  <a:schemeClr val="accent6"/>
                </a:solidFill>
              </a:rPr>
              <a:t>Create an S-100 Validation Checks Registry on the IHO Registry page (UI over database)</a:t>
            </a:r>
            <a:endParaRPr lang="da-DK" dirty="0">
              <a:solidFill>
                <a:schemeClr val="accent6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AU" dirty="0"/>
              <a:t>Create a relational database</a:t>
            </a:r>
            <a:endParaRPr lang="da-DK" dirty="0"/>
          </a:p>
          <a:p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B6BDF-5777-441D-A421-440CBF54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Future validation checks storage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897B416-C317-4916-904B-7C8273E2278D}"/>
              </a:ext>
            </a:extLst>
          </p:cNvPr>
          <p:cNvSpPr txBox="1">
            <a:spLocks/>
          </p:cNvSpPr>
          <p:nvPr/>
        </p:nvSpPr>
        <p:spPr>
          <a:xfrm>
            <a:off x="876341" y="4165601"/>
            <a:ext cx="10312867" cy="2343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000" b="1" dirty="0"/>
          </a:p>
          <a:p>
            <a:r>
              <a:rPr lang="en-GB" sz="1400" b="1" dirty="0"/>
              <a:t>Decision 10/37</a:t>
            </a:r>
            <a:r>
              <a:rPr lang="en-GB" sz="1400" dirty="0"/>
              <a:t>] WG10 supported Option 3 (GI Registry) as the way forward and agreed to establish a task group to progress the work, while continuing to use spreadsheets during the development phase.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dirty="0"/>
          </a:p>
          <a:p>
            <a:r>
              <a:rPr lang="en-GB" sz="1400" b="1" dirty="0"/>
              <a:t>[Action 10/27] </a:t>
            </a:r>
            <a:r>
              <a:rPr lang="en-GB" sz="1400" dirty="0"/>
              <a:t>Task Group with contributions from S-100ValSG, IHO Sec, 7Cs, KHOA, NOAA (lead), BSH and NIWG to develop a database structure and define the management of the Validation Database in the GI Registry, including its interface</a:t>
            </a:r>
          </a:p>
          <a:p>
            <a:pPr lvl="1"/>
            <a:r>
              <a:rPr lang="da-DK" sz="1400" dirty="0"/>
              <a:t>N</a:t>
            </a:r>
            <a:r>
              <a:rPr lang="en-GB" sz="1400" dirty="0"/>
              <a:t>ot started – will be discussed at TSM12 to discuss whether we can put a request in for funds</a:t>
            </a:r>
          </a:p>
        </p:txBody>
      </p:sp>
    </p:spTree>
    <p:extLst>
      <p:ext uri="{BB962C8B-B14F-4D97-AF65-F5344CB8AC3E}">
        <p14:creationId xmlns:p14="http://schemas.microsoft.com/office/powerpoint/2010/main" val="141672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02446D-F9DD-45B3-823C-4F70C137B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6" y="1524000"/>
            <a:ext cx="9194801" cy="4652963"/>
          </a:xfrm>
        </p:spPr>
        <p:txBody>
          <a:bodyPr>
            <a:normAutofit/>
          </a:bodyPr>
          <a:lstStyle/>
          <a:p>
            <a:r>
              <a:rPr lang="da-DK" sz="2400" dirty="0"/>
              <a:t>Draft version of S-98 edition is circulating </a:t>
            </a:r>
          </a:p>
          <a:p>
            <a:r>
              <a:rPr lang="da-DK" sz="2400" dirty="0"/>
              <a:t>Comments will be discussed at TSM next week &amp; VTC tomorrow</a:t>
            </a:r>
          </a:p>
          <a:p>
            <a:endParaRPr lang="da-DK" sz="2400" dirty="0"/>
          </a:p>
          <a:p>
            <a:r>
              <a:rPr lang="da-DK" sz="2400" dirty="0"/>
              <a:t>Will need to review for new validation checks for S-158:98</a:t>
            </a:r>
          </a:p>
          <a:p>
            <a:endParaRPr lang="da-DK" sz="2400" dirty="0"/>
          </a:p>
          <a:p>
            <a:r>
              <a:rPr lang="da-DK" sz="2400" dirty="0"/>
              <a:t>New Data Constraints section Annex A</a:t>
            </a:r>
          </a:p>
          <a:p>
            <a:pPr lvl="1"/>
            <a:r>
              <a:rPr lang="da-DK" sz="2000" dirty="0"/>
              <a:t>Not removed from S-98 main document at this point</a:t>
            </a:r>
          </a:p>
          <a:p>
            <a:pPr lvl="1"/>
            <a:r>
              <a:rPr lang="da-DK" sz="2000" dirty="0"/>
              <a:t>Expands on selected content related to data producers</a:t>
            </a:r>
          </a:p>
          <a:p>
            <a:pPr lvl="1"/>
            <a:r>
              <a:rPr lang="da-DK" sz="2000" dirty="0"/>
              <a:t>Mandatory requirements for data</a:t>
            </a:r>
          </a:p>
          <a:p>
            <a:pPr lvl="1"/>
            <a:r>
              <a:rPr lang="da-DK" sz="2000" dirty="0"/>
              <a:t>Provides ability to add validation check reference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CFD01-DB8C-4A51-A34A-5492068A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S-98 &amp; Data constraints section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9F17E-B59F-4A5C-93CA-EAB6F7FC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952" y="3850481"/>
            <a:ext cx="3558848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3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A26E08-4B5B-4E6B-ACAA-820BD2C0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78491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S-58 Edition 9.0.0 </a:t>
            </a:r>
          </a:p>
          <a:p>
            <a:pPr lvl="1"/>
            <a:r>
              <a:rPr lang="da-DK" dirty="0"/>
              <a:t>N</a:t>
            </a:r>
            <a:r>
              <a:rPr lang="en-GB" dirty="0"/>
              <a:t>eed to review if there are any impacts to S-158:100 &amp; S-158:98</a:t>
            </a:r>
          </a:p>
          <a:p>
            <a:pPr lvl="1"/>
            <a:r>
              <a:rPr lang="da-DK" dirty="0"/>
              <a:t>Unlikely, will mostly affect S-158:101 but they were revewing critical checks</a:t>
            </a:r>
            <a:endParaRPr lang="en-GB" dirty="0"/>
          </a:p>
          <a:p>
            <a:endParaRPr lang="en-GB" dirty="0"/>
          </a:p>
          <a:p>
            <a:r>
              <a:rPr lang="en-GB" dirty="0"/>
              <a:t>S-101 Edition 1.1.0 submitted to S-100 WG11 </a:t>
            </a:r>
          </a:p>
          <a:p>
            <a:pPr lvl="1"/>
            <a:r>
              <a:rPr lang="da-DK" dirty="0"/>
              <a:t>Intention is to submit to HSSC 19 (2027) with Edition 2.0.0</a:t>
            </a:r>
            <a:endParaRPr lang="en-GB" dirty="0"/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A</a:t>
            </a:r>
            <a:r>
              <a:rPr lang="en-GB" dirty="0"/>
              <a:t>ll Phase 2 PS will submit S-158:1xx validation checks to HSSC when </a:t>
            </a:r>
          </a:p>
          <a:p>
            <a:pPr lvl="1"/>
            <a:r>
              <a:rPr lang="da-DK" dirty="0"/>
              <a:t>N</a:t>
            </a:r>
            <a:r>
              <a:rPr lang="en-GB" dirty="0"/>
              <a:t>eed to check S-129 plans but have received an email from Jason Rhee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69157-A376-42B4-8801-38CA72F4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Changes to other validation standards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68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FFEE50-F822-4BCA-B38A-0006CE23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33" y="1253331"/>
            <a:ext cx="4334933" cy="4351338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/>
              <a:t>How handle adding and removing validation checks </a:t>
            </a:r>
            <a:r>
              <a:rPr lang="en-GB" sz="2000" dirty="0"/>
              <a:t>without a new PS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da-DK" sz="2000" dirty="0"/>
              <a:t>D</a:t>
            </a:r>
            <a:r>
              <a:rPr lang="en-GB" sz="2000" dirty="0"/>
              <a:t>o the PS and validation checks need to be in alignment with edition numbers - no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sz="2000" dirty="0"/>
              <a:t>Suggest holding a VTC with PS/S-158:1xx holders to review process and improvements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BD369-55B8-4D7B-A29B-525AD582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Versioning issues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04477-4C76-4B53-B820-11C4A161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52" y="1380204"/>
            <a:ext cx="5715495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B2C15D-550E-4B57-8836-9C10720C0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241338"/>
              </p:ext>
            </p:extLst>
          </p:nvPr>
        </p:nvGraphicFramePr>
        <p:xfrm>
          <a:off x="2023534" y="1507913"/>
          <a:ext cx="690033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33">
                  <a:extLst>
                    <a:ext uri="{9D8B030D-6E8A-4147-A177-3AD203B41FA5}">
                      <a16:colId xmlns:a16="http://schemas.microsoft.com/office/drawing/2014/main" val="1206492021"/>
                    </a:ext>
                  </a:extLst>
                </a:gridCol>
                <a:gridCol w="6019801">
                  <a:extLst>
                    <a:ext uri="{9D8B030D-6E8A-4147-A177-3AD203B41FA5}">
                      <a16:colId xmlns:a16="http://schemas.microsoft.com/office/drawing/2014/main" val="222357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Edition 2.0.0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642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Kick off using funds for edition 2.0.0 &amp; project outline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52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Initiate work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473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GitHub issues for inclusion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S-98 for Edition 2.0.0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390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S-58 for potential changes, primarily classifications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42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 with S-158:1xx regarding versioning concerns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331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Circulation in sub group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266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Approval to S-100 WG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284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approval from S-100 WG via circular letter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571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1.10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impact study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93406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E535DBE-A9E3-4D0B-8F1A-F888ADCF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plan for Edition 2.0.0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08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721C91-B91A-4286-9AFD-3FDDC104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5</a:t>
            </a:r>
            <a:r>
              <a:rPr lang="en-GB" dirty="0"/>
              <a:t>0 issues in GitHub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hlinkClick r:id="rId2"/>
              </a:rPr>
              <a:t>iho-ohi/S-100-Validation-Checks: S-100 Github repository for Validation Check development.</a:t>
            </a:r>
            <a:endParaRPr lang="en-GB" sz="18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E0691-FBFB-45C6-9547-B08446E8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Outstanding issues and topics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292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095" y="1479190"/>
            <a:ext cx="10678612" cy="4541165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16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TSM 12, Monaco – 17-20</a:t>
            </a:r>
            <a:r>
              <a:rPr lang="da-DK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 March </a:t>
            </a:r>
            <a:endParaRPr lang="en-GB" sz="2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S-100 WG 11, New Zealand –  21-25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September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2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Next VTC meeting?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6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-8 weeks  -  27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or 28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April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(Assembly 20-23 April,  Liz travelling 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Baltic Sea e-Nav 13-16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  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ea typeface="Calibri" panose="020F0502020204030204" pitchFamily="34" charset="0"/>
              </a:rPr>
              <a:t>Next meetings</a:t>
            </a:r>
          </a:p>
        </p:txBody>
      </p:sp>
    </p:spTree>
    <p:extLst>
      <p:ext uri="{BB962C8B-B14F-4D97-AF65-F5344CB8AC3E}">
        <p14:creationId xmlns:p14="http://schemas.microsoft.com/office/powerpoint/2010/main" val="344066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5DE57-B719-4819-B1AE-BFFE8227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sz="3200" dirty="0"/>
              <a:t>Any Questions?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1332440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IHO_New_Lo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_IHO_New_Logo" id="{92376390-61D0-4A4A-9DAB-DA9E6EE3EAC4}" vid="{E943696B-60C2-4457-926B-515312E413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10526</TotalTime>
  <Words>840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Adobe Naskh Medium</vt:lpstr>
      <vt:lpstr>Arial</vt:lpstr>
      <vt:lpstr>Arial Black</vt:lpstr>
      <vt:lpstr>Calibri</vt:lpstr>
      <vt:lpstr>Calibri Light</vt:lpstr>
      <vt:lpstr>Times New Roman</vt:lpstr>
      <vt:lpstr>Master_IHO_New_Logo</vt:lpstr>
      <vt:lpstr>PowerPoint Presentation</vt:lpstr>
      <vt:lpstr>Meeting protocol</vt:lpstr>
      <vt:lpstr>AGENDA</vt:lpstr>
      <vt:lpstr>S100 validation sub group standards</vt:lpstr>
      <vt:lpstr>Update from S-100 WG10</vt:lpstr>
      <vt:lpstr>Update from S-100 WG10 - HOles</vt:lpstr>
      <vt:lpstr>Future validation checks storage</vt:lpstr>
      <vt:lpstr>S-98 &amp; Data constraints section</vt:lpstr>
      <vt:lpstr>Changes to other validation standards</vt:lpstr>
      <vt:lpstr>Versioning issues </vt:lpstr>
      <vt:lpstr>Work plan for Edition 2.0.0 </vt:lpstr>
      <vt:lpstr>Outstanding issues and topics </vt:lpstr>
      <vt:lpstr>Next meetings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Helen Hahessy</dc:creator>
  <cp:lastModifiedBy>Elizabeth Helen Hahessy</cp:lastModifiedBy>
  <cp:revision>314</cp:revision>
  <cp:lastPrinted>2023-04-25T14:17:38Z</cp:lastPrinted>
  <dcterms:created xsi:type="dcterms:W3CDTF">2023-04-24T11:04:19Z</dcterms:created>
  <dcterms:modified xsi:type="dcterms:W3CDTF">2026-03-11T12:53:06Z</dcterms:modified>
</cp:coreProperties>
</file>