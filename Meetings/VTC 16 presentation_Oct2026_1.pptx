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318" r:id="rId3"/>
    <p:sldId id="315" r:id="rId4"/>
    <p:sldId id="465" r:id="rId5"/>
    <p:sldId id="462" r:id="rId6"/>
    <p:sldId id="464" r:id="rId7"/>
    <p:sldId id="467" r:id="rId8"/>
    <p:sldId id="461" r:id="rId9"/>
    <p:sldId id="458" r:id="rId10"/>
    <p:sldId id="459" r:id="rId11"/>
    <p:sldId id="466" r:id="rId12"/>
    <p:sldId id="457" r:id="rId13"/>
    <p:sldId id="322" r:id="rId14"/>
    <p:sldId id="358" r:id="rId15"/>
    <p:sldId id="456" r:id="rId16"/>
  </p:sldIdLst>
  <p:sldSz cx="12192000" cy="6858000"/>
  <p:notesSz cx="6805613" cy="99441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21" d="100"/>
          <a:sy n="121" d="100"/>
        </p:scale>
        <p:origin x="39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fr-FR"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319" y="0"/>
            <a:ext cx="3437937" cy="1145979"/>
          </a:xfrm>
          <a:prstGeom prst="rect">
            <a:avLst/>
          </a:prstGeom>
        </p:spPr>
      </p:pic>
    </p:spTree>
    <p:extLst>
      <p:ext uri="{BB962C8B-B14F-4D97-AF65-F5344CB8AC3E}">
        <p14:creationId xmlns:p14="http://schemas.microsoft.com/office/powerpoint/2010/main" val="4243225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grpSp>
        <p:nvGrpSpPr>
          <p:cNvPr id="7" name="Group 6"/>
          <p:cNvGrpSpPr/>
          <p:nvPr/>
        </p:nvGrpSpPr>
        <p:grpSpPr>
          <a:xfrm>
            <a:off x="-2" y="0"/>
            <a:ext cx="1884105" cy="1887824"/>
            <a:chOff x="-2" y="0"/>
            <a:chExt cx="1884105" cy="1887824"/>
          </a:xfrm>
        </p:grpSpPr>
        <p:grpSp>
          <p:nvGrpSpPr>
            <p:cNvPr id="8" name="Group 7"/>
            <p:cNvGrpSpPr/>
            <p:nvPr/>
          </p:nvGrpSpPr>
          <p:grpSpPr>
            <a:xfrm>
              <a:off x="-2" y="818"/>
              <a:ext cx="1884105" cy="1887006"/>
              <a:chOff x="-2" y="818"/>
              <a:chExt cx="1884105" cy="1887006"/>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566" y="818"/>
                <a:ext cx="944537" cy="941640"/>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 y="942458"/>
                <a:ext cx="939567" cy="945366"/>
              </a:xfrm>
              <a:prstGeom prst="rect">
                <a:avLst/>
              </a:prstGeom>
            </p:spPr>
          </p:pic>
        </p:gr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939567" cy="942458"/>
            </a:xfrm>
            <a:prstGeom prst="rect">
              <a:avLst/>
            </a:prstGeom>
          </p:spPr>
        </p:pic>
      </p:grpSp>
      <p:sp>
        <p:nvSpPr>
          <p:cNvPr id="13" name="Title 1"/>
          <p:cNvSpPr>
            <a:spLocks noGrp="1"/>
          </p:cNvSpPr>
          <p:nvPr>
            <p:ph type="title"/>
          </p:nvPr>
        </p:nvSpPr>
        <p:spPr>
          <a:xfrm>
            <a:off x="1879132" y="0"/>
            <a:ext cx="10312867" cy="883167"/>
          </a:xfrm>
        </p:spPr>
        <p:txBody>
          <a:bodyPr>
            <a:normAutofit/>
          </a:bodyPr>
          <a:lstStyle>
            <a:lvl1pPr>
              <a:defRPr sz="2400" cap="all" baseline="0">
                <a:latin typeface="Arial Black" panose="020B0A04020102020204" pitchFamily="34" charset="0"/>
                <a:cs typeface="Adobe Naskh Medium" panose="01010101010101010101" pitchFamily="50" charset="-78"/>
              </a:defRPr>
            </a:lvl1pPr>
          </a:lstStyle>
          <a:p>
            <a:r>
              <a:rPr lang="en-US"/>
              <a:t>Click to edit Master title style</a:t>
            </a:r>
            <a:endParaRPr lang="fr-FR" dirty="0"/>
          </a:p>
        </p:txBody>
      </p:sp>
    </p:spTree>
    <p:extLst>
      <p:ext uri="{BB962C8B-B14F-4D97-AF65-F5344CB8AC3E}">
        <p14:creationId xmlns:p14="http://schemas.microsoft.com/office/powerpoint/2010/main" val="644420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4056858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64080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Date Placeholder 2"/>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462058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91584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379921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fr-FR"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317674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826867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72BEDD24-6168-4C6E-B4D2-E6B466BDF756}" type="datetimeFigureOut">
              <a:rPr lang="fr-FR" smtClean="0"/>
              <a:t>20/10/2026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66401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EDD24-6168-4C6E-B4D2-E6B466BDF756}" type="datetimeFigureOut">
              <a:rPr lang="fr-FR" smtClean="0"/>
              <a:t>20/10/2026</a:t>
            </a:fld>
            <a:endParaRPr lang="fr-FR"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D0E966-1BD1-4C85-866E-DF3AF3395196}" type="slidenum">
              <a:rPr lang="fr-FR" smtClean="0"/>
              <a:t>‹#›</a:t>
            </a:fld>
            <a:endParaRPr lang="fr-FR" dirty="0"/>
          </a:p>
        </p:txBody>
      </p:sp>
    </p:spTree>
    <p:extLst>
      <p:ext uri="{BB962C8B-B14F-4D97-AF65-F5344CB8AC3E}">
        <p14:creationId xmlns:p14="http://schemas.microsoft.com/office/powerpoint/2010/main" val="4268783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ortal.iho.int/share/api/files/AAAAAAABIMQ/Data%20Offset%20Code/EN_DataOffsetCode_rev1.pdf" TargetMode="External"/><Relationship Id="rId2" Type="http://schemas.openxmlformats.org/officeDocument/2006/relationships/hyperlink" Target="https://portal.iho.int/share/api/files/AAAAAAABITQ/Report%20of%20S-100%20Validation%20Sub%20Working%20Group%20%5BRev1%5D/EN_S100%20Validation%20sub%20group%20report_WG11_1_Rev1.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iho-ohi/S-100-Validation-Checks/tree/main/Documents/S-158-98/2.0.0" TargetMode="External"/><Relationship Id="rId2" Type="http://schemas.openxmlformats.org/officeDocument/2006/relationships/hyperlink" Target="https://github.com/iho-ohi/S-100-Validation-Checks/tree/main/Documents/S-158-100/2.0.0" TargetMode="External"/><Relationship Id="rId1" Type="http://schemas.openxmlformats.org/officeDocument/2006/relationships/slideLayout" Target="../slideLayouts/slideLayout2.xml"/><Relationship Id="rId4" Type="http://schemas.openxmlformats.org/officeDocument/2006/relationships/hyperlink" Target="https://github.com/iho-ohi/S-100-Validation-Checks/tree/main/Documents/S-158/2.0.0"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iho-ohi/S-100-Validation-Checks/issues/16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iho-ohi/S-100-Validation-Checks/issues/159"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iho-ohi/S-100-Validation-Check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iho-ohi/S-100-Validation-Checks/issues/16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3383" y="2498209"/>
            <a:ext cx="9776088" cy="29238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S-100 </a:t>
            </a:r>
            <a:r>
              <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Validation Tests subgroup </a:t>
            </a:r>
          </a:p>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16</a:t>
            </a:r>
            <a:r>
              <a:rPr lang="en-GB" sz="2400" b="1" baseline="30000" dirty="0">
                <a:solidFill>
                  <a:prstClr val="black"/>
                </a:solidFill>
                <a:latin typeface="Arial" panose="020B0604020202020204" pitchFamily="34" charset="0"/>
                <a:cs typeface="Arial" panose="020B0604020202020204" pitchFamily="34" charset="0"/>
              </a:rPr>
              <a:t>th</a:t>
            </a:r>
            <a: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VTC Meeting</a:t>
            </a:r>
          </a:p>
          <a:p>
            <a:pPr algn="ctr">
              <a:defRPr/>
            </a:pPr>
            <a:endParaRPr lang="en-GB" sz="2400" b="1" dirty="0">
              <a:solidFill>
                <a:prstClr val="black"/>
              </a:solidFill>
              <a:latin typeface="Arial" panose="020B0604020202020204" pitchFamily="34" charset="0"/>
              <a:cs typeface="Arial" panose="020B0604020202020204" pitchFamily="34" charset="0"/>
            </a:endParaRPr>
          </a:p>
          <a:p>
            <a:pPr algn="ctr">
              <a:defRPr/>
            </a:pPr>
            <a:r>
              <a:rPr lang="en-GB" sz="2400" baseline="30000" dirty="0">
                <a:solidFill>
                  <a:prstClr val="black"/>
                </a:solidFill>
                <a:latin typeface="Arial" panose="020B0604020202020204" pitchFamily="34" charset="0"/>
                <a:cs typeface="Arial" panose="020B0604020202020204" pitchFamily="34" charset="0"/>
              </a:rPr>
              <a:t> </a:t>
            </a:r>
            <a:r>
              <a:rPr lang="en-GB" sz="2400" dirty="0">
                <a:solidFill>
                  <a:prstClr val="black"/>
                </a:solidFill>
                <a:latin typeface="Arial" panose="020B0604020202020204" pitchFamily="34" charset="0"/>
                <a:cs typeface="Arial" panose="020B0604020202020204" pitchFamily="34" charset="0"/>
              </a:rPr>
              <a:t> 20</a:t>
            </a:r>
            <a:r>
              <a:rPr lang="en-GB" sz="2400" baseline="30000" dirty="0">
                <a:solidFill>
                  <a:prstClr val="black"/>
                </a:solidFill>
                <a:latin typeface="Arial" panose="020B0604020202020204" pitchFamily="34" charset="0"/>
                <a:cs typeface="Arial" panose="020B0604020202020204" pitchFamily="34" charset="0"/>
              </a:rPr>
              <a:t>th</a:t>
            </a:r>
            <a:r>
              <a:rPr lang="en-GB" sz="2400" dirty="0">
                <a:solidFill>
                  <a:prstClr val="black"/>
                </a:solidFill>
                <a:latin typeface="Arial" panose="020B0604020202020204" pitchFamily="34" charset="0"/>
                <a:cs typeface="Arial" panose="020B0604020202020204" pitchFamily="34" charset="0"/>
              </a:rPr>
              <a:t> October 2026</a:t>
            </a:r>
            <a:endParaRPr lang="en-GB" sz="2400" b="1" dirty="0">
              <a:solidFill>
                <a:prstClr val="black"/>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86829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1075659" y="1692235"/>
            <a:ext cx="10678612" cy="4494810"/>
          </a:xfrm>
        </p:spPr>
        <p:txBody>
          <a:bodyPr>
            <a:noAutofit/>
          </a:bodyPr>
          <a:lstStyle/>
          <a:p>
            <a:pPr marL="0" indent="0">
              <a:lnSpc>
                <a:spcPct val="107000"/>
              </a:lnSpc>
              <a:spcAft>
                <a:spcPts val="800"/>
              </a:spcAft>
              <a:buNone/>
            </a:pPr>
            <a:r>
              <a:rPr lang="en-GB" sz="2000" dirty="0">
                <a:solidFill>
                  <a:srgbClr val="000000"/>
                </a:solidFill>
                <a:ea typeface="Calibri" panose="020F0502020204030204" pitchFamily="34" charset="0"/>
              </a:rPr>
              <a:t>Meeting participants are kindly requested to note the following meeting protocols;</a:t>
            </a:r>
          </a:p>
          <a:p>
            <a:pPr>
              <a:lnSpc>
                <a:spcPct val="107000"/>
              </a:lnSpc>
              <a:spcAft>
                <a:spcPts val="800"/>
              </a:spcAft>
            </a:pPr>
            <a:r>
              <a:rPr lang="en-GB" sz="1400" dirty="0">
                <a:solidFill>
                  <a:srgbClr val="000000"/>
                </a:solidFill>
                <a:ea typeface="Calibri" panose="020F0502020204030204" pitchFamily="34" charset="0"/>
              </a:rPr>
              <a:t>Please keep your camera and microphone turned </a:t>
            </a:r>
            <a:r>
              <a:rPr lang="en-GB" sz="1400" b="1" dirty="0">
                <a:solidFill>
                  <a:srgbClr val="000000"/>
                </a:solidFill>
                <a:ea typeface="Calibri" panose="020F0502020204030204" pitchFamily="34" charset="0"/>
              </a:rPr>
              <a:t>“off”</a:t>
            </a:r>
            <a:r>
              <a:rPr lang="en-GB" sz="1400" dirty="0">
                <a:solidFill>
                  <a:srgbClr val="000000"/>
                </a:solidFill>
                <a:ea typeface="Calibri" panose="020F0502020204030204" pitchFamily="34" charset="0"/>
              </a:rPr>
              <a:t> if you are not talking or presenting</a:t>
            </a:r>
          </a:p>
          <a:p>
            <a:pPr>
              <a:lnSpc>
                <a:spcPct val="107000"/>
              </a:lnSpc>
              <a:spcAft>
                <a:spcPts val="800"/>
              </a:spcAft>
            </a:pPr>
            <a:r>
              <a:rPr lang="en-GB" sz="1400" dirty="0">
                <a:solidFill>
                  <a:srgbClr val="000000"/>
                </a:solidFill>
                <a:ea typeface="Calibri" panose="020F0502020204030204" pitchFamily="34" charset="0"/>
              </a:rPr>
              <a:t>If you want to make an intervention, </a:t>
            </a:r>
            <a:r>
              <a:rPr lang="en-GB" sz="1400" b="1" dirty="0">
                <a:solidFill>
                  <a:srgbClr val="000000"/>
                </a:solidFill>
                <a:ea typeface="Calibri" panose="020F0502020204030204" pitchFamily="34" charset="0"/>
              </a:rPr>
              <a:t>please turn your camera and microphone on and, raise your hand </a:t>
            </a:r>
            <a:r>
              <a:rPr lang="en-GB" sz="1400" dirty="0">
                <a:solidFill>
                  <a:srgbClr val="000000"/>
                </a:solidFill>
                <a:ea typeface="Calibri" panose="020F0502020204030204" pitchFamily="34" charset="0"/>
              </a:rPr>
              <a:t>to indicate that you wish to speak</a:t>
            </a:r>
          </a:p>
          <a:p>
            <a:pPr>
              <a:lnSpc>
                <a:spcPct val="107000"/>
              </a:lnSpc>
              <a:spcAft>
                <a:spcPts val="800"/>
              </a:spcAft>
            </a:pPr>
            <a:r>
              <a:rPr lang="en-GB" sz="1400" dirty="0">
                <a:solidFill>
                  <a:srgbClr val="000000"/>
                </a:solidFill>
                <a:ea typeface="Calibri" panose="020F0502020204030204" pitchFamily="34" charset="0"/>
              </a:rPr>
              <a:t>Don’t forget to turn your microphone </a:t>
            </a:r>
            <a:r>
              <a:rPr lang="en-GB" sz="1400" b="1" dirty="0">
                <a:solidFill>
                  <a:srgbClr val="000000"/>
                </a:solidFill>
                <a:ea typeface="Calibri" panose="020F0502020204030204" pitchFamily="34" charset="0"/>
              </a:rPr>
              <a:t>“on”</a:t>
            </a:r>
            <a:r>
              <a:rPr lang="en-GB" sz="1400" dirty="0">
                <a:solidFill>
                  <a:srgbClr val="000000"/>
                </a:solidFill>
                <a:ea typeface="Calibri" panose="020F0502020204030204" pitchFamily="34" charset="0"/>
              </a:rPr>
              <a:t> before speaking, and </a:t>
            </a:r>
            <a:r>
              <a:rPr lang="en-GB" sz="1400" b="1" dirty="0">
                <a:solidFill>
                  <a:srgbClr val="000000"/>
                </a:solidFill>
                <a:ea typeface="Calibri" panose="020F0502020204030204" pitchFamily="34" charset="0"/>
              </a:rPr>
              <a:t>“off” </a:t>
            </a:r>
            <a:r>
              <a:rPr lang="en-GB" sz="1400" dirty="0">
                <a:solidFill>
                  <a:srgbClr val="000000"/>
                </a:solidFill>
                <a:ea typeface="Calibri" panose="020F0502020204030204" pitchFamily="34" charset="0"/>
              </a:rPr>
              <a:t>when finished</a:t>
            </a:r>
          </a:p>
          <a:p>
            <a:pPr>
              <a:lnSpc>
                <a:spcPct val="107000"/>
              </a:lnSpc>
              <a:spcAft>
                <a:spcPts val="800"/>
              </a:spcAft>
            </a:pPr>
            <a:r>
              <a:rPr lang="en-GB" sz="1400" dirty="0">
                <a:solidFill>
                  <a:srgbClr val="000000"/>
                </a:solidFill>
                <a:ea typeface="Calibri" panose="020F0502020204030204" pitchFamily="34" charset="0"/>
              </a:rPr>
              <a:t>Please use the </a:t>
            </a:r>
            <a:r>
              <a:rPr lang="en-GB" sz="1400" b="1" dirty="0">
                <a:solidFill>
                  <a:srgbClr val="000000"/>
                </a:solidFill>
                <a:ea typeface="Calibri" panose="020F0502020204030204" pitchFamily="34" charset="0"/>
              </a:rPr>
              <a:t>“Chat”</a:t>
            </a:r>
            <a:r>
              <a:rPr lang="en-GB" sz="1400" dirty="0">
                <a:solidFill>
                  <a:srgbClr val="000000"/>
                </a:solidFill>
                <a:ea typeface="Calibri" panose="020F0502020204030204" pitchFamily="34" charset="0"/>
              </a:rPr>
              <a:t> function to communicate an text information to the meeting</a:t>
            </a:r>
          </a:p>
          <a:p>
            <a:pPr>
              <a:lnSpc>
                <a:spcPct val="107000"/>
              </a:lnSpc>
              <a:spcAft>
                <a:spcPts val="800"/>
              </a:spcAft>
            </a:pPr>
            <a:r>
              <a:rPr lang="en-GB" sz="1400" dirty="0">
                <a:solidFill>
                  <a:srgbClr val="000000"/>
                </a:solidFill>
                <a:ea typeface="Calibri" panose="020F0502020204030204" pitchFamily="34" charset="0"/>
              </a:rPr>
              <a:t>If you have any problems connecting using Firefox or other browser – please try using Chrome.</a:t>
            </a: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Bef>
                <a:spcPts val="200"/>
              </a:spcBef>
            </a:pPr>
            <a:r>
              <a:rPr lang="en-GB" b="1" dirty="0">
                <a:solidFill>
                  <a:srgbClr val="000000"/>
                </a:solidFill>
                <a:ea typeface="Times New Roman" panose="02020603050405020304" pitchFamily="18" charset="0"/>
                <a:cs typeface="Times New Roman" panose="02020603050405020304" pitchFamily="18" charset="0"/>
              </a:rPr>
              <a:t>Meeting protocol</a:t>
            </a:r>
            <a:endParaRPr lang="en-GB" b="1" dirty="0">
              <a:solidFill>
                <a:srgbClr val="2E74B5"/>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891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979485" y="1374937"/>
            <a:ext cx="10724818" cy="4505256"/>
          </a:xfrm>
        </p:spPr>
        <p:txBody>
          <a:bodyPr>
            <a:noAutofit/>
          </a:bodyPr>
          <a:lstStyle/>
          <a:p>
            <a:pPr marL="0" indent="0">
              <a:lnSpc>
                <a:spcPct val="107000"/>
              </a:lnSpc>
              <a:spcAft>
                <a:spcPts val="800"/>
              </a:spcAft>
              <a:buNone/>
            </a:pPr>
            <a:endParaRPr lang="en-GB" sz="900" dirty="0">
              <a:solidFill>
                <a:srgbClr val="000000"/>
              </a:solidFill>
              <a:ea typeface="Calibri" panose="020F0502020204030204" pitchFamily="34" charset="0"/>
            </a:endParaRPr>
          </a:p>
          <a:p>
            <a:pPr lvl="0"/>
            <a:r>
              <a:rPr lang="en-GB" sz="2400" dirty="0"/>
              <a:t>Update from S-100 WG11</a:t>
            </a:r>
          </a:p>
          <a:p>
            <a:pPr lvl="0"/>
            <a:r>
              <a:rPr lang="en-GB" sz="2400" dirty="0"/>
              <a:t>Work plan for Edition 2.0.0</a:t>
            </a:r>
          </a:p>
          <a:p>
            <a:pPr lvl="0"/>
            <a:r>
              <a:rPr lang="en-GB" sz="2400" dirty="0"/>
              <a:t>Status on checks</a:t>
            </a:r>
          </a:p>
          <a:p>
            <a:pPr lvl="0"/>
            <a:r>
              <a:rPr lang="en-GB" sz="2400" dirty="0"/>
              <a:t>Review outstanding items – ‘Help Wanted’</a:t>
            </a:r>
          </a:p>
          <a:p>
            <a:pPr lvl="0"/>
            <a:r>
              <a:rPr lang="da-DK" sz="2400" dirty="0"/>
              <a:t>Other issues – if time</a:t>
            </a:r>
          </a:p>
          <a:p>
            <a:pPr lvl="0"/>
            <a:r>
              <a:rPr lang="da-DK" sz="2400" dirty="0"/>
              <a:t>Next meeting</a:t>
            </a: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Bef>
                <a:spcPts val="200"/>
              </a:spcBef>
            </a:pPr>
            <a:r>
              <a:rPr lang="en-GB" b="1" dirty="0">
                <a:solidFill>
                  <a:srgbClr val="000000"/>
                </a:solidFill>
                <a:ea typeface="Times New Roman" panose="02020603050405020304" pitchFamily="18" charset="0"/>
                <a:cs typeface="Times New Roman" panose="02020603050405020304" pitchFamily="18" charset="0"/>
              </a:rPr>
              <a:t>AGENDA</a:t>
            </a:r>
            <a:endParaRPr lang="en-GB" b="1" dirty="0">
              <a:solidFill>
                <a:srgbClr val="2E74B5"/>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617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04850A-60AF-185B-BCFF-3D23949071C5}"/>
              </a:ext>
            </a:extLst>
          </p:cNvPr>
          <p:cNvSpPr>
            <a:spLocks noGrp="1"/>
          </p:cNvSpPr>
          <p:nvPr>
            <p:ph idx="1"/>
          </p:nvPr>
        </p:nvSpPr>
        <p:spPr>
          <a:xfrm>
            <a:off x="838200" y="1292352"/>
            <a:ext cx="10515600" cy="4884611"/>
          </a:xfrm>
        </p:spPr>
        <p:txBody>
          <a:bodyPr>
            <a:normAutofit/>
          </a:bodyPr>
          <a:lstStyle/>
          <a:p>
            <a:endParaRPr lang="da-DK" dirty="0"/>
          </a:p>
          <a:p>
            <a:r>
              <a:rPr lang="en-GB" sz="2000" dirty="0"/>
              <a:t>8.1  - Subgroup report</a:t>
            </a:r>
          </a:p>
          <a:p>
            <a:pPr marL="0" indent="0">
              <a:buNone/>
            </a:pPr>
            <a:r>
              <a:rPr lang="en-GB" sz="2000" dirty="0">
                <a:hlinkClick r:id="rId2"/>
              </a:rPr>
              <a:t>PowerPoint Presentation</a:t>
            </a:r>
            <a:endParaRPr lang="en-GB" sz="2000" dirty="0"/>
          </a:p>
          <a:p>
            <a:r>
              <a:rPr lang="en-GB" sz="2000" dirty="0"/>
              <a:t>8.2 – Draft edition 2.0.0s</a:t>
            </a:r>
          </a:p>
          <a:p>
            <a:r>
              <a:rPr lang="en-GB" sz="2000" dirty="0"/>
              <a:t>8.3 - Data Offset issue – A. </a:t>
            </a:r>
            <a:r>
              <a:rPr lang="da-DK" sz="2000" dirty="0"/>
              <a:t>Klemm is investigating (S-102) – report back 13th November</a:t>
            </a:r>
          </a:p>
          <a:p>
            <a:pPr marL="0" indent="0">
              <a:buNone/>
            </a:pPr>
            <a:r>
              <a:rPr lang="en-GB" sz="2000" dirty="0">
                <a:hlinkClick r:id="rId3"/>
              </a:rPr>
              <a:t>PowerPoint Presentation</a:t>
            </a:r>
            <a:endParaRPr lang="en-GB" sz="2000" dirty="0"/>
          </a:p>
          <a:p>
            <a:pPr marL="0" indent="0">
              <a:buNone/>
            </a:pPr>
            <a:endParaRPr lang="en-GB" sz="2000" dirty="0"/>
          </a:p>
          <a:p>
            <a:pPr marL="0" indent="0">
              <a:buNone/>
            </a:pPr>
            <a:endParaRPr lang="en-GB" sz="2000" dirty="0"/>
          </a:p>
          <a:p>
            <a:r>
              <a:rPr lang="en-GB" sz="2000" dirty="0"/>
              <a:t>S-100 WG Chair : Liz Hahessy (DK)</a:t>
            </a:r>
          </a:p>
          <a:p>
            <a:r>
              <a:rPr lang="en-GB" sz="2000" dirty="0"/>
              <a:t>S-100 WG Vice Chairs: Benjamin Hell (SE) &amp; Gabriela Balla (AU)</a:t>
            </a:r>
          </a:p>
        </p:txBody>
      </p:sp>
      <p:sp>
        <p:nvSpPr>
          <p:cNvPr id="3" name="Title 2">
            <a:extLst>
              <a:ext uri="{FF2B5EF4-FFF2-40B4-BE49-F238E27FC236}">
                <a16:creationId xmlns:a16="http://schemas.microsoft.com/office/drawing/2014/main" id="{EA0A36CA-D360-CD55-1CA2-DBA348A9A862}"/>
              </a:ext>
            </a:extLst>
          </p:cNvPr>
          <p:cNvSpPr>
            <a:spLocks noGrp="1"/>
          </p:cNvSpPr>
          <p:nvPr>
            <p:ph type="title"/>
          </p:nvPr>
        </p:nvSpPr>
        <p:spPr/>
        <p:txBody>
          <a:bodyPr/>
          <a:lstStyle/>
          <a:p>
            <a:r>
              <a:rPr lang="da-DK" dirty="0"/>
              <a:t>Update from S-100 WG11</a:t>
            </a:r>
            <a:endParaRPr lang="en-GB" dirty="0"/>
          </a:p>
        </p:txBody>
      </p:sp>
    </p:spTree>
    <p:extLst>
      <p:ext uri="{BB962C8B-B14F-4D97-AF65-F5344CB8AC3E}">
        <p14:creationId xmlns:p14="http://schemas.microsoft.com/office/powerpoint/2010/main" val="4242401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D2FFA-BB57-493E-06DE-7892F1D560A4}"/>
              </a:ext>
            </a:extLst>
          </p:cNvPr>
          <p:cNvSpPr>
            <a:spLocks noGrp="1"/>
          </p:cNvSpPr>
          <p:nvPr>
            <p:ph idx="1"/>
          </p:nvPr>
        </p:nvSpPr>
        <p:spPr>
          <a:xfrm>
            <a:off x="838200" y="1385740"/>
            <a:ext cx="10515600" cy="4932625"/>
          </a:xfrm>
        </p:spPr>
        <p:txBody>
          <a:bodyPr/>
          <a:lstStyle/>
          <a:p>
            <a:pPr marL="0" indent="0">
              <a:buNone/>
            </a:pPr>
            <a:r>
              <a:rPr lang="en-GB" sz="2000" dirty="0"/>
              <a:t>[</a:t>
            </a:r>
            <a:r>
              <a:rPr lang="en-GB" sz="2000" b="1" dirty="0"/>
              <a:t>Action 11/19</a:t>
            </a:r>
            <a:r>
              <a:rPr lang="en-GB" sz="2000" dirty="0"/>
              <a:t>] </a:t>
            </a:r>
            <a:r>
              <a:rPr lang="en-GB" sz="2000" b="1" dirty="0"/>
              <a:t>S-100WG Chair</a:t>
            </a:r>
            <a:r>
              <a:rPr lang="en-GB" sz="2000" dirty="0"/>
              <a:t> to update the change proposal template, considering also impact on validation</a:t>
            </a:r>
          </a:p>
        </p:txBody>
      </p:sp>
      <p:sp>
        <p:nvSpPr>
          <p:cNvPr id="3" name="Title 2">
            <a:extLst>
              <a:ext uri="{FF2B5EF4-FFF2-40B4-BE49-F238E27FC236}">
                <a16:creationId xmlns:a16="http://schemas.microsoft.com/office/drawing/2014/main" id="{93AB2B92-BD1C-6E33-ACD1-51BC44AB0963}"/>
              </a:ext>
            </a:extLst>
          </p:cNvPr>
          <p:cNvSpPr>
            <a:spLocks noGrp="1"/>
          </p:cNvSpPr>
          <p:nvPr>
            <p:ph type="title"/>
          </p:nvPr>
        </p:nvSpPr>
        <p:spPr/>
        <p:txBody>
          <a:bodyPr>
            <a:normAutofit/>
          </a:bodyPr>
          <a:lstStyle/>
          <a:p>
            <a:r>
              <a:rPr lang="da-DK" dirty="0"/>
              <a:t>A</a:t>
            </a:r>
            <a:r>
              <a:rPr lang="en-GB" dirty="0"/>
              <a:t>ctions from S-100 WG 11</a:t>
            </a:r>
          </a:p>
        </p:txBody>
      </p:sp>
      <p:pic>
        <p:nvPicPr>
          <p:cNvPr id="5" name="Picture 4">
            <a:extLst>
              <a:ext uri="{FF2B5EF4-FFF2-40B4-BE49-F238E27FC236}">
                <a16:creationId xmlns:a16="http://schemas.microsoft.com/office/drawing/2014/main" id="{3745F00E-FF24-5529-B127-1791DE2C6167}"/>
              </a:ext>
            </a:extLst>
          </p:cNvPr>
          <p:cNvPicPr>
            <a:picLocks noChangeAspect="1"/>
          </p:cNvPicPr>
          <p:nvPr/>
        </p:nvPicPr>
        <p:blipFill>
          <a:blip r:embed="rId2"/>
          <a:stretch>
            <a:fillRect/>
          </a:stretch>
        </p:blipFill>
        <p:spPr>
          <a:xfrm>
            <a:off x="1696825" y="2008655"/>
            <a:ext cx="7852579" cy="4689735"/>
          </a:xfrm>
          <a:prstGeom prst="rect">
            <a:avLst/>
          </a:prstGeom>
        </p:spPr>
      </p:pic>
    </p:spTree>
    <p:extLst>
      <p:ext uri="{BB962C8B-B14F-4D97-AF65-F5344CB8AC3E}">
        <p14:creationId xmlns:p14="http://schemas.microsoft.com/office/powerpoint/2010/main" val="157973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3B2C15D-550E-4B57-8836-9C10720C0A2A}"/>
              </a:ext>
            </a:extLst>
          </p:cNvPr>
          <p:cNvGraphicFramePr>
            <a:graphicFrameLocks noGrp="1"/>
          </p:cNvGraphicFramePr>
          <p:nvPr>
            <p:ph idx="1"/>
            <p:extLst>
              <p:ext uri="{D42A27DB-BD31-4B8C-83A1-F6EECF244321}">
                <p14:modId xmlns:p14="http://schemas.microsoft.com/office/powerpoint/2010/main" val="2783717813"/>
              </p:ext>
            </p:extLst>
          </p:nvPr>
        </p:nvGraphicFramePr>
        <p:xfrm>
          <a:off x="1677654" y="1079061"/>
          <a:ext cx="8596965" cy="5073650"/>
        </p:xfrm>
        <a:graphic>
          <a:graphicData uri="http://schemas.openxmlformats.org/drawingml/2006/table">
            <a:tbl>
              <a:tblPr firstRow="1" bandRow="1">
                <a:tableStyleId>{5C22544A-7EE6-4342-B048-85BDC9FD1C3A}</a:tableStyleId>
              </a:tblPr>
              <a:tblGrid>
                <a:gridCol w="585901">
                  <a:extLst>
                    <a:ext uri="{9D8B030D-6E8A-4147-A177-3AD203B41FA5}">
                      <a16:colId xmlns:a16="http://schemas.microsoft.com/office/drawing/2014/main" val="1206492021"/>
                    </a:ext>
                  </a:extLst>
                </a:gridCol>
                <a:gridCol w="5596415">
                  <a:extLst>
                    <a:ext uri="{9D8B030D-6E8A-4147-A177-3AD203B41FA5}">
                      <a16:colId xmlns:a16="http://schemas.microsoft.com/office/drawing/2014/main" val="2223572248"/>
                    </a:ext>
                  </a:extLst>
                </a:gridCol>
                <a:gridCol w="2414649">
                  <a:extLst>
                    <a:ext uri="{9D8B030D-6E8A-4147-A177-3AD203B41FA5}">
                      <a16:colId xmlns:a16="http://schemas.microsoft.com/office/drawing/2014/main" val="3571029484"/>
                    </a:ext>
                  </a:extLst>
                </a:gridCol>
              </a:tblGrid>
              <a:tr h="370840">
                <a:tc>
                  <a:txBody>
                    <a:bodyPr/>
                    <a:lstStyle/>
                    <a:p>
                      <a:pPr algn="l" fontAlgn="b"/>
                      <a:endParaRPr lang="en-GB"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1" i="0" u="none" strike="noStrike" dirty="0">
                          <a:solidFill>
                            <a:srgbClr val="000000"/>
                          </a:solidFill>
                          <a:effectLst/>
                          <a:latin typeface="Arial" panose="020B0604020202020204" pitchFamily="34" charset="0"/>
                          <a:cs typeface="Arial" panose="020B0604020202020204" pitchFamily="34" charset="0"/>
                        </a:rPr>
                        <a:t>Edition 2.0.0</a:t>
                      </a:r>
                    </a:p>
                  </a:txBody>
                  <a:tcPr marL="9525" marR="9525" marT="9525" marB="0" anchor="b"/>
                </a:tc>
                <a:tc>
                  <a:txBody>
                    <a:bodyPr/>
                    <a:lstStyle/>
                    <a:p>
                      <a:pPr algn="l" fontAlgn="b"/>
                      <a:r>
                        <a:rPr lang="da-DK" sz="1600" b="1" i="0" u="none" strike="noStrike" dirty="0">
                          <a:solidFill>
                            <a:srgbClr val="000000"/>
                          </a:solidFill>
                          <a:effectLst/>
                          <a:latin typeface="Arial" panose="020B0604020202020204" pitchFamily="34" charset="0"/>
                          <a:cs typeface="Arial" panose="020B0604020202020204" pitchFamily="34" charset="0"/>
                        </a:rPr>
                        <a:t>Status</a:t>
                      </a:r>
                      <a:endParaRPr lang="en-GB"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36420650"/>
                  </a:ext>
                </a:extLst>
              </a:tr>
              <a:tr h="370840">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1.1</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sngStrike" dirty="0">
                          <a:solidFill>
                            <a:srgbClr val="000000"/>
                          </a:solidFill>
                          <a:effectLst/>
                          <a:latin typeface="Arial" panose="020B0604020202020204" pitchFamily="34" charset="0"/>
                          <a:cs typeface="Arial" panose="020B0604020202020204" pitchFamily="34" charset="0"/>
                        </a:rPr>
                        <a:t>Kick off using funds for edition 2.0.0 &amp; project outline</a:t>
                      </a:r>
                    </a:p>
                  </a:txBody>
                  <a:tcPr marL="9525" marR="9525" marT="9525" marB="0" anchor="b"/>
                </a:tc>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Complete</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91529026"/>
                  </a:ext>
                </a:extLst>
              </a:tr>
              <a:tr h="370840">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1.2</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sngStrike" dirty="0">
                          <a:solidFill>
                            <a:srgbClr val="000000"/>
                          </a:solidFill>
                          <a:effectLst/>
                          <a:latin typeface="Arial" panose="020B0604020202020204" pitchFamily="34" charset="0"/>
                          <a:cs typeface="Arial" panose="020B0604020202020204" pitchFamily="34" charset="0"/>
                        </a:rPr>
                        <a:t>Initiate work</a:t>
                      </a:r>
                    </a:p>
                  </a:txBody>
                  <a:tcPr marL="9525" marR="9525" marT="9525" marB="0" anchor="b"/>
                </a:tc>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Complete</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153686738"/>
                  </a:ext>
                </a:extLst>
              </a:tr>
              <a:tr h="370840">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1.3</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Update for S-100 5.2.1</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Complete</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4738099"/>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1.4</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GitHub issues for inclusion</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2313289"/>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1.5</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S-98 Data Constraints Annex for Edition 2.0.0</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53908984"/>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1.6</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S-58 for potential changes, primarily classifications</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8420681"/>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1.7</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Coordinate with S-158:1xx regarding versioning concerns</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 </a:t>
                      </a:r>
                      <a:endParaRPr lang="en-GB" sz="1600" b="0"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483315712"/>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1.8</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chemeClr val="tx1"/>
                          </a:solidFill>
                          <a:effectLst/>
                          <a:latin typeface="Arial" panose="020B0604020202020204" pitchFamily="34" charset="0"/>
                          <a:cs typeface="Arial" panose="020B0604020202020204" pitchFamily="34" charset="0"/>
                        </a:rPr>
                        <a:t>Circulation for comment</a:t>
                      </a:r>
                    </a:p>
                  </a:txBody>
                  <a:tcPr marL="9525" marR="9525" marT="9525" marB="0" anchor="b"/>
                </a:tc>
                <a:tc>
                  <a:txBody>
                    <a:bodyPr/>
                    <a:lstStyle/>
                    <a:p>
                      <a:pPr algn="l" fontAlgn="b"/>
                      <a:r>
                        <a:rPr lang="da-DK" sz="1600" b="0" i="0" u="none" strike="noStrike" dirty="0">
                          <a:solidFill>
                            <a:schemeClr val="tx1"/>
                          </a:solidFill>
                          <a:effectLst/>
                          <a:latin typeface="Arial" panose="020B0604020202020204" pitchFamily="34" charset="0"/>
                          <a:cs typeface="Arial" panose="020B0604020202020204" pitchFamily="34" charset="0"/>
                        </a:rPr>
                        <a:t>Draft version ready for review – In Progress</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242666083"/>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1.9</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Approval to S-100 WG – draft version</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p>
                  </a:txBody>
                  <a:tcPr marL="9525" marR="9525" marT="9525" marB="0" anchor="b"/>
                </a:tc>
                <a:extLst>
                  <a:ext uri="{0D108BD9-81ED-4DB2-BD59-A6C34878D82A}">
                    <a16:rowId xmlns:a16="http://schemas.microsoft.com/office/drawing/2014/main" val="3862845048"/>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1.10</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Approval from S-100 WG via circular letter</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p>
                    <a:p>
                      <a:pPr marL="0" marR="0" lvl="0" indent="0" algn="l" defTabSz="914400" rtl="0" eaLnBrk="1" fontAlgn="b" latinLnBrk="0" hangingPunct="1">
                        <a:lnSpc>
                          <a:spcPct val="100000"/>
                        </a:lnSpc>
                        <a:spcBef>
                          <a:spcPts val="0"/>
                        </a:spcBef>
                        <a:spcAft>
                          <a:spcPts val="0"/>
                        </a:spcAft>
                        <a:buClrTx/>
                        <a:buSzTx/>
                        <a:buFontTx/>
                        <a:buNone/>
                        <a:tabLst/>
                        <a:defRPr/>
                      </a:pPr>
                      <a:r>
                        <a:rPr lang="da-DK" sz="1600" b="0" i="0" u="none" strike="noStrike" dirty="0">
                          <a:solidFill>
                            <a:srgbClr val="000000"/>
                          </a:solidFill>
                          <a:effectLst/>
                          <a:latin typeface="Arial" panose="020B0604020202020204" pitchFamily="34" charset="0"/>
                          <a:cs typeface="Arial" panose="020B0604020202020204" pitchFamily="34" charset="0"/>
                        </a:rPr>
                        <a:t>Final drafts due 30/12</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95719592"/>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1.11</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User impact study</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741934063"/>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1.12</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HSSC endorsement</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91874355"/>
                  </a:ext>
                </a:extLst>
              </a:tr>
            </a:tbl>
          </a:graphicData>
        </a:graphic>
      </p:graphicFrame>
      <p:sp>
        <p:nvSpPr>
          <p:cNvPr id="3" name="Title 2">
            <a:extLst>
              <a:ext uri="{FF2B5EF4-FFF2-40B4-BE49-F238E27FC236}">
                <a16:creationId xmlns:a16="http://schemas.microsoft.com/office/drawing/2014/main" id="{3E535DBE-A9E3-4D0B-8F1A-F888ADCFFEF4}"/>
              </a:ext>
            </a:extLst>
          </p:cNvPr>
          <p:cNvSpPr>
            <a:spLocks noGrp="1"/>
          </p:cNvSpPr>
          <p:nvPr>
            <p:ph type="title"/>
          </p:nvPr>
        </p:nvSpPr>
        <p:spPr/>
        <p:txBody>
          <a:bodyPr/>
          <a:lstStyle/>
          <a:p>
            <a:r>
              <a:rPr lang="en-GB" dirty="0"/>
              <a:t>Work plan for Edition 2.0.0</a:t>
            </a:r>
            <a:br>
              <a:rPr lang="en-GB" dirty="0"/>
            </a:br>
            <a:endParaRPr lang="en-GB" dirty="0"/>
          </a:p>
        </p:txBody>
      </p:sp>
    </p:spTree>
    <p:extLst>
      <p:ext uri="{BB962C8B-B14F-4D97-AF65-F5344CB8AC3E}">
        <p14:creationId xmlns:p14="http://schemas.microsoft.com/office/powerpoint/2010/main" val="245276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ACA83-9A9C-6C96-1806-876C10F72E9D}"/>
              </a:ext>
            </a:extLst>
          </p:cNvPr>
          <p:cNvSpPr>
            <a:spLocks noGrp="1"/>
          </p:cNvSpPr>
          <p:nvPr>
            <p:ph idx="1"/>
          </p:nvPr>
        </p:nvSpPr>
        <p:spPr/>
        <p:txBody>
          <a:bodyPr>
            <a:normAutofit fontScale="92500" lnSpcReduction="10000"/>
          </a:bodyPr>
          <a:lstStyle/>
          <a:p>
            <a:r>
              <a:rPr lang="da-DK" dirty="0"/>
              <a:t>Updated yesterday</a:t>
            </a:r>
          </a:p>
          <a:p>
            <a:pPr marL="0" indent="0">
              <a:buNone/>
            </a:pPr>
            <a:r>
              <a:rPr lang="da-DK" dirty="0"/>
              <a:t>Versions are up on GitHub</a:t>
            </a:r>
          </a:p>
          <a:p>
            <a:pPr marL="0" indent="0">
              <a:buNone/>
            </a:pPr>
            <a:r>
              <a:rPr lang="en-GB" sz="1700" dirty="0">
                <a:hlinkClick r:id="rId2"/>
              </a:rPr>
              <a:t>S-100-Validation-Checks/Documents/S-158-100/2.0.0 at main · iho-ohi/S-100-Validation-Checks · GitHub</a:t>
            </a:r>
            <a:endParaRPr lang="en-GB" sz="1700" dirty="0"/>
          </a:p>
          <a:p>
            <a:pPr marL="0" indent="0">
              <a:buNone/>
            </a:pPr>
            <a:r>
              <a:rPr lang="en-GB" sz="1700" dirty="0">
                <a:hlinkClick r:id="rId3"/>
              </a:rPr>
              <a:t>S-100-Validation-Checks/Documents/S-158-98/2.0.0 at main · iho-ohi/S-100-Validation-Checks · GitHub</a:t>
            </a:r>
            <a:endParaRPr lang="en-GB" sz="1700" dirty="0"/>
          </a:p>
          <a:p>
            <a:pPr marL="0" indent="0">
              <a:buNone/>
            </a:pPr>
            <a:r>
              <a:rPr lang="en-GB" sz="1700" dirty="0">
                <a:hlinkClick r:id="rId4"/>
              </a:rPr>
              <a:t>S-100-Validation-Checks/Documents/S-158/2.0.0 at main · iho-ohi/S-100-Validation-Checks · GitHub</a:t>
            </a:r>
            <a:endParaRPr lang="da-DK" sz="1700" dirty="0"/>
          </a:p>
          <a:p>
            <a:endParaRPr lang="da-DK" dirty="0"/>
          </a:p>
          <a:p>
            <a:r>
              <a:rPr lang="da-DK" dirty="0"/>
              <a:t>Changes marked in red</a:t>
            </a:r>
          </a:p>
          <a:p>
            <a:pPr lvl="1"/>
            <a:r>
              <a:rPr lang="da-DK" dirty="0"/>
              <a:t>Standardised wording changes not on GitHub</a:t>
            </a:r>
          </a:p>
          <a:p>
            <a:endParaRPr lang="da-DK" dirty="0"/>
          </a:p>
          <a:p>
            <a:r>
              <a:rPr lang="da-DK" dirty="0"/>
              <a:t>Would really like feedback by </a:t>
            </a:r>
            <a:r>
              <a:rPr lang="da-DK" b="1" u="sng" dirty="0">
                <a:solidFill>
                  <a:srgbClr val="FF0000"/>
                </a:solidFill>
              </a:rPr>
              <a:t>18th November</a:t>
            </a:r>
          </a:p>
          <a:p>
            <a:pPr lvl="1"/>
            <a:r>
              <a:rPr lang="da-DK" dirty="0"/>
              <a:t>Contract time limited</a:t>
            </a:r>
            <a:endParaRPr lang="en-GB" dirty="0"/>
          </a:p>
        </p:txBody>
      </p:sp>
      <p:sp>
        <p:nvSpPr>
          <p:cNvPr id="3" name="Title 2">
            <a:extLst>
              <a:ext uri="{FF2B5EF4-FFF2-40B4-BE49-F238E27FC236}">
                <a16:creationId xmlns:a16="http://schemas.microsoft.com/office/drawing/2014/main" id="{073173A6-7075-6376-D467-9D04183FB47F}"/>
              </a:ext>
            </a:extLst>
          </p:cNvPr>
          <p:cNvSpPr>
            <a:spLocks noGrp="1"/>
          </p:cNvSpPr>
          <p:nvPr>
            <p:ph type="title"/>
          </p:nvPr>
        </p:nvSpPr>
        <p:spPr/>
        <p:txBody>
          <a:bodyPr/>
          <a:lstStyle/>
          <a:p>
            <a:r>
              <a:rPr lang="da-DK" dirty="0"/>
              <a:t>Draft edition 2.0.0</a:t>
            </a:r>
            <a:endParaRPr lang="en-GB" dirty="0"/>
          </a:p>
        </p:txBody>
      </p:sp>
    </p:spTree>
    <p:extLst>
      <p:ext uri="{BB962C8B-B14F-4D97-AF65-F5344CB8AC3E}">
        <p14:creationId xmlns:p14="http://schemas.microsoft.com/office/powerpoint/2010/main" val="176841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B47E2B-BC6F-16AA-4180-A7E683D75045}"/>
              </a:ext>
            </a:extLst>
          </p:cNvPr>
          <p:cNvSpPr>
            <a:spLocks noGrp="1"/>
          </p:cNvSpPr>
          <p:nvPr>
            <p:ph idx="1"/>
          </p:nvPr>
        </p:nvSpPr>
        <p:spPr/>
        <p:txBody>
          <a:bodyPr/>
          <a:lstStyle/>
          <a:p>
            <a:pPr marL="0" indent="0">
              <a:buNone/>
            </a:pPr>
            <a:r>
              <a:rPr lang="da-DK" sz="2000" dirty="0"/>
              <a:t>Reviewing actions to see if any are required, potentially later in Edition 2.0.0 if the timing doesn’t work.</a:t>
            </a:r>
            <a:endParaRPr lang="en-GB" sz="2000" dirty="0"/>
          </a:p>
          <a:p>
            <a:pPr marL="0" indent="0">
              <a:buNone/>
            </a:pPr>
            <a:endParaRPr lang="en-GB" sz="1600" dirty="0"/>
          </a:p>
          <a:p>
            <a:pPr marL="0" indent="0">
              <a:buNone/>
            </a:pPr>
            <a:r>
              <a:rPr lang="en-GB" sz="2000" dirty="0"/>
              <a:t>20 possible changes required</a:t>
            </a:r>
          </a:p>
          <a:p>
            <a:pPr marL="0" indent="0">
              <a:buNone/>
            </a:pPr>
            <a:r>
              <a:rPr lang="en-GB" sz="2000" dirty="0">
                <a:hlinkClick r:id="rId2"/>
              </a:rPr>
              <a:t>Checks arising from amendments to 5.2.1 approved at S-100 WG11 · Issue #161 · iho-ohi/S-100-Validation-Checks · GitHub</a:t>
            </a:r>
            <a:endParaRPr lang="en-GB" sz="2000" dirty="0"/>
          </a:p>
          <a:p>
            <a:pPr marL="0" indent="0">
              <a:buNone/>
            </a:pPr>
            <a:endParaRPr lang="da-DK" sz="2000" dirty="0"/>
          </a:p>
        </p:txBody>
      </p:sp>
      <p:sp>
        <p:nvSpPr>
          <p:cNvPr id="3" name="Title 2">
            <a:extLst>
              <a:ext uri="{FF2B5EF4-FFF2-40B4-BE49-F238E27FC236}">
                <a16:creationId xmlns:a16="http://schemas.microsoft.com/office/drawing/2014/main" id="{7915001F-7A14-C7CF-A811-88CD7045F4E7}"/>
              </a:ext>
            </a:extLst>
          </p:cNvPr>
          <p:cNvSpPr>
            <a:spLocks noGrp="1"/>
          </p:cNvSpPr>
          <p:nvPr>
            <p:ph type="title"/>
          </p:nvPr>
        </p:nvSpPr>
        <p:spPr/>
        <p:txBody>
          <a:bodyPr/>
          <a:lstStyle/>
          <a:p>
            <a:r>
              <a:rPr lang="da-DK" dirty="0"/>
              <a:t>5.2.2 changes</a:t>
            </a:r>
            <a:endParaRPr lang="en-GB" dirty="0"/>
          </a:p>
        </p:txBody>
      </p:sp>
    </p:spTree>
    <p:extLst>
      <p:ext uri="{BB962C8B-B14F-4D97-AF65-F5344CB8AC3E}">
        <p14:creationId xmlns:p14="http://schemas.microsoft.com/office/powerpoint/2010/main" val="3015257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946189-A9E2-AFD9-3D7F-CFEDEB018771}"/>
              </a:ext>
            </a:extLst>
          </p:cNvPr>
          <p:cNvSpPr>
            <a:spLocks noGrp="1"/>
          </p:cNvSpPr>
          <p:nvPr>
            <p:ph idx="1"/>
          </p:nvPr>
        </p:nvSpPr>
        <p:spPr/>
        <p:txBody>
          <a:bodyPr/>
          <a:lstStyle/>
          <a:p>
            <a:r>
              <a:rPr lang="da-DK" dirty="0"/>
              <a:t>2 issues</a:t>
            </a:r>
          </a:p>
          <a:p>
            <a:pPr lvl="1"/>
            <a:r>
              <a:rPr lang="da-DK" dirty="0"/>
              <a:t>S-58 Check 102 – Record length</a:t>
            </a:r>
          </a:p>
          <a:p>
            <a:pPr lvl="2"/>
            <a:r>
              <a:rPr lang="da-DK" dirty="0"/>
              <a:t>See what happens at ENC WG meeting</a:t>
            </a:r>
          </a:p>
          <a:p>
            <a:pPr lvl="2"/>
            <a:r>
              <a:rPr lang="da-DK" dirty="0"/>
              <a:t>Possibly a Collection D  check (generic) or push to S-101</a:t>
            </a:r>
          </a:p>
          <a:p>
            <a:pPr lvl="1"/>
            <a:endParaRPr lang="da-DK" dirty="0"/>
          </a:p>
          <a:p>
            <a:pPr lvl="1"/>
            <a:r>
              <a:rPr lang="da-DK" dirty="0"/>
              <a:t>551c- Text attribute using C1 characters prohibited</a:t>
            </a:r>
            <a:endParaRPr lang="en-GB" dirty="0"/>
          </a:p>
        </p:txBody>
      </p:sp>
      <p:sp>
        <p:nvSpPr>
          <p:cNvPr id="3" name="Title 2">
            <a:extLst>
              <a:ext uri="{FF2B5EF4-FFF2-40B4-BE49-F238E27FC236}">
                <a16:creationId xmlns:a16="http://schemas.microsoft.com/office/drawing/2014/main" id="{88D902B3-9231-B724-3549-676BFD21D9C4}"/>
              </a:ext>
            </a:extLst>
          </p:cNvPr>
          <p:cNvSpPr>
            <a:spLocks noGrp="1"/>
          </p:cNvSpPr>
          <p:nvPr>
            <p:ph type="title"/>
          </p:nvPr>
        </p:nvSpPr>
        <p:spPr/>
        <p:txBody>
          <a:bodyPr>
            <a:normAutofit/>
          </a:bodyPr>
          <a:lstStyle/>
          <a:p>
            <a:r>
              <a:rPr lang="da-DK" dirty="0"/>
              <a:t>S-58 Edition 9.0.0 checks #159</a:t>
            </a:r>
            <a:br>
              <a:rPr lang="da-DK" dirty="0"/>
            </a:br>
            <a:r>
              <a:rPr lang="en-GB" sz="1400" b="1" dirty="0">
                <a:hlinkClick r:id="rId2"/>
              </a:rPr>
              <a:t>Checks from S-58 Edition 9.0.0 · Issue #159 · iho-ohi/S-100-Validation-Checks</a:t>
            </a:r>
            <a:endParaRPr lang="en-GB" b="1" dirty="0"/>
          </a:p>
        </p:txBody>
      </p:sp>
    </p:spTree>
    <p:extLst>
      <p:ext uri="{BB962C8B-B14F-4D97-AF65-F5344CB8AC3E}">
        <p14:creationId xmlns:p14="http://schemas.microsoft.com/office/powerpoint/2010/main" val="3082451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6C9FF5-04E2-7B70-41BA-57A1DE110BAC}"/>
              </a:ext>
            </a:extLst>
          </p:cNvPr>
          <p:cNvSpPr>
            <a:spLocks noGrp="1"/>
          </p:cNvSpPr>
          <p:nvPr>
            <p:ph idx="1"/>
          </p:nvPr>
        </p:nvSpPr>
        <p:spPr>
          <a:xfrm>
            <a:off x="964324" y="1554458"/>
            <a:ext cx="10515600" cy="4351338"/>
          </a:xfrm>
        </p:spPr>
        <p:txBody>
          <a:bodyPr>
            <a:normAutofit fontScale="92500" lnSpcReduction="20000"/>
          </a:bodyPr>
          <a:lstStyle/>
          <a:p>
            <a:pPr marL="0" indent="0">
              <a:buNone/>
            </a:pPr>
            <a:r>
              <a:rPr lang="da-DK" dirty="0"/>
              <a:t>Collection C (help wanted issue)</a:t>
            </a:r>
          </a:p>
          <a:p>
            <a:r>
              <a:rPr lang="en-GB" sz="2000" dirty="0"/>
              <a:t>Collection C checks are those which cannot be implemented in the traditional way, that is, by purely software processing of the subject, be it dataset, support file, or exchange set. Such checks will include:</a:t>
            </a:r>
          </a:p>
          <a:p>
            <a:pPr lvl="1"/>
            <a:r>
              <a:rPr lang="en-GB" sz="1800" dirty="0"/>
              <a:t>checks which require external information, e.g., tracking previously issued updates</a:t>
            </a:r>
          </a:p>
          <a:p>
            <a:pPr lvl="1"/>
            <a:r>
              <a:rPr lang="en-GB" sz="1800" dirty="0"/>
              <a:t>checks which require visual inspection or other non-software based means of testing, either in full or part</a:t>
            </a:r>
          </a:p>
          <a:p>
            <a:pPr lvl="1"/>
            <a:r>
              <a:rPr lang="en-GB" sz="1800" dirty="0"/>
              <a:t>Move to a Register Check when ready</a:t>
            </a:r>
          </a:p>
          <a:p>
            <a:endParaRPr lang="en-GB" dirty="0"/>
          </a:p>
          <a:p>
            <a:pPr marL="0" indent="0">
              <a:buNone/>
            </a:pPr>
            <a:r>
              <a:rPr lang="en-GB" dirty="0"/>
              <a:t>Collection D (will come back to)</a:t>
            </a:r>
          </a:p>
          <a:p>
            <a:r>
              <a:rPr lang="en-GB" sz="2400" dirty="0"/>
              <a:t>Checks that mention the Product Specification</a:t>
            </a:r>
          </a:p>
          <a:p>
            <a:pPr lvl="1"/>
            <a:r>
              <a:rPr lang="en-GB" sz="2000" dirty="0"/>
              <a:t>Suggestion is to make a list and then the PS validation owners can choose whether to include or not</a:t>
            </a:r>
          </a:p>
          <a:p>
            <a:pPr lvl="1"/>
            <a:r>
              <a:rPr lang="en-GB" sz="2000" dirty="0"/>
              <a:t>Will not be included in main S-158:100 checks, could potentially split out to another document, so not causing updates to S-158:100</a:t>
            </a:r>
          </a:p>
        </p:txBody>
      </p:sp>
      <p:sp>
        <p:nvSpPr>
          <p:cNvPr id="3" name="Title 2">
            <a:extLst>
              <a:ext uri="{FF2B5EF4-FFF2-40B4-BE49-F238E27FC236}">
                <a16:creationId xmlns:a16="http://schemas.microsoft.com/office/drawing/2014/main" id="{2F5A345E-6CAF-F2BF-B49B-1E229DFDCE28}"/>
              </a:ext>
            </a:extLst>
          </p:cNvPr>
          <p:cNvSpPr>
            <a:spLocks noGrp="1"/>
          </p:cNvSpPr>
          <p:nvPr>
            <p:ph type="title"/>
          </p:nvPr>
        </p:nvSpPr>
        <p:spPr/>
        <p:txBody>
          <a:bodyPr/>
          <a:lstStyle/>
          <a:p>
            <a:r>
              <a:rPr lang="da-DK" dirty="0"/>
              <a:t>Collection c &amp; d		</a:t>
            </a:r>
            <a:endParaRPr lang="en-GB" dirty="0"/>
          </a:p>
        </p:txBody>
      </p:sp>
    </p:spTree>
    <p:extLst>
      <p:ext uri="{BB962C8B-B14F-4D97-AF65-F5344CB8AC3E}">
        <p14:creationId xmlns:p14="http://schemas.microsoft.com/office/powerpoint/2010/main" val="3140879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721C91-B91A-4286-9AFD-3FDDC104D0C0}"/>
              </a:ext>
            </a:extLst>
          </p:cNvPr>
          <p:cNvSpPr>
            <a:spLocks noGrp="1"/>
          </p:cNvSpPr>
          <p:nvPr>
            <p:ph idx="1"/>
          </p:nvPr>
        </p:nvSpPr>
        <p:spPr/>
        <p:txBody>
          <a:bodyPr/>
          <a:lstStyle/>
          <a:p>
            <a:pPr marL="0" indent="0">
              <a:buNone/>
            </a:pPr>
            <a:r>
              <a:rPr lang="da-DK" dirty="0"/>
              <a:t>70 open</a:t>
            </a:r>
            <a:r>
              <a:rPr lang="en-GB" dirty="0"/>
              <a:t> issues in GitHub</a:t>
            </a:r>
          </a:p>
          <a:p>
            <a:pPr lvl="1"/>
            <a:r>
              <a:rPr lang="en-GB" dirty="0"/>
              <a:t>11 ‘Help Wanted’ – indicate priority issue for discussion</a:t>
            </a:r>
          </a:p>
          <a:p>
            <a:pPr lvl="1"/>
            <a:r>
              <a:rPr lang="en-GB" dirty="0"/>
              <a:t>42 Fix drafted</a:t>
            </a:r>
          </a:p>
          <a:p>
            <a:pPr marL="457200" lvl="1" indent="0">
              <a:buNone/>
            </a:pPr>
            <a:endParaRPr lang="en-GB" dirty="0"/>
          </a:p>
          <a:p>
            <a:pPr marL="0" indent="0">
              <a:buNone/>
            </a:pPr>
            <a:r>
              <a:rPr lang="en-GB" sz="1800" dirty="0">
                <a:hlinkClick r:id="rId2"/>
              </a:rPr>
              <a:t>iho-ohi/S-100-Validation-Checks: S-100 Github repository for Validation Check development.</a:t>
            </a:r>
            <a:endParaRPr lang="en-GB" sz="1800" dirty="0"/>
          </a:p>
          <a:p>
            <a:pPr marL="0" indent="0">
              <a:buNone/>
            </a:pPr>
            <a:r>
              <a:rPr lang="en-GB" dirty="0"/>
              <a:t> </a:t>
            </a:r>
          </a:p>
        </p:txBody>
      </p:sp>
      <p:sp>
        <p:nvSpPr>
          <p:cNvPr id="3" name="Title 2">
            <a:extLst>
              <a:ext uri="{FF2B5EF4-FFF2-40B4-BE49-F238E27FC236}">
                <a16:creationId xmlns:a16="http://schemas.microsoft.com/office/drawing/2014/main" id="{5CBE0691-FBFB-45C6-9547-B08446E8A8BD}"/>
              </a:ext>
            </a:extLst>
          </p:cNvPr>
          <p:cNvSpPr>
            <a:spLocks noGrp="1"/>
          </p:cNvSpPr>
          <p:nvPr>
            <p:ph type="title"/>
          </p:nvPr>
        </p:nvSpPr>
        <p:spPr/>
        <p:txBody>
          <a:bodyPr/>
          <a:lstStyle/>
          <a:p>
            <a:r>
              <a:rPr lang="en-GB" dirty="0"/>
              <a:t>Outstanding issues and topics</a:t>
            </a:r>
            <a:br>
              <a:rPr lang="en-GB" dirty="0"/>
            </a:br>
            <a:endParaRPr lang="en-GB" dirty="0"/>
          </a:p>
        </p:txBody>
      </p:sp>
    </p:spTree>
    <p:extLst>
      <p:ext uri="{BB962C8B-B14F-4D97-AF65-F5344CB8AC3E}">
        <p14:creationId xmlns:p14="http://schemas.microsoft.com/office/powerpoint/2010/main" val="1383738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E210CC-9BBB-C79D-1F60-54FD1EE8A225}"/>
              </a:ext>
            </a:extLst>
          </p:cNvPr>
          <p:cNvSpPr>
            <a:spLocks noGrp="1"/>
          </p:cNvSpPr>
          <p:nvPr>
            <p:ph idx="1"/>
          </p:nvPr>
        </p:nvSpPr>
        <p:spPr/>
        <p:txBody>
          <a:bodyPr/>
          <a:lstStyle/>
          <a:p>
            <a:r>
              <a:rPr lang="da-DK" dirty="0"/>
              <a:t>Identifying examples of where it says ….. S-100 spec or product specification</a:t>
            </a:r>
          </a:p>
          <a:p>
            <a:pPr lvl="1"/>
            <a:r>
              <a:rPr lang="da-DK" dirty="0"/>
              <a:t>Does the subgroup agree?</a:t>
            </a:r>
          </a:p>
          <a:p>
            <a:pPr lvl="1"/>
            <a:r>
              <a:rPr lang="da-DK" dirty="0"/>
              <a:t>20+ checks</a:t>
            </a:r>
          </a:p>
          <a:p>
            <a:pPr lvl="1"/>
            <a:endParaRPr lang="da-DK" dirty="0"/>
          </a:p>
          <a:p>
            <a:pPr lvl="1"/>
            <a:endParaRPr lang="da-DK" dirty="0"/>
          </a:p>
          <a:p>
            <a:pPr marL="0" indent="0">
              <a:buNone/>
            </a:pPr>
            <a:r>
              <a:rPr lang="en-GB" sz="1800" dirty="0">
                <a:hlinkClick r:id="rId2"/>
              </a:rPr>
              <a:t>Checks in S-158:100 which mention the Product Specification · Issue #160 · iho-ohi/S-100-Validation-Checks · GitHub</a:t>
            </a:r>
            <a:endParaRPr lang="en-GB" sz="1800" dirty="0"/>
          </a:p>
        </p:txBody>
      </p:sp>
      <p:sp>
        <p:nvSpPr>
          <p:cNvPr id="3" name="Title 2">
            <a:extLst>
              <a:ext uri="{FF2B5EF4-FFF2-40B4-BE49-F238E27FC236}">
                <a16:creationId xmlns:a16="http://schemas.microsoft.com/office/drawing/2014/main" id="{3B7F3AB7-AEA7-A3B9-83F2-4987126680AD}"/>
              </a:ext>
            </a:extLst>
          </p:cNvPr>
          <p:cNvSpPr>
            <a:spLocks noGrp="1"/>
          </p:cNvSpPr>
          <p:nvPr>
            <p:ph type="title"/>
          </p:nvPr>
        </p:nvSpPr>
        <p:spPr/>
        <p:txBody>
          <a:bodyPr/>
          <a:lstStyle/>
          <a:p>
            <a:r>
              <a:rPr lang="da-DK" dirty="0"/>
              <a:t>Use of ‘product specification’</a:t>
            </a:r>
            <a:endParaRPr lang="en-GB" dirty="0"/>
          </a:p>
        </p:txBody>
      </p:sp>
    </p:spTree>
    <p:extLst>
      <p:ext uri="{BB962C8B-B14F-4D97-AF65-F5344CB8AC3E}">
        <p14:creationId xmlns:p14="http://schemas.microsoft.com/office/powerpoint/2010/main" val="3949951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DFA57-F4E1-C4F8-25DF-89622C6A593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D3602E9-0451-6AAF-0823-692BD021241E}"/>
              </a:ext>
            </a:extLst>
          </p:cNvPr>
          <p:cNvSpPr>
            <a:spLocks noGrp="1"/>
          </p:cNvSpPr>
          <p:nvPr>
            <p:ph idx="1"/>
          </p:nvPr>
        </p:nvSpPr>
        <p:spPr>
          <a:xfrm>
            <a:off x="943707" y="1025524"/>
            <a:ext cx="10515600" cy="5330826"/>
          </a:xfrm>
        </p:spPr>
        <p:txBody>
          <a:bodyPr>
            <a:normAutofit fontScale="25000" lnSpcReduction="20000"/>
          </a:bodyPr>
          <a:lstStyle/>
          <a:p>
            <a:pPr>
              <a:lnSpc>
                <a:spcPct val="120000"/>
              </a:lnSpc>
            </a:pPr>
            <a:r>
              <a:rPr lang="en-US" sz="6200" dirty="0"/>
              <a:t>List-form display as in Excel lists of checks for Edition 2.</a:t>
            </a:r>
          </a:p>
          <a:p>
            <a:pPr>
              <a:lnSpc>
                <a:spcPct val="120000"/>
              </a:lnSpc>
            </a:pPr>
            <a:r>
              <a:rPr lang="en-US" sz="6200" dirty="0"/>
              <a:t>Provide for additional product-specific fields in checks.</a:t>
            </a:r>
          </a:p>
          <a:p>
            <a:pPr>
              <a:lnSpc>
                <a:spcPct val="120000"/>
              </a:lnSpc>
            </a:pPr>
            <a:r>
              <a:rPr lang="en-US" sz="6200" dirty="0"/>
              <a:t>Provide for associating an optional free-text or structured annotation (for example a table) to each check.</a:t>
            </a:r>
          </a:p>
          <a:p>
            <a:pPr>
              <a:lnSpc>
                <a:spcPct val="120000"/>
              </a:lnSpc>
            </a:pPr>
            <a:r>
              <a:rPr lang="en-US" sz="6200" dirty="0"/>
              <a:t>Designate checks as common to multiple data products.</a:t>
            </a:r>
          </a:p>
          <a:p>
            <a:pPr>
              <a:lnSpc>
                <a:spcPct val="120000"/>
              </a:lnSpc>
            </a:pPr>
            <a:r>
              <a:rPr lang="en-US" sz="6200" dirty="0"/>
              <a:t>Select checks by data product or generic S-100 checks and the edition </a:t>
            </a:r>
            <a:r>
              <a:rPr lang="en-US" sz="6200" u="sng" dirty="0"/>
              <a:t>to which a check is applicable</a:t>
            </a:r>
            <a:r>
              <a:rPr lang="en-US" sz="6200" dirty="0"/>
              <a:t>, in addition to the introduced/modified/deleted fields</a:t>
            </a:r>
            <a:endParaRPr lang="en-US" sz="6200" u="sng" dirty="0"/>
          </a:p>
          <a:p>
            <a:pPr>
              <a:lnSpc>
                <a:spcPct val="120000"/>
              </a:lnSpc>
            </a:pPr>
            <a:r>
              <a:rPr lang="en-US" sz="6200" dirty="0"/>
              <a:t>Text search of Message, Description, and Solution fields.</a:t>
            </a:r>
          </a:p>
          <a:p>
            <a:pPr>
              <a:lnSpc>
                <a:spcPct val="120000"/>
              </a:lnSpc>
            </a:pPr>
            <a:r>
              <a:rPr lang="en-US" sz="6200" dirty="0"/>
              <a:t>Export results in spreadsheet (or at least CSV?) and XML</a:t>
            </a:r>
          </a:p>
          <a:p>
            <a:pPr lvl="1">
              <a:lnSpc>
                <a:spcPct val="120000"/>
              </a:lnSpc>
            </a:pPr>
            <a:r>
              <a:rPr lang="en-US" sz="5800" dirty="0"/>
              <a:t>Export as Word, HTML or PDF document (only if need is identified)?</a:t>
            </a:r>
          </a:p>
          <a:p>
            <a:pPr lvl="1">
              <a:lnSpc>
                <a:spcPct val="120000"/>
              </a:lnSpc>
            </a:pPr>
            <a:r>
              <a:rPr lang="en-US" sz="5800" dirty="0"/>
              <a:t>Select fields to be exported</a:t>
            </a:r>
          </a:p>
          <a:p>
            <a:pPr>
              <a:lnSpc>
                <a:spcPct val="120000"/>
              </a:lnSpc>
            </a:pPr>
            <a:r>
              <a:rPr lang="en-US" sz="6200" dirty="0"/>
              <a:t>Add Key Terms field to facilitate search – allow S-158:... authors to tag checks with terms which provide more details than the standard fields, such as “root group”, “regular grid”, etc.</a:t>
            </a:r>
          </a:p>
          <a:p>
            <a:pPr lvl="1">
              <a:lnSpc>
                <a:spcPct val="120000"/>
              </a:lnSpc>
            </a:pPr>
            <a:r>
              <a:rPr lang="en-US" sz="5800" dirty="0"/>
              <a:t>Provide for a standardized but easily expandable list of key terms.</a:t>
            </a:r>
          </a:p>
          <a:p>
            <a:pPr>
              <a:lnSpc>
                <a:spcPct val="120000"/>
              </a:lnSpc>
            </a:pPr>
            <a:r>
              <a:rPr lang="en-US" sz="6200" dirty="0"/>
              <a:t>Other requirements?</a:t>
            </a:r>
          </a:p>
        </p:txBody>
      </p:sp>
      <p:sp>
        <p:nvSpPr>
          <p:cNvPr id="2" name="Slide Number Placeholder 1">
            <a:extLst>
              <a:ext uri="{FF2B5EF4-FFF2-40B4-BE49-F238E27FC236}">
                <a16:creationId xmlns:a16="http://schemas.microsoft.com/office/drawing/2014/main" id="{6853DC8C-6979-7DCC-368B-2AEB81DBF65C}"/>
              </a:ext>
            </a:extLst>
          </p:cNvPr>
          <p:cNvSpPr>
            <a:spLocks noGrp="1"/>
          </p:cNvSpPr>
          <p:nvPr>
            <p:ph type="sldNum" sz="quarter" idx="12"/>
          </p:nvPr>
        </p:nvSpPr>
        <p:spPr/>
        <p:txBody>
          <a:bodyPr/>
          <a:lstStyle/>
          <a:p>
            <a:fld id="{46D0E966-1BD1-4C85-866E-DF3AF3395196}" type="slidenum">
              <a:rPr lang="fr-FR" smtClean="0"/>
              <a:t>13</a:t>
            </a:fld>
            <a:endParaRPr lang="fr-FR" dirty="0"/>
          </a:p>
        </p:txBody>
      </p:sp>
      <p:sp>
        <p:nvSpPr>
          <p:cNvPr id="3" name="Title 2">
            <a:extLst>
              <a:ext uri="{FF2B5EF4-FFF2-40B4-BE49-F238E27FC236}">
                <a16:creationId xmlns:a16="http://schemas.microsoft.com/office/drawing/2014/main" id="{4D933A42-8A69-6176-6715-6CB4BF7218E0}"/>
              </a:ext>
            </a:extLst>
          </p:cNvPr>
          <p:cNvSpPr>
            <a:spLocks noGrp="1"/>
          </p:cNvSpPr>
          <p:nvPr>
            <p:ph type="title"/>
          </p:nvPr>
        </p:nvSpPr>
        <p:spPr/>
        <p:txBody>
          <a:bodyPr/>
          <a:lstStyle/>
          <a:p>
            <a:r>
              <a:rPr lang="en-US" dirty="0"/>
              <a:t>Requirements for Infrastructure / artefacts</a:t>
            </a:r>
          </a:p>
        </p:txBody>
      </p:sp>
    </p:spTree>
    <p:extLst>
      <p:ext uri="{BB962C8B-B14F-4D97-AF65-F5344CB8AC3E}">
        <p14:creationId xmlns:p14="http://schemas.microsoft.com/office/powerpoint/2010/main" val="1065732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1034095" y="1479190"/>
            <a:ext cx="10678612" cy="4541165"/>
          </a:xfrm>
        </p:spPr>
        <p:txBody>
          <a:bodyPr>
            <a:noAutofit/>
          </a:bodyPr>
          <a:lstStyle/>
          <a:p>
            <a:pPr marL="0" indent="0">
              <a:lnSpc>
                <a:spcPct val="107000"/>
              </a:lnSpc>
              <a:spcAft>
                <a:spcPts val="800"/>
              </a:spcAft>
              <a:buNone/>
            </a:pPr>
            <a:endParaRPr lang="en-GB" sz="2400" dirty="0">
              <a:solidFill>
                <a:srgbClr val="000000"/>
              </a:solidFill>
              <a:ea typeface="Calibri" panose="020F0502020204030204" pitchFamily="34" charset="0"/>
            </a:endParaRPr>
          </a:p>
          <a:p>
            <a:pPr marL="0" indent="0">
              <a:lnSpc>
                <a:spcPct val="107000"/>
              </a:lnSpc>
              <a:spcAft>
                <a:spcPts val="800"/>
              </a:spcAft>
              <a:buNone/>
            </a:pPr>
            <a:r>
              <a:rPr lang="en-GB" sz="2400" dirty="0">
                <a:solidFill>
                  <a:srgbClr val="000000"/>
                </a:solidFill>
                <a:ea typeface="Calibri" panose="020F0502020204030204" pitchFamily="34" charset="0"/>
              </a:rPr>
              <a:t>Next VTC meeting:</a:t>
            </a:r>
          </a:p>
          <a:p>
            <a:pPr marL="0" indent="0">
              <a:lnSpc>
                <a:spcPct val="107000"/>
              </a:lnSpc>
              <a:spcAft>
                <a:spcPts val="800"/>
              </a:spcAft>
              <a:buNone/>
            </a:pPr>
            <a:r>
              <a:rPr lang="da-DK" sz="2400" dirty="0">
                <a:solidFill>
                  <a:srgbClr val="000000"/>
                </a:solidFill>
                <a:ea typeface="Calibri" panose="020F0502020204030204" pitchFamily="34" charset="0"/>
              </a:rPr>
              <a:t>November 18th?</a:t>
            </a:r>
          </a:p>
          <a:p>
            <a:pPr marL="0" indent="0">
              <a:lnSpc>
                <a:spcPct val="107000"/>
              </a:lnSpc>
              <a:spcAft>
                <a:spcPts val="800"/>
              </a:spcAft>
              <a:buNone/>
            </a:pPr>
            <a:r>
              <a:rPr lang="da-DK" sz="2400" dirty="0">
                <a:solidFill>
                  <a:srgbClr val="000000"/>
                </a:solidFill>
                <a:ea typeface="Calibri" panose="020F0502020204030204" pitchFamily="34" charset="0"/>
              </a:rPr>
              <a:t>November 24th?</a:t>
            </a:r>
          </a:p>
          <a:p>
            <a:pPr marL="0" indent="0">
              <a:lnSpc>
                <a:spcPct val="107000"/>
              </a:lnSpc>
              <a:spcAft>
                <a:spcPts val="800"/>
              </a:spcAft>
              <a:buNone/>
            </a:pPr>
            <a:endParaRPr lang="da-DK" sz="2400" dirty="0">
              <a:solidFill>
                <a:srgbClr val="000000"/>
              </a:solidFill>
              <a:ea typeface="Calibri" panose="020F0502020204030204" pitchFamily="34" charset="0"/>
            </a:endParaRPr>
          </a:p>
          <a:p>
            <a:pPr marL="0" indent="0">
              <a:lnSpc>
                <a:spcPct val="107000"/>
              </a:lnSpc>
              <a:spcAft>
                <a:spcPts val="800"/>
              </a:spcAft>
              <a:buNone/>
            </a:pPr>
            <a:r>
              <a:rPr lang="da-DK" sz="2400" dirty="0">
                <a:solidFill>
                  <a:srgbClr val="000000"/>
                </a:solidFill>
                <a:ea typeface="Calibri" panose="020F0502020204030204" pitchFamily="34" charset="0"/>
              </a:rPr>
              <a:t>GitHub – focus on ‘help wanted’ and ‘fix drafted’</a:t>
            </a:r>
          </a:p>
          <a:p>
            <a:pPr marL="0" indent="0">
              <a:lnSpc>
                <a:spcPct val="107000"/>
              </a:lnSpc>
              <a:spcAft>
                <a:spcPts val="800"/>
              </a:spcAft>
              <a:buNone/>
            </a:pPr>
            <a:r>
              <a:rPr lang="da-DK" sz="2400" dirty="0"/>
              <a:t>Feedback on draft edition 2.0.0 -  </a:t>
            </a:r>
            <a:r>
              <a:rPr lang="da-DK" sz="2400" b="1" u="sng" dirty="0">
                <a:solidFill>
                  <a:srgbClr val="FF0000"/>
                </a:solidFill>
              </a:rPr>
              <a:t>18th November</a:t>
            </a:r>
          </a:p>
          <a:p>
            <a:pPr marL="0" indent="0">
              <a:lnSpc>
                <a:spcPct val="107000"/>
              </a:lnSpc>
              <a:spcAft>
                <a:spcPts val="800"/>
              </a:spcAft>
              <a:buNone/>
            </a:pPr>
            <a:r>
              <a:rPr lang="da-DK" sz="2400" dirty="0"/>
              <a:t> </a:t>
            </a:r>
            <a:endParaRPr lang="da-DK" sz="2400" dirty="0">
              <a:solidFill>
                <a:srgbClr val="000000"/>
              </a:solidFill>
              <a:ea typeface="Calibri" panose="020F0502020204030204" pitchFamily="34" charset="0"/>
            </a:endParaRP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Aft>
                <a:spcPts val="800"/>
              </a:spcAft>
            </a:pPr>
            <a:r>
              <a:rPr lang="en-GB" dirty="0">
                <a:solidFill>
                  <a:srgbClr val="000000"/>
                </a:solidFill>
                <a:ea typeface="Calibri" panose="020F0502020204030204" pitchFamily="34" charset="0"/>
              </a:rPr>
              <a:t>Next meetings</a:t>
            </a:r>
          </a:p>
        </p:txBody>
      </p:sp>
    </p:spTree>
    <p:extLst>
      <p:ext uri="{BB962C8B-B14F-4D97-AF65-F5344CB8AC3E}">
        <p14:creationId xmlns:p14="http://schemas.microsoft.com/office/powerpoint/2010/main" val="3440666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C0DFA2-E8BA-E907-55AB-755C5679110A}"/>
              </a:ext>
            </a:extLst>
          </p:cNvPr>
          <p:cNvSpPr>
            <a:spLocks noGrp="1"/>
          </p:cNvSpPr>
          <p:nvPr>
            <p:ph idx="1"/>
          </p:nvPr>
        </p:nvSpPr>
        <p:spPr/>
        <p:txBody>
          <a:bodyPr/>
          <a:lstStyle/>
          <a:p>
            <a:r>
              <a:rPr lang="da-DK" dirty="0"/>
              <a:t>If upper level fails, then no need to check</a:t>
            </a:r>
          </a:p>
          <a:p>
            <a:endParaRPr lang="da-DK" dirty="0"/>
          </a:p>
          <a:p>
            <a:r>
              <a:rPr lang="da-DK" dirty="0"/>
              <a:t>Suggested:</a:t>
            </a:r>
          </a:p>
          <a:p>
            <a:pPr lvl="1"/>
            <a:r>
              <a:rPr lang="da-DK" dirty="0"/>
              <a:t>Prerequiste column</a:t>
            </a:r>
          </a:p>
          <a:p>
            <a:pPr lvl="1"/>
            <a:r>
              <a:rPr lang="da-DK" dirty="0"/>
              <a:t>Terminate if True</a:t>
            </a:r>
          </a:p>
          <a:p>
            <a:endParaRPr lang="da-DK" dirty="0"/>
          </a:p>
          <a:p>
            <a:r>
              <a:rPr lang="da-DK" dirty="0"/>
              <a:t>158 a bit more complex</a:t>
            </a:r>
            <a:endParaRPr lang="en-GB" dirty="0"/>
          </a:p>
        </p:txBody>
      </p:sp>
      <p:sp>
        <p:nvSpPr>
          <p:cNvPr id="3" name="Title 2">
            <a:extLst>
              <a:ext uri="{FF2B5EF4-FFF2-40B4-BE49-F238E27FC236}">
                <a16:creationId xmlns:a16="http://schemas.microsoft.com/office/drawing/2014/main" id="{2C97C298-91D1-20D8-F34F-B568C86692E8}"/>
              </a:ext>
            </a:extLst>
          </p:cNvPr>
          <p:cNvSpPr>
            <a:spLocks noGrp="1"/>
          </p:cNvSpPr>
          <p:nvPr>
            <p:ph type="title"/>
          </p:nvPr>
        </p:nvSpPr>
        <p:spPr/>
        <p:txBody>
          <a:bodyPr/>
          <a:lstStyle/>
          <a:p>
            <a:r>
              <a:rPr lang="da-DK" dirty="0"/>
              <a:t>Control flow dependency #157 &amp; 158</a:t>
            </a:r>
            <a:endParaRPr lang="en-GB" dirty="0"/>
          </a:p>
        </p:txBody>
      </p:sp>
    </p:spTree>
    <p:extLst>
      <p:ext uri="{BB962C8B-B14F-4D97-AF65-F5344CB8AC3E}">
        <p14:creationId xmlns:p14="http://schemas.microsoft.com/office/powerpoint/2010/main" val="3100131850"/>
      </p:ext>
    </p:extLst>
  </p:cSld>
  <p:clrMapOvr>
    <a:masterClrMapping/>
  </p:clrMapOvr>
</p:sld>
</file>

<file path=ppt/theme/theme1.xml><?xml version="1.0" encoding="utf-8"?>
<a:theme xmlns:a="http://schemas.openxmlformats.org/drawingml/2006/main" name="Master_IHO_New_Log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IHO_New_Logo" id="{92376390-61D0-4A4A-9DAB-DA9E6EE3EAC4}" vid="{E943696B-60C2-4457-926B-515312E413CF}"/>
    </a:ext>
  </a:extLst>
</a:theme>
</file>

<file path=docProps/app.xml><?xml version="1.0" encoding="utf-8"?>
<Properties xmlns="http://schemas.openxmlformats.org/officeDocument/2006/extended-properties" xmlns:vt="http://schemas.openxmlformats.org/officeDocument/2006/docPropsVTypes">
  <TotalTime>11301</TotalTime>
  <Words>991</Words>
  <Application>Microsoft Office PowerPoint</Application>
  <PresentationFormat>Widescreen</PresentationFormat>
  <Paragraphs>153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Calibri</vt:lpstr>
      <vt:lpstr>Calibri Light</vt:lpstr>
      <vt:lpstr>Times New Roman</vt:lpstr>
      <vt:lpstr>Master_IHO_New_Logo</vt:lpstr>
      <vt:lpstr>PowerPoint Presentation</vt:lpstr>
      <vt:lpstr>Meeting protocol</vt:lpstr>
      <vt:lpstr>AGENDA</vt:lpstr>
      <vt:lpstr>Update from S-100 WG11</vt:lpstr>
      <vt:lpstr>Actions from S-100 WG 11</vt:lpstr>
      <vt:lpstr>Work plan for Edition 2.0.0 </vt:lpstr>
      <vt:lpstr>Draft edition 2.0.0</vt:lpstr>
      <vt:lpstr>5.2.2 changes</vt:lpstr>
      <vt:lpstr>S-58 Edition 9.0.0 checks #159 Checks from S-58 Edition 9.0.0 · Issue #159 · iho-ohi/S-100-Validation-Checks</vt:lpstr>
      <vt:lpstr>Collection c &amp; d  </vt:lpstr>
      <vt:lpstr>Outstanding issues and topics </vt:lpstr>
      <vt:lpstr>Use of ‘product specification’</vt:lpstr>
      <vt:lpstr>Requirements for Infrastructure / artefacts</vt:lpstr>
      <vt:lpstr>Next meetings</vt:lpstr>
      <vt:lpstr>Control flow dependency #157 &amp; 158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Elizabeth Helen Hahessy</dc:creator>
  <cp:lastModifiedBy>Elizabeth Helen Hahessy</cp:lastModifiedBy>
  <cp:revision>351</cp:revision>
  <cp:lastPrinted>2023-04-25T14:17:38Z</cp:lastPrinted>
  <dcterms:created xsi:type="dcterms:W3CDTF">2023-04-24T11:04:19Z</dcterms:created>
  <dcterms:modified xsi:type="dcterms:W3CDTF">2026-10-20T11:27:10Z</dcterms:modified>
</cp:coreProperties>
</file>