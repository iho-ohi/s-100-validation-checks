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6" r:id="rId2"/>
    <p:sldId id="318" r:id="rId3"/>
    <p:sldId id="315" r:id="rId4"/>
    <p:sldId id="433" r:id="rId5"/>
    <p:sldId id="423" r:id="rId6"/>
    <p:sldId id="439" r:id="rId7"/>
    <p:sldId id="437" r:id="rId8"/>
    <p:sldId id="438" r:id="rId9"/>
    <p:sldId id="427" r:id="rId10"/>
    <p:sldId id="441" r:id="rId11"/>
    <p:sldId id="442" r:id="rId12"/>
    <p:sldId id="446" r:id="rId13"/>
    <p:sldId id="449" r:id="rId14"/>
    <p:sldId id="448" r:id="rId15"/>
    <p:sldId id="447" r:id="rId16"/>
    <p:sldId id="445" r:id="rId17"/>
    <p:sldId id="451" r:id="rId18"/>
    <p:sldId id="452" r:id="rId19"/>
    <p:sldId id="319" r:id="rId20"/>
    <p:sldId id="338" r:id="rId21"/>
    <p:sldId id="428" r:id="rId22"/>
    <p:sldId id="358" r:id="rId23"/>
    <p:sldId id="327" r:id="rId24"/>
    <p:sldId id="317" r:id="rId25"/>
    <p:sldId id="330" r:id="rId26"/>
    <p:sldId id="331" r:id="rId27"/>
    <p:sldId id="332" r:id="rId28"/>
    <p:sldId id="333" r:id="rId29"/>
    <p:sldId id="334" r:id="rId30"/>
    <p:sldId id="335" r:id="rId31"/>
    <p:sldId id="336" r:id="rId32"/>
    <p:sldId id="337" r:id="rId33"/>
    <p:sldId id="450" r:id="rId34"/>
    <p:sldId id="453" r:id="rId35"/>
    <p:sldId id="454" r:id="rId36"/>
    <p:sldId id="320" r:id="rId37"/>
    <p:sldId id="321" r:id="rId38"/>
    <p:sldId id="322" r:id="rId39"/>
    <p:sldId id="323" r:id="rId40"/>
  </p:sldIdLst>
  <p:sldSz cx="12192000" cy="6858000"/>
  <p:notesSz cx="6805613" cy="99441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3" autoAdjust="0"/>
    <p:restoredTop sz="94660"/>
  </p:normalViewPr>
  <p:slideViewPr>
    <p:cSldViewPr snapToGrid="0">
      <p:cViewPr varScale="1">
        <p:scale>
          <a:sx n="99" d="100"/>
          <a:sy n="99" d="100"/>
        </p:scale>
        <p:origin x="1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2.tiff"/><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en-US"/>
              <a:t>Click to edit Master title style</a:t>
            </a:r>
            <a:endParaRPr lang="fr-FR"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FR"/>
          </a:p>
        </p:txBody>
      </p:sp>
      <p:sp>
        <p:nvSpPr>
          <p:cNvPr id="6" name="Slide Number Placeholder 5"/>
          <p:cNvSpPr>
            <a:spLocks noGrp="1"/>
          </p:cNvSpPr>
          <p:nvPr>
            <p:ph type="sldNum" sz="quarter" idx="12"/>
          </p:nvPr>
        </p:nvSpPr>
        <p:spPr/>
        <p:txBody>
          <a:bodyPr/>
          <a:lstStyle/>
          <a:p>
            <a:fld id="{46D0E966-1BD1-4C85-866E-DF3AF3395196}" type="slidenum">
              <a:rPr lang="fr-FR" smtClean="0"/>
              <a:t>‹#›</a:t>
            </a:fld>
            <a:endParaRPr lang="fr-FR"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1319" y="0"/>
            <a:ext cx="3437937" cy="1145979"/>
          </a:xfrm>
          <a:prstGeom prst="rect">
            <a:avLst/>
          </a:prstGeom>
        </p:spPr>
      </p:pic>
    </p:spTree>
    <p:extLst>
      <p:ext uri="{BB962C8B-B14F-4D97-AF65-F5344CB8AC3E}">
        <p14:creationId xmlns:p14="http://schemas.microsoft.com/office/powerpoint/2010/main" val="4243225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dirty="0"/>
          </a:p>
        </p:txBody>
      </p:sp>
      <p:sp>
        <p:nvSpPr>
          <p:cNvPr id="6" name="Slide Number Placeholder 5"/>
          <p:cNvSpPr>
            <a:spLocks noGrp="1"/>
          </p:cNvSpPr>
          <p:nvPr>
            <p:ph type="sldNum" sz="quarter" idx="12"/>
          </p:nvPr>
        </p:nvSpPr>
        <p:spPr/>
        <p:txBody>
          <a:bodyPr/>
          <a:lstStyle/>
          <a:p>
            <a:fld id="{46D0E966-1BD1-4C85-866E-DF3AF3395196}" type="slidenum">
              <a:rPr lang="fr-FR" smtClean="0"/>
              <a:t>‹#›</a:t>
            </a:fld>
            <a:endParaRPr lang="fr-FR" dirty="0"/>
          </a:p>
        </p:txBody>
      </p:sp>
      <p:grpSp>
        <p:nvGrpSpPr>
          <p:cNvPr id="7" name="Group 6"/>
          <p:cNvGrpSpPr/>
          <p:nvPr/>
        </p:nvGrpSpPr>
        <p:grpSpPr>
          <a:xfrm>
            <a:off x="-2" y="0"/>
            <a:ext cx="1884105" cy="1887824"/>
            <a:chOff x="-2" y="0"/>
            <a:chExt cx="1884105" cy="1887824"/>
          </a:xfrm>
        </p:grpSpPr>
        <p:grpSp>
          <p:nvGrpSpPr>
            <p:cNvPr id="8" name="Group 7"/>
            <p:cNvGrpSpPr/>
            <p:nvPr/>
          </p:nvGrpSpPr>
          <p:grpSpPr>
            <a:xfrm>
              <a:off x="-2" y="818"/>
              <a:ext cx="1884105" cy="1887006"/>
              <a:chOff x="-2" y="818"/>
              <a:chExt cx="1884105" cy="1887006"/>
            </a:xfrm>
          </p:grpSpPr>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9566" y="818"/>
                <a:ext cx="944537" cy="941640"/>
              </a:xfrm>
              <a:prstGeom prst="rect">
                <a:avLst/>
              </a:prstGeom>
            </p:spPr>
          </p:pic>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 y="942458"/>
                <a:ext cx="939567" cy="945366"/>
              </a:xfrm>
              <a:prstGeom prst="rect">
                <a:avLst/>
              </a:prstGeom>
            </p:spPr>
          </p:pic>
        </p:gr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 y="0"/>
              <a:ext cx="939567" cy="942458"/>
            </a:xfrm>
            <a:prstGeom prst="rect">
              <a:avLst/>
            </a:prstGeom>
          </p:spPr>
        </p:pic>
      </p:grpSp>
      <p:sp>
        <p:nvSpPr>
          <p:cNvPr id="13" name="Title 1"/>
          <p:cNvSpPr>
            <a:spLocks noGrp="1"/>
          </p:cNvSpPr>
          <p:nvPr>
            <p:ph type="title"/>
          </p:nvPr>
        </p:nvSpPr>
        <p:spPr>
          <a:xfrm>
            <a:off x="1879132" y="0"/>
            <a:ext cx="10312867" cy="883167"/>
          </a:xfrm>
        </p:spPr>
        <p:txBody>
          <a:bodyPr>
            <a:normAutofit/>
          </a:bodyPr>
          <a:lstStyle>
            <a:lvl1pPr>
              <a:defRPr sz="2400" cap="all" baseline="0">
                <a:latin typeface="Arial Black" panose="020B0A04020102020204" pitchFamily="34" charset="0"/>
                <a:cs typeface="Adobe Naskh Medium" panose="01010101010101010101" pitchFamily="50" charset="-78"/>
              </a:defRPr>
            </a:lvl1pPr>
          </a:lstStyle>
          <a:p>
            <a:r>
              <a:rPr lang="en-US"/>
              <a:t>Click to edit Master title style</a:t>
            </a:r>
            <a:endParaRPr lang="fr-FR" dirty="0"/>
          </a:p>
        </p:txBody>
      </p:sp>
    </p:spTree>
    <p:extLst>
      <p:ext uri="{BB962C8B-B14F-4D97-AF65-F5344CB8AC3E}">
        <p14:creationId xmlns:p14="http://schemas.microsoft.com/office/powerpoint/2010/main" val="644420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Date Placeholder 4"/>
          <p:cNvSpPr>
            <a:spLocks noGrp="1"/>
          </p:cNvSpPr>
          <p:nvPr>
            <p:ph type="dt" sz="half" idx="10"/>
          </p:nvPr>
        </p:nvSpPr>
        <p:spPr/>
        <p:txBody>
          <a:bodyPr/>
          <a:lstStyle/>
          <a:p>
            <a:fld id="{72BEDD24-6168-4C6E-B4D2-E6B466BDF756}" type="datetimeFigureOut">
              <a:rPr lang="fr-FR" smtClean="0"/>
              <a:t>01/09/2026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46D0E966-1BD1-4C85-866E-DF3AF3395196}" type="slidenum">
              <a:rPr lang="fr-FR" smtClean="0"/>
              <a:t>‹#›</a:t>
            </a:fld>
            <a:endParaRPr lang="fr-FR" dirty="0"/>
          </a:p>
        </p:txBody>
      </p:sp>
    </p:spTree>
    <p:extLst>
      <p:ext uri="{BB962C8B-B14F-4D97-AF65-F5344CB8AC3E}">
        <p14:creationId xmlns:p14="http://schemas.microsoft.com/office/powerpoint/2010/main" val="4056858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fr-F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7" name="Date Placeholder 6"/>
          <p:cNvSpPr>
            <a:spLocks noGrp="1"/>
          </p:cNvSpPr>
          <p:nvPr>
            <p:ph type="dt" sz="half" idx="10"/>
          </p:nvPr>
        </p:nvSpPr>
        <p:spPr/>
        <p:txBody>
          <a:bodyPr/>
          <a:lstStyle/>
          <a:p>
            <a:fld id="{72BEDD24-6168-4C6E-B4D2-E6B466BDF756}" type="datetimeFigureOut">
              <a:rPr lang="fr-FR" smtClean="0"/>
              <a:t>01/09/2026</a:t>
            </a:fld>
            <a:endParaRPr lang="fr-FR" dirty="0"/>
          </a:p>
        </p:txBody>
      </p:sp>
      <p:sp>
        <p:nvSpPr>
          <p:cNvPr id="8" name="Footer Placeholder 7"/>
          <p:cNvSpPr>
            <a:spLocks noGrp="1"/>
          </p:cNvSpPr>
          <p:nvPr>
            <p:ph type="ftr" sz="quarter" idx="11"/>
          </p:nvPr>
        </p:nvSpPr>
        <p:spPr/>
        <p:txBody>
          <a:bodyPr/>
          <a:lstStyle/>
          <a:p>
            <a:endParaRPr lang="fr-FR" dirty="0"/>
          </a:p>
        </p:txBody>
      </p:sp>
      <p:sp>
        <p:nvSpPr>
          <p:cNvPr id="9" name="Slide Number Placeholder 8"/>
          <p:cNvSpPr>
            <a:spLocks noGrp="1"/>
          </p:cNvSpPr>
          <p:nvPr>
            <p:ph type="sldNum" sz="quarter" idx="12"/>
          </p:nvPr>
        </p:nvSpPr>
        <p:spPr/>
        <p:txBody>
          <a:bodyPr/>
          <a:lstStyle/>
          <a:p>
            <a:fld id="{46D0E966-1BD1-4C85-866E-DF3AF3395196}" type="slidenum">
              <a:rPr lang="fr-FR" smtClean="0"/>
              <a:t>‹#›</a:t>
            </a:fld>
            <a:endParaRPr lang="fr-FR" dirty="0"/>
          </a:p>
        </p:txBody>
      </p:sp>
    </p:spTree>
    <p:extLst>
      <p:ext uri="{BB962C8B-B14F-4D97-AF65-F5344CB8AC3E}">
        <p14:creationId xmlns:p14="http://schemas.microsoft.com/office/powerpoint/2010/main" val="264080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Date Placeholder 2"/>
          <p:cNvSpPr>
            <a:spLocks noGrp="1"/>
          </p:cNvSpPr>
          <p:nvPr>
            <p:ph type="dt" sz="half" idx="10"/>
          </p:nvPr>
        </p:nvSpPr>
        <p:spPr/>
        <p:txBody>
          <a:bodyPr/>
          <a:lstStyle/>
          <a:p>
            <a:fld id="{72BEDD24-6168-4C6E-B4D2-E6B466BDF756}" type="datetimeFigureOut">
              <a:rPr lang="fr-FR" smtClean="0"/>
              <a:t>01/09/2026</a:t>
            </a:fld>
            <a:endParaRPr lang="fr-FR" dirty="0"/>
          </a:p>
        </p:txBody>
      </p:sp>
      <p:sp>
        <p:nvSpPr>
          <p:cNvPr id="4" name="Footer Placeholder 3"/>
          <p:cNvSpPr>
            <a:spLocks noGrp="1"/>
          </p:cNvSpPr>
          <p:nvPr>
            <p:ph type="ftr" sz="quarter" idx="11"/>
          </p:nvPr>
        </p:nvSpPr>
        <p:spPr/>
        <p:txBody>
          <a:bodyPr/>
          <a:lstStyle/>
          <a:p>
            <a:endParaRPr lang="fr-FR" dirty="0"/>
          </a:p>
        </p:txBody>
      </p:sp>
      <p:sp>
        <p:nvSpPr>
          <p:cNvPr id="5" name="Slide Number Placeholder 4"/>
          <p:cNvSpPr>
            <a:spLocks noGrp="1"/>
          </p:cNvSpPr>
          <p:nvPr>
            <p:ph type="sldNum" sz="quarter" idx="12"/>
          </p:nvPr>
        </p:nvSpPr>
        <p:spPr/>
        <p:txBody>
          <a:bodyPr/>
          <a:lstStyle/>
          <a:p>
            <a:fld id="{46D0E966-1BD1-4C85-866E-DF3AF3395196}" type="slidenum">
              <a:rPr lang="fr-FR" smtClean="0"/>
              <a:t>‹#›</a:t>
            </a:fld>
            <a:endParaRPr lang="fr-FR" dirty="0"/>
          </a:p>
        </p:txBody>
      </p:sp>
    </p:spTree>
    <p:extLst>
      <p:ext uri="{BB962C8B-B14F-4D97-AF65-F5344CB8AC3E}">
        <p14:creationId xmlns:p14="http://schemas.microsoft.com/office/powerpoint/2010/main" val="2462058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BEDD24-6168-4C6E-B4D2-E6B466BDF756}" type="datetimeFigureOut">
              <a:rPr lang="fr-FR" smtClean="0"/>
              <a:t>01/09/2026</a:t>
            </a:fld>
            <a:endParaRPr lang="fr-FR" dirty="0"/>
          </a:p>
        </p:txBody>
      </p:sp>
      <p:sp>
        <p:nvSpPr>
          <p:cNvPr id="3" name="Footer Placeholder 2"/>
          <p:cNvSpPr>
            <a:spLocks noGrp="1"/>
          </p:cNvSpPr>
          <p:nvPr>
            <p:ph type="ftr" sz="quarter" idx="11"/>
          </p:nvPr>
        </p:nvSpPr>
        <p:spPr/>
        <p:txBody>
          <a:bodyPr/>
          <a:lstStyle/>
          <a:p>
            <a:endParaRPr lang="fr-FR" dirty="0"/>
          </a:p>
        </p:txBody>
      </p:sp>
      <p:sp>
        <p:nvSpPr>
          <p:cNvPr id="4" name="Slide Number Placeholder 3"/>
          <p:cNvSpPr>
            <a:spLocks noGrp="1"/>
          </p:cNvSpPr>
          <p:nvPr>
            <p:ph type="sldNum" sz="quarter" idx="12"/>
          </p:nvPr>
        </p:nvSpPr>
        <p:spPr/>
        <p:txBody>
          <a:bodyPr/>
          <a:lstStyle/>
          <a:p>
            <a:fld id="{46D0E966-1BD1-4C85-866E-DF3AF3395196}" type="slidenum">
              <a:rPr lang="fr-FR" smtClean="0"/>
              <a:t>‹#›</a:t>
            </a:fld>
            <a:endParaRPr lang="fr-FR" dirty="0"/>
          </a:p>
        </p:txBody>
      </p:sp>
    </p:spTree>
    <p:extLst>
      <p:ext uri="{BB962C8B-B14F-4D97-AF65-F5344CB8AC3E}">
        <p14:creationId xmlns:p14="http://schemas.microsoft.com/office/powerpoint/2010/main" val="915845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BEDD24-6168-4C6E-B4D2-E6B466BDF756}" type="datetimeFigureOut">
              <a:rPr lang="fr-FR" smtClean="0"/>
              <a:t>01/09/2026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46D0E966-1BD1-4C85-866E-DF3AF3395196}" type="slidenum">
              <a:rPr lang="fr-FR" smtClean="0"/>
              <a:t>‹#›</a:t>
            </a:fld>
            <a:endParaRPr lang="fr-FR" dirty="0"/>
          </a:p>
        </p:txBody>
      </p:sp>
    </p:spTree>
    <p:extLst>
      <p:ext uri="{BB962C8B-B14F-4D97-AF65-F5344CB8AC3E}">
        <p14:creationId xmlns:p14="http://schemas.microsoft.com/office/powerpoint/2010/main" val="3799216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F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lang="fr-FR"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BEDD24-6168-4C6E-B4D2-E6B466BDF756}" type="datetimeFigureOut">
              <a:rPr lang="fr-FR" smtClean="0"/>
              <a:t>01/09/2026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46D0E966-1BD1-4C85-866E-DF3AF3395196}" type="slidenum">
              <a:rPr lang="fr-FR" smtClean="0"/>
              <a:t>‹#›</a:t>
            </a:fld>
            <a:endParaRPr lang="fr-FR" dirty="0"/>
          </a:p>
        </p:txBody>
      </p:sp>
    </p:spTree>
    <p:extLst>
      <p:ext uri="{BB962C8B-B14F-4D97-AF65-F5344CB8AC3E}">
        <p14:creationId xmlns:p14="http://schemas.microsoft.com/office/powerpoint/2010/main" val="3176748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p:cNvSpPr>
            <a:spLocks noGrp="1"/>
          </p:cNvSpPr>
          <p:nvPr>
            <p:ph type="dt" sz="half" idx="10"/>
          </p:nvPr>
        </p:nvSpPr>
        <p:spPr/>
        <p:txBody>
          <a:bodyPr/>
          <a:lstStyle/>
          <a:p>
            <a:fld id="{72BEDD24-6168-4C6E-B4D2-E6B466BDF756}" type="datetimeFigureOut">
              <a:rPr lang="fr-FR" smtClean="0"/>
              <a:t>01/09/2026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46D0E966-1BD1-4C85-866E-DF3AF3395196}" type="slidenum">
              <a:rPr lang="fr-FR" smtClean="0"/>
              <a:t>‹#›</a:t>
            </a:fld>
            <a:endParaRPr lang="fr-FR" dirty="0"/>
          </a:p>
        </p:txBody>
      </p:sp>
    </p:spTree>
    <p:extLst>
      <p:ext uri="{BB962C8B-B14F-4D97-AF65-F5344CB8AC3E}">
        <p14:creationId xmlns:p14="http://schemas.microsoft.com/office/powerpoint/2010/main" val="2826867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fr-F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p:cNvSpPr>
            <a:spLocks noGrp="1"/>
          </p:cNvSpPr>
          <p:nvPr>
            <p:ph type="dt" sz="half" idx="10"/>
          </p:nvPr>
        </p:nvSpPr>
        <p:spPr/>
        <p:txBody>
          <a:bodyPr/>
          <a:lstStyle/>
          <a:p>
            <a:fld id="{72BEDD24-6168-4C6E-B4D2-E6B466BDF756}" type="datetimeFigureOut">
              <a:rPr lang="fr-FR" smtClean="0"/>
              <a:t>01/09/2026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46D0E966-1BD1-4C85-866E-DF3AF3395196}" type="slidenum">
              <a:rPr lang="fr-FR" smtClean="0"/>
              <a:t>‹#›</a:t>
            </a:fld>
            <a:endParaRPr lang="fr-FR" dirty="0"/>
          </a:p>
        </p:txBody>
      </p:sp>
    </p:spTree>
    <p:extLst>
      <p:ext uri="{BB962C8B-B14F-4D97-AF65-F5344CB8AC3E}">
        <p14:creationId xmlns:p14="http://schemas.microsoft.com/office/powerpoint/2010/main" val="664010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F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EDD24-6168-4C6E-B4D2-E6B466BDF756}" type="datetimeFigureOut">
              <a:rPr lang="fr-FR" smtClean="0"/>
              <a:t>01/09/2026</a:t>
            </a:fld>
            <a:endParaRPr lang="fr-FR"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D0E966-1BD1-4C85-866E-DF3AF3395196}" type="slidenum">
              <a:rPr lang="fr-FR" smtClean="0"/>
              <a:t>‹#›</a:t>
            </a:fld>
            <a:endParaRPr lang="fr-FR" dirty="0"/>
          </a:p>
        </p:txBody>
      </p:sp>
    </p:spTree>
    <p:extLst>
      <p:ext uri="{BB962C8B-B14F-4D97-AF65-F5344CB8AC3E}">
        <p14:creationId xmlns:p14="http://schemas.microsoft.com/office/powerpoint/2010/main" val="42687836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iho-ohi/S-100-Validation-Checks/issues/71"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iho-ohi/S-100-Validation-Checks/tree/main/Documents/S-158-100/2.0.0#generic-checks-for-s-100-data-products---edition-2" TargetMode="External"/><Relationship Id="rId2" Type="http://schemas.openxmlformats.org/officeDocument/2006/relationships/hyperlink" Target="https://github.com/iho-ohi/S-100-Validation-Checks/blob/main/Documents/S-158/2.0.0/WD-158%20Validation_Checks_2_0_0_20260831.docx" TargetMode="External"/><Relationship Id="rId1" Type="http://schemas.openxmlformats.org/officeDocument/2006/relationships/slideLayout" Target="../slideLayouts/slideLayout2.xml"/><Relationship Id="rId4" Type="http://schemas.openxmlformats.org/officeDocument/2006/relationships/hyperlink" Target="https://github.com/iho-ohi/S-100-Validation-Checks/tree/main/Documents/S-158-98/2.0.0"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iho-ohi/S-100-Validation-Checks/issues/140" TargetMode="External"/><Relationship Id="rId2" Type="http://schemas.openxmlformats.org/officeDocument/2006/relationships/hyperlink" Target="https://github.com/iho-ohi/S-100-Validation-Checks/issues/71" TargetMode="External"/><Relationship Id="rId1" Type="http://schemas.openxmlformats.org/officeDocument/2006/relationships/slideLayout" Target="../slideLayouts/slideLayout2.xml"/><Relationship Id="rId6" Type="http://schemas.openxmlformats.org/officeDocument/2006/relationships/hyperlink" Target="https://github.com/iho-ohi/S-100-Validation-Checks/issues/137" TargetMode="External"/><Relationship Id="rId5" Type="http://schemas.openxmlformats.org/officeDocument/2006/relationships/hyperlink" Target="https://github.com/iho-ohi/S-100-Validation-Checks/issues/138" TargetMode="External"/><Relationship Id="rId4" Type="http://schemas.openxmlformats.org/officeDocument/2006/relationships/hyperlink" Target="https://github.com/iho-ohi/S-100-Validation-Checks/issues/142"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github.com/iho-ohi/S-100-Validation-Checks"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33383" y="2498209"/>
            <a:ext cx="9776088" cy="29238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S-100 </a:t>
            </a:r>
            <a:r>
              <a:rPr kumimoji="0" lang="en-US" sz="3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Validation Tests sub group </a:t>
            </a:r>
          </a:p>
          <a:p>
            <a:pPr marL="0" marR="0" lvl="0" indent="0" algn="ctr" defTabSz="914400" rtl="0" eaLnBrk="1" fontAlgn="auto" latinLnBrk="0" hangingPunct="1">
              <a:lnSpc>
                <a:spcPct val="100000"/>
              </a:lnSpc>
              <a:spcBef>
                <a:spcPts val="0"/>
              </a:spcBef>
              <a:spcAft>
                <a:spcPts val="0"/>
              </a:spcAft>
              <a:buClrTx/>
              <a:buSzTx/>
              <a:buFontTx/>
              <a:buNone/>
              <a:tabLst/>
              <a:defRPr/>
            </a:pPr>
            <a:br>
              <a:rPr kumimoji="0" lang="en-GB"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br>
            <a:r>
              <a:rPr kumimoji="0" lang="en-GB"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15</a:t>
            </a:r>
            <a:r>
              <a:rPr lang="en-GB" sz="2400" b="1" baseline="30000" dirty="0" err="1">
                <a:solidFill>
                  <a:prstClr val="black"/>
                </a:solidFill>
                <a:latin typeface="Arial" panose="020B0604020202020204" pitchFamily="34" charset="0"/>
                <a:cs typeface="Arial" panose="020B0604020202020204" pitchFamily="34" charset="0"/>
              </a:rPr>
              <a:t>th</a:t>
            </a:r>
            <a:r>
              <a:rPr kumimoji="0" lang="en-GB"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VTC Meeting</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algn="ctr">
              <a:defRPr/>
            </a:pPr>
            <a:r>
              <a:rPr lang="en-GB" sz="2400" dirty="0">
                <a:solidFill>
                  <a:prstClr val="black"/>
                </a:solidFill>
                <a:latin typeface="Arial" panose="020B0604020202020204" pitchFamily="34" charset="0"/>
                <a:cs typeface="Arial" panose="020B0604020202020204" pitchFamily="34" charset="0"/>
              </a:rPr>
              <a:t>1</a:t>
            </a:r>
            <a:r>
              <a:rPr lang="en-GB" sz="2400" baseline="30000" dirty="0">
                <a:solidFill>
                  <a:prstClr val="black"/>
                </a:solidFill>
                <a:latin typeface="Arial" panose="020B0604020202020204" pitchFamily="34" charset="0"/>
                <a:cs typeface="Arial" panose="020B0604020202020204" pitchFamily="34" charset="0"/>
              </a:rPr>
              <a:t>st</a:t>
            </a:r>
            <a:r>
              <a:rPr lang="en-GB" sz="2400" dirty="0">
                <a:solidFill>
                  <a:prstClr val="black"/>
                </a:solidFill>
                <a:latin typeface="Arial" panose="020B0604020202020204" pitchFamily="34" charset="0"/>
                <a:cs typeface="Arial" panose="020B0604020202020204" pitchFamily="34" charset="0"/>
              </a:rPr>
              <a:t> September 2026</a:t>
            </a:r>
            <a:endParaRPr lang="en-GB" sz="2400" b="1" dirty="0">
              <a:solidFill>
                <a:prstClr val="black"/>
              </a:solidFill>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086829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9125CD-4B94-44E0-9DF0-58984603E4CD}"/>
              </a:ext>
            </a:extLst>
          </p:cNvPr>
          <p:cNvSpPr>
            <a:spLocks noGrp="1"/>
          </p:cNvSpPr>
          <p:nvPr>
            <p:ph idx="1"/>
          </p:nvPr>
        </p:nvSpPr>
        <p:spPr>
          <a:xfrm>
            <a:off x="1075659" y="1692235"/>
            <a:ext cx="10678612" cy="4494810"/>
          </a:xfrm>
        </p:spPr>
        <p:txBody>
          <a:bodyPr>
            <a:noAutofit/>
          </a:bodyPr>
          <a:lstStyle/>
          <a:p>
            <a:pPr marL="0" indent="0">
              <a:lnSpc>
                <a:spcPct val="107000"/>
              </a:lnSpc>
              <a:spcAft>
                <a:spcPts val="800"/>
              </a:spcAft>
              <a:buNone/>
            </a:pPr>
            <a:r>
              <a:rPr lang="en-GB" sz="2000" dirty="0">
                <a:solidFill>
                  <a:srgbClr val="000000"/>
                </a:solidFill>
                <a:ea typeface="Calibri" panose="020F0502020204030204" pitchFamily="34" charset="0"/>
              </a:rPr>
              <a:t>Meeting participants are kindly requested to note the following meeting protocols;</a:t>
            </a:r>
          </a:p>
          <a:p>
            <a:pPr>
              <a:lnSpc>
                <a:spcPct val="107000"/>
              </a:lnSpc>
              <a:spcAft>
                <a:spcPts val="800"/>
              </a:spcAft>
            </a:pPr>
            <a:r>
              <a:rPr lang="en-GB" sz="1400" dirty="0">
                <a:solidFill>
                  <a:srgbClr val="000000"/>
                </a:solidFill>
                <a:ea typeface="Calibri" panose="020F0502020204030204" pitchFamily="34" charset="0"/>
              </a:rPr>
              <a:t>Please keep your camera and microphone turned </a:t>
            </a:r>
            <a:r>
              <a:rPr lang="en-GB" sz="1400" b="1" dirty="0">
                <a:solidFill>
                  <a:srgbClr val="000000"/>
                </a:solidFill>
                <a:ea typeface="Calibri" panose="020F0502020204030204" pitchFamily="34" charset="0"/>
              </a:rPr>
              <a:t>“off”</a:t>
            </a:r>
            <a:r>
              <a:rPr lang="en-GB" sz="1400" dirty="0">
                <a:solidFill>
                  <a:srgbClr val="000000"/>
                </a:solidFill>
                <a:ea typeface="Calibri" panose="020F0502020204030204" pitchFamily="34" charset="0"/>
              </a:rPr>
              <a:t> if you are not talking or presenting</a:t>
            </a:r>
          </a:p>
          <a:p>
            <a:pPr>
              <a:lnSpc>
                <a:spcPct val="107000"/>
              </a:lnSpc>
              <a:spcAft>
                <a:spcPts val="800"/>
              </a:spcAft>
            </a:pPr>
            <a:r>
              <a:rPr lang="en-GB" sz="1400" dirty="0">
                <a:solidFill>
                  <a:srgbClr val="000000"/>
                </a:solidFill>
                <a:ea typeface="Calibri" panose="020F0502020204030204" pitchFamily="34" charset="0"/>
              </a:rPr>
              <a:t>If you want to make an intervention, </a:t>
            </a:r>
            <a:r>
              <a:rPr lang="en-GB" sz="1400" b="1" dirty="0">
                <a:solidFill>
                  <a:srgbClr val="000000"/>
                </a:solidFill>
                <a:ea typeface="Calibri" panose="020F0502020204030204" pitchFamily="34" charset="0"/>
              </a:rPr>
              <a:t>please turn your camera and microphone on and, raise your hand </a:t>
            </a:r>
            <a:r>
              <a:rPr lang="en-GB" sz="1400" dirty="0">
                <a:solidFill>
                  <a:srgbClr val="000000"/>
                </a:solidFill>
                <a:ea typeface="Calibri" panose="020F0502020204030204" pitchFamily="34" charset="0"/>
              </a:rPr>
              <a:t>to indicate that you wish to speak</a:t>
            </a:r>
          </a:p>
          <a:p>
            <a:pPr>
              <a:lnSpc>
                <a:spcPct val="107000"/>
              </a:lnSpc>
              <a:spcAft>
                <a:spcPts val="800"/>
              </a:spcAft>
            </a:pPr>
            <a:r>
              <a:rPr lang="en-GB" sz="1400" dirty="0">
                <a:solidFill>
                  <a:srgbClr val="000000"/>
                </a:solidFill>
                <a:ea typeface="Calibri" panose="020F0502020204030204" pitchFamily="34" charset="0"/>
              </a:rPr>
              <a:t>Don’t forget to turn your microphone </a:t>
            </a:r>
            <a:r>
              <a:rPr lang="en-GB" sz="1400" b="1" dirty="0">
                <a:solidFill>
                  <a:srgbClr val="000000"/>
                </a:solidFill>
                <a:ea typeface="Calibri" panose="020F0502020204030204" pitchFamily="34" charset="0"/>
              </a:rPr>
              <a:t>“on”</a:t>
            </a:r>
            <a:r>
              <a:rPr lang="en-GB" sz="1400" dirty="0">
                <a:solidFill>
                  <a:srgbClr val="000000"/>
                </a:solidFill>
                <a:ea typeface="Calibri" panose="020F0502020204030204" pitchFamily="34" charset="0"/>
              </a:rPr>
              <a:t> before speaking, and </a:t>
            </a:r>
            <a:r>
              <a:rPr lang="en-GB" sz="1400" b="1" dirty="0">
                <a:solidFill>
                  <a:srgbClr val="000000"/>
                </a:solidFill>
                <a:ea typeface="Calibri" panose="020F0502020204030204" pitchFamily="34" charset="0"/>
              </a:rPr>
              <a:t>“off” </a:t>
            </a:r>
            <a:r>
              <a:rPr lang="en-GB" sz="1400" dirty="0">
                <a:solidFill>
                  <a:srgbClr val="000000"/>
                </a:solidFill>
                <a:ea typeface="Calibri" panose="020F0502020204030204" pitchFamily="34" charset="0"/>
              </a:rPr>
              <a:t>when finished</a:t>
            </a:r>
          </a:p>
          <a:p>
            <a:pPr>
              <a:lnSpc>
                <a:spcPct val="107000"/>
              </a:lnSpc>
              <a:spcAft>
                <a:spcPts val="800"/>
              </a:spcAft>
            </a:pPr>
            <a:r>
              <a:rPr lang="en-GB" sz="1400" dirty="0">
                <a:solidFill>
                  <a:srgbClr val="000000"/>
                </a:solidFill>
                <a:ea typeface="Calibri" panose="020F0502020204030204" pitchFamily="34" charset="0"/>
              </a:rPr>
              <a:t>Please use the </a:t>
            </a:r>
            <a:r>
              <a:rPr lang="en-GB" sz="1400" b="1" dirty="0">
                <a:solidFill>
                  <a:srgbClr val="000000"/>
                </a:solidFill>
                <a:ea typeface="Calibri" panose="020F0502020204030204" pitchFamily="34" charset="0"/>
              </a:rPr>
              <a:t>“Chat”</a:t>
            </a:r>
            <a:r>
              <a:rPr lang="en-GB" sz="1400" dirty="0">
                <a:solidFill>
                  <a:srgbClr val="000000"/>
                </a:solidFill>
                <a:ea typeface="Calibri" panose="020F0502020204030204" pitchFamily="34" charset="0"/>
              </a:rPr>
              <a:t> function to communicate an text information to the meeting</a:t>
            </a:r>
          </a:p>
          <a:p>
            <a:pPr>
              <a:lnSpc>
                <a:spcPct val="107000"/>
              </a:lnSpc>
              <a:spcAft>
                <a:spcPts val="800"/>
              </a:spcAft>
            </a:pPr>
            <a:r>
              <a:rPr lang="en-GB" sz="1400" dirty="0">
                <a:solidFill>
                  <a:srgbClr val="000000"/>
                </a:solidFill>
                <a:ea typeface="Calibri" panose="020F0502020204030204" pitchFamily="34" charset="0"/>
              </a:rPr>
              <a:t>If you have any problems connecting using Firefox or other browser – please try using Chrome.</a:t>
            </a:r>
          </a:p>
        </p:txBody>
      </p:sp>
      <p:sp>
        <p:nvSpPr>
          <p:cNvPr id="3" name="Title 2">
            <a:extLst>
              <a:ext uri="{FF2B5EF4-FFF2-40B4-BE49-F238E27FC236}">
                <a16:creationId xmlns:a16="http://schemas.microsoft.com/office/drawing/2014/main" id="{749EE54E-F8A4-410F-966E-CB7363C11B38}"/>
              </a:ext>
            </a:extLst>
          </p:cNvPr>
          <p:cNvSpPr>
            <a:spLocks noGrp="1"/>
          </p:cNvSpPr>
          <p:nvPr>
            <p:ph type="title"/>
          </p:nvPr>
        </p:nvSpPr>
        <p:spPr/>
        <p:txBody>
          <a:bodyPr>
            <a:normAutofit/>
          </a:bodyPr>
          <a:lstStyle/>
          <a:p>
            <a:pPr>
              <a:lnSpc>
                <a:spcPct val="107000"/>
              </a:lnSpc>
              <a:spcBef>
                <a:spcPts val="200"/>
              </a:spcBef>
            </a:pPr>
            <a:r>
              <a:rPr lang="en-GB" b="1" dirty="0">
                <a:solidFill>
                  <a:srgbClr val="000000"/>
                </a:solidFill>
                <a:ea typeface="Times New Roman" panose="02020603050405020304" pitchFamily="18" charset="0"/>
                <a:cs typeface="Times New Roman" panose="02020603050405020304" pitchFamily="18" charset="0"/>
              </a:rPr>
              <a:t>Meeting protocol</a:t>
            </a:r>
            <a:endParaRPr lang="en-GB" b="1" dirty="0">
              <a:solidFill>
                <a:srgbClr val="2E74B5"/>
              </a:solidFill>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5891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9125CD-4B94-44E0-9DF0-58984603E4CD}"/>
              </a:ext>
            </a:extLst>
          </p:cNvPr>
          <p:cNvSpPr>
            <a:spLocks noGrp="1"/>
          </p:cNvSpPr>
          <p:nvPr>
            <p:ph idx="1"/>
          </p:nvPr>
        </p:nvSpPr>
        <p:spPr>
          <a:xfrm>
            <a:off x="979485" y="1374937"/>
            <a:ext cx="10724818" cy="4505256"/>
          </a:xfrm>
        </p:spPr>
        <p:txBody>
          <a:bodyPr>
            <a:noAutofit/>
          </a:bodyPr>
          <a:lstStyle/>
          <a:p>
            <a:pPr marL="0" indent="0">
              <a:lnSpc>
                <a:spcPct val="107000"/>
              </a:lnSpc>
              <a:spcAft>
                <a:spcPts val="800"/>
              </a:spcAft>
              <a:buNone/>
            </a:pPr>
            <a:endParaRPr lang="en-GB" sz="900" dirty="0">
              <a:solidFill>
                <a:srgbClr val="000000"/>
              </a:solidFill>
              <a:ea typeface="Calibri" panose="020F0502020204030204" pitchFamily="34" charset="0"/>
            </a:endParaRPr>
          </a:p>
          <a:p>
            <a:pPr lvl="0"/>
            <a:r>
              <a:rPr lang="en-GB" sz="2400" dirty="0"/>
              <a:t>Update from S-100 TSM &amp; HSSC 18</a:t>
            </a:r>
          </a:p>
          <a:p>
            <a:pPr lvl="0"/>
            <a:r>
              <a:rPr lang="en-GB" sz="2400" dirty="0"/>
              <a:t>Work plan for Edition 2.0.0</a:t>
            </a:r>
          </a:p>
          <a:p>
            <a:pPr lvl="0"/>
            <a:r>
              <a:rPr lang="en-GB" sz="2400" dirty="0"/>
              <a:t>Preparation for S-100 WG11</a:t>
            </a:r>
          </a:p>
          <a:p>
            <a:pPr lvl="0"/>
            <a:r>
              <a:rPr lang="en-GB" sz="2400" dirty="0"/>
              <a:t>Edition 2.0.0 Progress and issues for resolution</a:t>
            </a:r>
          </a:p>
          <a:p>
            <a:pPr lvl="0"/>
            <a:r>
              <a:rPr lang="da-DK" sz="2400" dirty="0" err="1"/>
              <a:t>Next</a:t>
            </a:r>
            <a:r>
              <a:rPr lang="da-DK" sz="2400" dirty="0"/>
              <a:t> meeting</a:t>
            </a:r>
          </a:p>
        </p:txBody>
      </p:sp>
      <p:sp>
        <p:nvSpPr>
          <p:cNvPr id="3" name="Title 2">
            <a:extLst>
              <a:ext uri="{FF2B5EF4-FFF2-40B4-BE49-F238E27FC236}">
                <a16:creationId xmlns:a16="http://schemas.microsoft.com/office/drawing/2014/main" id="{749EE54E-F8A4-410F-966E-CB7363C11B38}"/>
              </a:ext>
            </a:extLst>
          </p:cNvPr>
          <p:cNvSpPr>
            <a:spLocks noGrp="1"/>
          </p:cNvSpPr>
          <p:nvPr>
            <p:ph type="title"/>
          </p:nvPr>
        </p:nvSpPr>
        <p:spPr/>
        <p:txBody>
          <a:bodyPr>
            <a:normAutofit/>
          </a:bodyPr>
          <a:lstStyle/>
          <a:p>
            <a:pPr>
              <a:lnSpc>
                <a:spcPct val="107000"/>
              </a:lnSpc>
              <a:spcBef>
                <a:spcPts val="200"/>
              </a:spcBef>
            </a:pPr>
            <a:r>
              <a:rPr lang="en-GB" b="1" dirty="0">
                <a:solidFill>
                  <a:srgbClr val="000000"/>
                </a:solidFill>
                <a:ea typeface="Times New Roman" panose="02020603050405020304" pitchFamily="18" charset="0"/>
                <a:cs typeface="Times New Roman" panose="02020603050405020304" pitchFamily="18" charset="0"/>
              </a:rPr>
              <a:t>AGENDA</a:t>
            </a:r>
            <a:endParaRPr lang="en-GB" b="1" dirty="0">
              <a:solidFill>
                <a:srgbClr val="2E74B5"/>
              </a:solidFill>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7617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69E96-BC4F-4E9D-9362-C87F5B2A57EA}"/>
              </a:ext>
            </a:extLst>
          </p:cNvPr>
          <p:cNvSpPr>
            <a:spLocks noGrp="1"/>
          </p:cNvSpPr>
          <p:nvPr>
            <p:ph type="title"/>
          </p:nvPr>
        </p:nvSpPr>
        <p:spPr/>
        <p:txBody>
          <a:bodyPr/>
          <a:lstStyle/>
          <a:p>
            <a:r>
              <a:rPr lang="da-DK" dirty="0"/>
              <a:t>S100 validation sub group standards</a:t>
            </a:r>
            <a:endParaRPr lang="en-GB" dirty="0"/>
          </a:p>
        </p:txBody>
      </p:sp>
      <p:pic>
        <p:nvPicPr>
          <p:cNvPr id="4" name="Picture 3">
            <a:extLst>
              <a:ext uri="{FF2B5EF4-FFF2-40B4-BE49-F238E27FC236}">
                <a16:creationId xmlns:a16="http://schemas.microsoft.com/office/drawing/2014/main" id="{3F5E6791-8152-454C-991D-030279CDFAA1}"/>
              </a:ext>
            </a:extLst>
          </p:cNvPr>
          <p:cNvPicPr>
            <a:picLocks noChangeAspect="1"/>
          </p:cNvPicPr>
          <p:nvPr/>
        </p:nvPicPr>
        <p:blipFill>
          <a:blip r:embed="rId2"/>
          <a:stretch>
            <a:fillRect/>
          </a:stretch>
        </p:blipFill>
        <p:spPr>
          <a:xfrm>
            <a:off x="1722969" y="1613645"/>
            <a:ext cx="5752862" cy="4060845"/>
          </a:xfrm>
          <a:prstGeom prst="rect">
            <a:avLst/>
          </a:prstGeom>
        </p:spPr>
      </p:pic>
    </p:spTree>
    <p:extLst>
      <p:ext uri="{BB962C8B-B14F-4D97-AF65-F5344CB8AC3E}">
        <p14:creationId xmlns:p14="http://schemas.microsoft.com/office/powerpoint/2010/main" val="2768155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52C96B-406B-4D6A-BCC9-9CEA42DD743F}"/>
              </a:ext>
            </a:extLst>
          </p:cNvPr>
          <p:cNvSpPr>
            <a:spLocks noGrp="1"/>
          </p:cNvSpPr>
          <p:nvPr>
            <p:ph idx="1"/>
          </p:nvPr>
        </p:nvSpPr>
        <p:spPr/>
        <p:txBody>
          <a:bodyPr/>
          <a:lstStyle/>
          <a:p>
            <a:r>
              <a:rPr lang="da-DK" dirty="0"/>
              <a:t>Edition 2.0.0 for HSSC 2027 or HSSC 2028?</a:t>
            </a:r>
          </a:p>
          <a:p>
            <a:pPr lvl="1"/>
            <a:r>
              <a:rPr lang="da-DK" sz="2000" dirty="0" err="1">
                <a:solidFill>
                  <a:srgbClr val="FF0000"/>
                </a:solidFill>
              </a:rPr>
              <a:t>Agreed</a:t>
            </a:r>
            <a:r>
              <a:rPr lang="da-DK" sz="2000" dirty="0">
                <a:solidFill>
                  <a:srgbClr val="FF0000"/>
                </a:solidFill>
              </a:rPr>
              <a:t> on HSSC 2027</a:t>
            </a:r>
          </a:p>
          <a:p>
            <a:pPr lvl="1"/>
            <a:r>
              <a:rPr lang="da-DK" sz="2000" dirty="0" err="1"/>
              <a:t>Concern</a:t>
            </a:r>
            <a:r>
              <a:rPr lang="da-DK" sz="2000" dirty="0"/>
              <a:t> </a:t>
            </a:r>
            <a:r>
              <a:rPr lang="da-DK" sz="2000" dirty="0" err="1"/>
              <a:t>regarding</a:t>
            </a:r>
            <a:r>
              <a:rPr lang="da-DK" sz="2000" dirty="0"/>
              <a:t> </a:t>
            </a:r>
            <a:r>
              <a:rPr lang="da-DK" sz="2000" dirty="0" err="1"/>
              <a:t>having</a:t>
            </a:r>
            <a:r>
              <a:rPr lang="da-DK" sz="2000" dirty="0"/>
              <a:t> </a:t>
            </a:r>
            <a:r>
              <a:rPr lang="da-DK" sz="2000" dirty="0" err="1"/>
              <a:t>operational</a:t>
            </a:r>
            <a:r>
              <a:rPr lang="da-DK" sz="2000" dirty="0"/>
              <a:t> data on the </a:t>
            </a:r>
            <a:r>
              <a:rPr lang="da-DK" sz="2000" dirty="0" err="1"/>
              <a:t>market</a:t>
            </a:r>
            <a:r>
              <a:rPr lang="da-DK" sz="2000" dirty="0"/>
              <a:t> but not </a:t>
            </a:r>
            <a:r>
              <a:rPr lang="da-DK" sz="2000" dirty="0" err="1"/>
              <a:t>working</a:t>
            </a:r>
            <a:r>
              <a:rPr lang="da-DK" sz="2000" dirty="0"/>
              <a:t> on </a:t>
            </a:r>
            <a:r>
              <a:rPr lang="da-DK" sz="2000" dirty="0" err="1"/>
              <a:t>operational</a:t>
            </a:r>
            <a:r>
              <a:rPr lang="da-DK" sz="2000" dirty="0"/>
              <a:t> </a:t>
            </a:r>
            <a:r>
              <a:rPr lang="da-DK" sz="2000" dirty="0" err="1"/>
              <a:t>validation</a:t>
            </a:r>
            <a:r>
              <a:rPr lang="da-DK" sz="2000" dirty="0"/>
              <a:t> checks</a:t>
            </a:r>
            <a:endParaRPr lang="en-GB" sz="2000" dirty="0"/>
          </a:p>
          <a:p>
            <a:pPr lvl="1"/>
            <a:r>
              <a:rPr lang="en-GB" sz="2000" dirty="0"/>
              <a:t>Alignment with S-158:101 – aiming for Edition 2.0.0 for HSSC 2027</a:t>
            </a:r>
          </a:p>
          <a:p>
            <a:pPr lvl="1"/>
            <a:endParaRPr lang="da-DK" dirty="0"/>
          </a:p>
          <a:p>
            <a:pPr lvl="1"/>
            <a:r>
              <a:rPr lang="da-DK" dirty="0"/>
              <a:t>Cons:</a:t>
            </a:r>
          </a:p>
          <a:p>
            <a:pPr lvl="2"/>
            <a:r>
              <a:rPr lang="da-DK" dirty="0" err="1"/>
              <a:t>Less</a:t>
            </a:r>
            <a:r>
              <a:rPr lang="da-DK" dirty="0"/>
              <a:t> time to </a:t>
            </a:r>
            <a:r>
              <a:rPr lang="da-DK" dirty="0" err="1"/>
              <a:t>prepare</a:t>
            </a:r>
            <a:endParaRPr lang="da-DK" dirty="0"/>
          </a:p>
          <a:p>
            <a:pPr lvl="2"/>
            <a:r>
              <a:rPr lang="da-DK" dirty="0"/>
              <a:t>Limited feedback</a:t>
            </a:r>
          </a:p>
          <a:p>
            <a:pPr lvl="2"/>
            <a:r>
              <a:rPr lang="da-DK" dirty="0" err="1"/>
              <a:t>Once</a:t>
            </a:r>
            <a:r>
              <a:rPr lang="da-DK" dirty="0"/>
              <a:t> </a:t>
            </a:r>
            <a:r>
              <a:rPr lang="da-DK" dirty="0" err="1"/>
              <a:t>publish</a:t>
            </a:r>
            <a:r>
              <a:rPr lang="da-DK" dirty="0"/>
              <a:t> Edition 2.0.0 </a:t>
            </a:r>
            <a:r>
              <a:rPr lang="da-DK" dirty="0" err="1"/>
              <a:t>fall</a:t>
            </a:r>
            <a:r>
              <a:rPr lang="da-DK" dirty="0"/>
              <a:t> </a:t>
            </a:r>
            <a:r>
              <a:rPr lang="da-DK" dirty="0" err="1"/>
              <a:t>into</a:t>
            </a:r>
            <a:r>
              <a:rPr lang="da-DK" dirty="0"/>
              <a:t> </a:t>
            </a:r>
            <a:r>
              <a:rPr lang="da-DK" dirty="0" err="1"/>
              <a:t>impact</a:t>
            </a:r>
            <a:r>
              <a:rPr lang="da-DK" dirty="0"/>
              <a:t> </a:t>
            </a:r>
            <a:r>
              <a:rPr lang="da-DK" dirty="0" err="1"/>
              <a:t>assessment</a:t>
            </a:r>
            <a:r>
              <a:rPr lang="da-DK" dirty="0"/>
              <a:t> </a:t>
            </a:r>
            <a:r>
              <a:rPr lang="da-DK" dirty="0" err="1"/>
              <a:t>routine</a:t>
            </a:r>
            <a:endParaRPr lang="da-DK" dirty="0"/>
          </a:p>
          <a:p>
            <a:pPr lvl="2"/>
            <a:r>
              <a:rPr lang="da-DK" dirty="0" err="1"/>
              <a:t>Concerns</a:t>
            </a:r>
            <a:r>
              <a:rPr lang="da-DK" dirty="0"/>
              <a:t> have </a:t>
            </a:r>
            <a:r>
              <a:rPr lang="da-DK" dirty="0" err="1"/>
              <a:t>been</a:t>
            </a:r>
            <a:r>
              <a:rPr lang="da-DK" dirty="0"/>
              <a:t> </a:t>
            </a:r>
            <a:r>
              <a:rPr lang="da-DK" dirty="0" err="1"/>
              <a:t>raised</a:t>
            </a:r>
            <a:r>
              <a:rPr lang="da-DK" dirty="0"/>
              <a:t> at HSSC </a:t>
            </a:r>
            <a:r>
              <a:rPr lang="da-DK" dirty="0" err="1"/>
              <a:t>regarding</a:t>
            </a:r>
            <a:r>
              <a:rPr lang="da-DK" dirty="0"/>
              <a:t> the </a:t>
            </a:r>
            <a:r>
              <a:rPr lang="da-DK" dirty="0" err="1"/>
              <a:t>maturity</a:t>
            </a:r>
            <a:r>
              <a:rPr lang="da-DK" dirty="0"/>
              <a:t> of the </a:t>
            </a:r>
            <a:r>
              <a:rPr lang="da-DK" dirty="0" err="1"/>
              <a:t>validation</a:t>
            </a:r>
            <a:r>
              <a:rPr lang="da-DK" dirty="0"/>
              <a:t> checks</a:t>
            </a:r>
          </a:p>
        </p:txBody>
      </p:sp>
      <p:sp>
        <p:nvSpPr>
          <p:cNvPr id="3" name="Title 2">
            <a:extLst>
              <a:ext uri="{FF2B5EF4-FFF2-40B4-BE49-F238E27FC236}">
                <a16:creationId xmlns:a16="http://schemas.microsoft.com/office/drawing/2014/main" id="{3897FF5C-BFE4-4CF9-AD17-86E35A0F872A}"/>
              </a:ext>
            </a:extLst>
          </p:cNvPr>
          <p:cNvSpPr>
            <a:spLocks noGrp="1"/>
          </p:cNvSpPr>
          <p:nvPr>
            <p:ph type="title"/>
          </p:nvPr>
        </p:nvSpPr>
        <p:spPr/>
        <p:txBody>
          <a:bodyPr/>
          <a:lstStyle/>
          <a:p>
            <a:r>
              <a:rPr lang="da-DK" dirty="0"/>
              <a:t>Update from S-100 Test </a:t>
            </a:r>
            <a:r>
              <a:rPr lang="da-DK" dirty="0" err="1"/>
              <a:t>Strategy</a:t>
            </a:r>
            <a:r>
              <a:rPr lang="da-DK" dirty="0"/>
              <a:t> Meeting 12 (TSM) </a:t>
            </a:r>
            <a:endParaRPr lang="en-GB" dirty="0"/>
          </a:p>
        </p:txBody>
      </p:sp>
    </p:spTree>
    <p:extLst>
      <p:ext uri="{BB962C8B-B14F-4D97-AF65-F5344CB8AC3E}">
        <p14:creationId xmlns:p14="http://schemas.microsoft.com/office/powerpoint/2010/main" val="3886451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EC45ED1-8E1A-D313-3744-630F6435A1AF}"/>
              </a:ext>
            </a:extLst>
          </p:cNvPr>
          <p:cNvSpPr>
            <a:spLocks noGrp="1"/>
          </p:cNvSpPr>
          <p:nvPr>
            <p:ph idx="1"/>
          </p:nvPr>
        </p:nvSpPr>
        <p:spPr>
          <a:xfrm>
            <a:off x="945078" y="1607128"/>
            <a:ext cx="10515600" cy="4565877"/>
          </a:xfrm>
        </p:spPr>
        <p:txBody>
          <a:bodyPr>
            <a:normAutofit fontScale="55000" lnSpcReduction="20000"/>
          </a:bodyPr>
          <a:lstStyle/>
          <a:p>
            <a:r>
              <a:rPr lang="da-DK" sz="3600" dirty="0" err="1"/>
              <a:t>Consensus</a:t>
            </a:r>
            <a:r>
              <a:rPr lang="da-DK" sz="3600" dirty="0"/>
              <a:t> at TSM </a:t>
            </a:r>
            <a:r>
              <a:rPr lang="da-DK" sz="3600" dirty="0" err="1"/>
              <a:t>was</a:t>
            </a:r>
            <a:r>
              <a:rPr lang="da-DK" sz="3600" dirty="0"/>
              <a:t> </a:t>
            </a:r>
            <a:r>
              <a:rPr lang="da-DK" sz="3600" dirty="0" err="1"/>
              <a:t>that</a:t>
            </a:r>
            <a:r>
              <a:rPr lang="da-DK" sz="3600" dirty="0"/>
              <a:t> </a:t>
            </a:r>
            <a:r>
              <a:rPr lang="da-DK" sz="3600" dirty="0" err="1"/>
              <a:t>while</a:t>
            </a:r>
            <a:r>
              <a:rPr lang="da-DK" sz="3600" dirty="0"/>
              <a:t> </a:t>
            </a:r>
            <a:r>
              <a:rPr lang="da-DK" sz="3600" dirty="0" err="1"/>
              <a:t>understanding</a:t>
            </a:r>
            <a:r>
              <a:rPr lang="da-DK" sz="3600" dirty="0"/>
              <a:t> the merits </a:t>
            </a:r>
            <a:r>
              <a:rPr lang="da-DK" sz="3600" dirty="0" err="1"/>
              <a:t>behind</a:t>
            </a:r>
            <a:r>
              <a:rPr lang="da-DK" sz="3600" dirty="0"/>
              <a:t> the suggestion </a:t>
            </a:r>
            <a:r>
              <a:rPr lang="da-DK" sz="3600" dirty="0" err="1"/>
              <a:t>that</a:t>
            </a:r>
            <a:r>
              <a:rPr lang="da-DK" sz="3600" dirty="0"/>
              <a:t> </a:t>
            </a:r>
            <a:r>
              <a:rPr lang="da-DK" sz="3600" dirty="0" err="1"/>
              <a:t>now</a:t>
            </a:r>
            <a:r>
              <a:rPr lang="da-DK" sz="3600" dirty="0"/>
              <a:t> </a:t>
            </a:r>
            <a:r>
              <a:rPr lang="da-DK" sz="3600" dirty="0" err="1"/>
              <a:t>was</a:t>
            </a:r>
            <a:r>
              <a:rPr lang="da-DK" sz="3600" dirty="0"/>
              <a:t> not the </a:t>
            </a:r>
            <a:r>
              <a:rPr lang="da-DK" sz="3600" dirty="0" err="1"/>
              <a:t>correct</a:t>
            </a:r>
            <a:r>
              <a:rPr lang="da-DK" sz="3600" dirty="0"/>
              <a:t> time to do it.</a:t>
            </a:r>
          </a:p>
          <a:p>
            <a:pPr lvl="1"/>
            <a:r>
              <a:rPr lang="da-DK" sz="2900" dirty="0"/>
              <a:t>Deadline to release Edition 2.0.0</a:t>
            </a:r>
          </a:p>
          <a:p>
            <a:pPr lvl="1"/>
            <a:r>
              <a:rPr lang="da-DK" sz="2900" dirty="0" err="1"/>
              <a:t>Amount</a:t>
            </a:r>
            <a:r>
              <a:rPr lang="da-DK" sz="2900" dirty="0"/>
              <a:t> of </a:t>
            </a:r>
            <a:r>
              <a:rPr lang="da-DK" sz="2900" dirty="0" err="1"/>
              <a:t>work</a:t>
            </a:r>
            <a:r>
              <a:rPr lang="da-DK" sz="2900" dirty="0"/>
              <a:t> </a:t>
            </a:r>
            <a:r>
              <a:rPr lang="da-DK" sz="2900" dirty="0" err="1"/>
              <a:t>that</a:t>
            </a:r>
            <a:r>
              <a:rPr lang="da-DK" sz="2900" dirty="0"/>
              <a:t> </a:t>
            </a:r>
            <a:r>
              <a:rPr lang="da-DK" sz="2900" dirty="0" err="1"/>
              <a:t>would</a:t>
            </a:r>
            <a:r>
              <a:rPr lang="da-DK" sz="2900" dirty="0"/>
              <a:t> </a:t>
            </a:r>
            <a:r>
              <a:rPr lang="da-DK" sz="2900" dirty="0" err="1"/>
              <a:t>be</a:t>
            </a:r>
            <a:r>
              <a:rPr lang="da-DK" sz="2900" dirty="0"/>
              <a:t> </a:t>
            </a:r>
            <a:r>
              <a:rPr lang="da-DK" sz="2900" dirty="0" err="1"/>
              <a:t>required</a:t>
            </a:r>
            <a:r>
              <a:rPr lang="da-DK" sz="2900" dirty="0"/>
              <a:t> from </a:t>
            </a:r>
            <a:r>
              <a:rPr lang="da-DK" sz="2900" dirty="0" err="1"/>
              <a:t>each</a:t>
            </a:r>
            <a:r>
              <a:rPr lang="da-DK" sz="2900" dirty="0"/>
              <a:t> of the PS to bring </a:t>
            </a:r>
            <a:r>
              <a:rPr lang="da-DK" sz="2900" dirty="0" err="1"/>
              <a:t>their</a:t>
            </a:r>
            <a:r>
              <a:rPr lang="da-DK" sz="2900" dirty="0"/>
              <a:t> checks up to date</a:t>
            </a:r>
          </a:p>
          <a:p>
            <a:pPr lvl="1"/>
            <a:r>
              <a:rPr lang="da-DK" sz="2900" dirty="0" err="1"/>
              <a:t>Potentially</a:t>
            </a:r>
            <a:r>
              <a:rPr lang="da-DK" sz="2900" dirty="0"/>
              <a:t> </a:t>
            </a:r>
            <a:r>
              <a:rPr lang="da-DK" sz="2900" dirty="0" err="1"/>
              <a:t>revisit</a:t>
            </a:r>
            <a:r>
              <a:rPr lang="da-DK" sz="2900" dirty="0"/>
              <a:t> </a:t>
            </a:r>
            <a:r>
              <a:rPr lang="da-DK" sz="2900" dirty="0" err="1"/>
              <a:t>when</a:t>
            </a:r>
            <a:r>
              <a:rPr lang="da-DK" sz="2900" dirty="0"/>
              <a:t> </a:t>
            </a:r>
            <a:r>
              <a:rPr lang="da-DK" sz="2900" dirty="0" err="1"/>
              <a:t>move</a:t>
            </a:r>
            <a:r>
              <a:rPr lang="da-DK" sz="2900" dirty="0"/>
              <a:t> the checks </a:t>
            </a:r>
            <a:r>
              <a:rPr lang="da-DK" sz="2900" dirty="0" err="1"/>
              <a:t>into</a:t>
            </a:r>
            <a:r>
              <a:rPr lang="da-DK" sz="2900" dirty="0"/>
              <a:t> the Registry and the </a:t>
            </a:r>
            <a:r>
              <a:rPr lang="da-DK" sz="2900" dirty="0" err="1"/>
              <a:t>valiation</a:t>
            </a:r>
            <a:r>
              <a:rPr lang="da-DK" sz="2900" dirty="0"/>
              <a:t> checks </a:t>
            </a:r>
            <a:r>
              <a:rPr lang="da-DK" sz="2900" dirty="0" err="1"/>
              <a:t>are</a:t>
            </a:r>
            <a:r>
              <a:rPr lang="da-DK" sz="2900" dirty="0"/>
              <a:t> more </a:t>
            </a:r>
            <a:r>
              <a:rPr lang="da-DK" sz="2900" dirty="0" err="1"/>
              <a:t>mature</a:t>
            </a:r>
            <a:endParaRPr lang="da-DK" sz="2900" dirty="0"/>
          </a:p>
          <a:p>
            <a:pPr lvl="1"/>
            <a:r>
              <a:rPr lang="da-DK" sz="2900" dirty="0"/>
              <a:t>Checks </a:t>
            </a:r>
            <a:r>
              <a:rPr lang="da-DK" sz="2900" dirty="0" err="1"/>
              <a:t>are</a:t>
            </a:r>
            <a:r>
              <a:rPr lang="da-DK" sz="2900" dirty="0"/>
              <a:t> </a:t>
            </a:r>
            <a:r>
              <a:rPr lang="da-DK" sz="2900" dirty="0" err="1"/>
              <a:t>currently</a:t>
            </a:r>
            <a:r>
              <a:rPr lang="da-DK" sz="2900" dirty="0"/>
              <a:t> </a:t>
            </a:r>
            <a:r>
              <a:rPr lang="da-DK" sz="2900" dirty="0" err="1"/>
              <a:t>written</a:t>
            </a:r>
            <a:r>
              <a:rPr lang="da-DK" sz="2900" dirty="0"/>
              <a:t> with a </a:t>
            </a:r>
            <a:r>
              <a:rPr lang="da-DK" sz="2900" dirty="0" err="1"/>
              <a:t>navigational</a:t>
            </a:r>
            <a:r>
              <a:rPr lang="da-DK" sz="2900" dirty="0"/>
              <a:t> </a:t>
            </a:r>
            <a:r>
              <a:rPr lang="da-DK" sz="2900" dirty="0" err="1"/>
              <a:t>use</a:t>
            </a:r>
            <a:r>
              <a:rPr lang="da-DK" sz="2900" dirty="0"/>
              <a:t> in mind</a:t>
            </a:r>
          </a:p>
          <a:p>
            <a:endParaRPr lang="da-DK" sz="3600" dirty="0"/>
          </a:p>
          <a:p>
            <a:r>
              <a:rPr lang="da-DK" sz="3600" dirty="0" err="1"/>
              <a:t>Agreed</a:t>
            </a:r>
            <a:r>
              <a:rPr lang="da-DK" sz="3600" dirty="0"/>
              <a:t> </a:t>
            </a:r>
            <a:r>
              <a:rPr lang="da-DK" sz="3600" dirty="0" err="1"/>
              <a:t>that</a:t>
            </a:r>
            <a:r>
              <a:rPr lang="da-DK" sz="3600" dirty="0"/>
              <a:t> </a:t>
            </a:r>
            <a:r>
              <a:rPr lang="da-DK" sz="3600" dirty="0" err="1"/>
              <a:t>individual</a:t>
            </a:r>
            <a:r>
              <a:rPr lang="da-DK" sz="3600" dirty="0"/>
              <a:t> S-158:xxx </a:t>
            </a:r>
            <a:r>
              <a:rPr lang="da-DK" sz="3600" dirty="0" err="1"/>
              <a:t>can</a:t>
            </a:r>
            <a:r>
              <a:rPr lang="da-DK" sz="3600" dirty="0"/>
              <a:t> </a:t>
            </a:r>
            <a:r>
              <a:rPr lang="da-DK" sz="3600" dirty="0" err="1"/>
              <a:t>upgrade</a:t>
            </a:r>
            <a:r>
              <a:rPr lang="da-DK" sz="3600" dirty="0"/>
              <a:t> an S-158:100 </a:t>
            </a:r>
            <a:r>
              <a:rPr lang="da-DK" sz="3600" dirty="0" err="1"/>
              <a:t>classification</a:t>
            </a:r>
            <a:r>
              <a:rPr lang="da-DK" sz="3600" dirty="0"/>
              <a:t> but </a:t>
            </a:r>
            <a:r>
              <a:rPr lang="da-DK" sz="3600" dirty="0" err="1"/>
              <a:t>cannot</a:t>
            </a:r>
            <a:r>
              <a:rPr lang="da-DK" sz="3600" dirty="0"/>
              <a:t> </a:t>
            </a:r>
            <a:r>
              <a:rPr lang="da-DK" sz="3600" dirty="0" err="1"/>
              <a:t>downgrade</a:t>
            </a:r>
            <a:r>
              <a:rPr lang="da-DK" sz="3600" dirty="0"/>
              <a:t> it</a:t>
            </a:r>
          </a:p>
          <a:p>
            <a:pPr marL="0" indent="0">
              <a:buNone/>
            </a:pPr>
            <a:endParaRPr lang="da-DK" sz="3600" dirty="0"/>
          </a:p>
          <a:p>
            <a:r>
              <a:rPr lang="da-DK" sz="3600" dirty="0"/>
              <a:t>Will </a:t>
            </a:r>
            <a:r>
              <a:rPr lang="da-DK" sz="3600" dirty="0" err="1"/>
              <a:t>work</a:t>
            </a:r>
            <a:r>
              <a:rPr lang="da-DK" sz="3600" dirty="0"/>
              <a:t> on </a:t>
            </a:r>
            <a:r>
              <a:rPr lang="da-DK" sz="3600" dirty="0" err="1"/>
              <a:t>current</a:t>
            </a:r>
            <a:r>
              <a:rPr lang="da-DK" sz="3600" dirty="0"/>
              <a:t> </a:t>
            </a:r>
            <a:r>
              <a:rPr lang="da-DK" sz="3600" dirty="0" err="1"/>
              <a:t>experience</a:t>
            </a:r>
            <a:r>
              <a:rPr lang="da-DK" sz="3600" dirty="0"/>
              <a:t> with S-58 </a:t>
            </a:r>
            <a:r>
              <a:rPr lang="da-DK" sz="3600" dirty="0" err="1"/>
              <a:t>validation</a:t>
            </a:r>
            <a:r>
              <a:rPr lang="da-DK" sz="3600" dirty="0"/>
              <a:t> </a:t>
            </a:r>
            <a:r>
              <a:rPr lang="da-DK" sz="3600" dirty="0" err="1"/>
              <a:t>impacts</a:t>
            </a:r>
            <a:r>
              <a:rPr lang="da-DK" sz="3600" dirty="0"/>
              <a:t> and </a:t>
            </a:r>
            <a:r>
              <a:rPr lang="da-DK" sz="3600" dirty="0" err="1"/>
              <a:t>work</a:t>
            </a:r>
            <a:r>
              <a:rPr lang="da-DK" sz="3600" dirty="0"/>
              <a:t> with </a:t>
            </a:r>
            <a:r>
              <a:rPr lang="da-DK" sz="3600" dirty="0" err="1"/>
              <a:t>PTs</a:t>
            </a:r>
            <a:r>
              <a:rPr lang="da-DK" sz="3600" dirty="0"/>
              <a:t> </a:t>
            </a:r>
            <a:r>
              <a:rPr lang="da-DK" sz="3600" dirty="0" err="1"/>
              <a:t>where</a:t>
            </a:r>
            <a:r>
              <a:rPr lang="da-DK" sz="3600" dirty="0"/>
              <a:t> </a:t>
            </a:r>
            <a:r>
              <a:rPr lang="da-DK" sz="3600" dirty="0" err="1"/>
              <a:t>there</a:t>
            </a:r>
            <a:r>
              <a:rPr lang="da-DK" sz="3600" dirty="0"/>
              <a:t> is a </a:t>
            </a:r>
            <a:r>
              <a:rPr lang="da-DK" sz="3600" dirty="0" err="1"/>
              <a:t>disagreement</a:t>
            </a:r>
            <a:endParaRPr lang="da-DK" sz="3600" dirty="0"/>
          </a:p>
          <a:p>
            <a:r>
              <a:rPr lang="da-DK" sz="3600" dirty="0"/>
              <a:t>Criticals </a:t>
            </a:r>
            <a:r>
              <a:rPr lang="da-DK" sz="3600" dirty="0" err="1"/>
              <a:t>should</a:t>
            </a:r>
            <a:r>
              <a:rPr lang="da-DK" sz="3600" dirty="0"/>
              <a:t> </a:t>
            </a:r>
            <a:r>
              <a:rPr lang="da-DK" sz="3600" dirty="0" err="1"/>
              <a:t>be</a:t>
            </a:r>
            <a:r>
              <a:rPr lang="da-DK" sz="3600" dirty="0"/>
              <a:t> </a:t>
            </a:r>
            <a:r>
              <a:rPr lang="da-DK" sz="3600" dirty="0" err="1"/>
              <a:t>allocated</a:t>
            </a:r>
            <a:r>
              <a:rPr lang="da-DK" sz="3600" dirty="0"/>
              <a:t> for datasets </a:t>
            </a:r>
            <a:r>
              <a:rPr lang="da-DK" sz="3600" dirty="0" err="1"/>
              <a:t>that</a:t>
            </a:r>
            <a:r>
              <a:rPr lang="da-DK" sz="3600" dirty="0"/>
              <a:t> </a:t>
            </a:r>
            <a:r>
              <a:rPr lang="da-DK" sz="3600" dirty="0" err="1"/>
              <a:t>will</a:t>
            </a:r>
            <a:r>
              <a:rPr lang="da-DK" sz="3600" dirty="0"/>
              <a:t> </a:t>
            </a:r>
            <a:r>
              <a:rPr lang="da-DK" sz="3600" dirty="0" err="1"/>
              <a:t>make</a:t>
            </a:r>
            <a:r>
              <a:rPr lang="da-DK" sz="3600" dirty="0"/>
              <a:t> the data </a:t>
            </a:r>
            <a:r>
              <a:rPr lang="da-DK" sz="3600" dirty="0" err="1"/>
              <a:t>unusable</a:t>
            </a:r>
            <a:r>
              <a:rPr lang="da-DK" sz="3600" dirty="0"/>
              <a:t> or </a:t>
            </a:r>
            <a:r>
              <a:rPr lang="da-DK" sz="3600" dirty="0" err="1"/>
              <a:t>unsafe</a:t>
            </a:r>
            <a:endParaRPr lang="da-DK" sz="3600" dirty="0"/>
          </a:p>
          <a:p>
            <a:r>
              <a:rPr lang="da-DK" sz="3600" dirty="0"/>
              <a:t>Can </a:t>
            </a:r>
            <a:r>
              <a:rPr lang="da-DK" sz="3600" dirty="0" err="1"/>
              <a:t>review</a:t>
            </a:r>
            <a:r>
              <a:rPr lang="da-DK" sz="3600" dirty="0"/>
              <a:t> check </a:t>
            </a:r>
            <a:r>
              <a:rPr lang="da-DK" sz="3600" dirty="0" err="1"/>
              <a:t>clasification</a:t>
            </a:r>
            <a:r>
              <a:rPr lang="da-DK" sz="3600" dirty="0"/>
              <a:t> </a:t>
            </a:r>
            <a:r>
              <a:rPr lang="da-DK" sz="3600" dirty="0" err="1"/>
              <a:t>severity</a:t>
            </a:r>
            <a:r>
              <a:rPr lang="da-DK" sz="3600" dirty="0"/>
              <a:t> at </a:t>
            </a:r>
            <a:r>
              <a:rPr lang="da-DK" sz="3600" dirty="0" err="1"/>
              <a:t>later</a:t>
            </a:r>
            <a:r>
              <a:rPr lang="da-DK" sz="3600" dirty="0"/>
              <a:t> stage </a:t>
            </a:r>
            <a:r>
              <a:rPr lang="da-DK" sz="3600" dirty="0" err="1"/>
              <a:t>similar</a:t>
            </a:r>
            <a:r>
              <a:rPr lang="da-DK" sz="3600" dirty="0"/>
              <a:t> to S-58 Edition 9 </a:t>
            </a:r>
            <a:r>
              <a:rPr lang="da-DK" sz="3600" dirty="0" err="1"/>
              <a:t>review</a:t>
            </a:r>
            <a:r>
              <a:rPr lang="da-DK" sz="3600" dirty="0"/>
              <a:t>.</a:t>
            </a:r>
          </a:p>
          <a:p>
            <a:pPr marL="0" indent="0">
              <a:buNone/>
            </a:pPr>
            <a:endParaRPr lang="da-DK" dirty="0"/>
          </a:p>
          <a:p>
            <a:pPr marL="0" indent="0">
              <a:buNone/>
            </a:pPr>
            <a:r>
              <a:rPr lang="en-GB" sz="2600" dirty="0">
                <a:hlinkClick r:id="rId2"/>
              </a:rPr>
              <a:t>S-100 level vs </a:t>
            </a:r>
            <a:r>
              <a:rPr lang="en-GB" sz="2600" dirty="0" err="1">
                <a:hlinkClick r:id="rId2"/>
              </a:rPr>
              <a:t>PSes</a:t>
            </a:r>
            <a:r>
              <a:rPr lang="en-GB" sz="2600" dirty="0">
                <a:hlinkClick r:id="rId2"/>
              </a:rPr>
              <a:t> level "Fail" check category consideration · Issue #71 · </a:t>
            </a:r>
            <a:r>
              <a:rPr lang="en-GB" sz="2600" dirty="0" err="1">
                <a:hlinkClick r:id="rId2"/>
              </a:rPr>
              <a:t>iho-ohi</a:t>
            </a:r>
            <a:r>
              <a:rPr lang="en-GB" sz="2600" dirty="0">
                <a:hlinkClick r:id="rId2"/>
              </a:rPr>
              <a:t>/S-100-Validation-Checks</a:t>
            </a:r>
            <a:endParaRPr lang="en-GB" sz="2600" dirty="0"/>
          </a:p>
        </p:txBody>
      </p:sp>
      <p:sp>
        <p:nvSpPr>
          <p:cNvPr id="3" name="Title 2">
            <a:extLst>
              <a:ext uri="{FF2B5EF4-FFF2-40B4-BE49-F238E27FC236}">
                <a16:creationId xmlns:a16="http://schemas.microsoft.com/office/drawing/2014/main" id="{D7CAE71C-7768-DBF2-1599-E1407EEE0344}"/>
              </a:ext>
            </a:extLst>
          </p:cNvPr>
          <p:cNvSpPr>
            <a:spLocks noGrp="1"/>
          </p:cNvSpPr>
          <p:nvPr>
            <p:ph type="title"/>
          </p:nvPr>
        </p:nvSpPr>
        <p:spPr/>
        <p:txBody>
          <a:bodyPr/>
          <a:lstStyle/>
          <a:p>
            <a:r>
              <a:rPr lang="da-DK" dirty="0"/>
              <a:t>Check </a:t>
            </a:r>
            <a:r>
              <a:rPr lang="da-DK" dirty="0" err="1"/>
              <a:t>Classification</a:t>
            </a:r>
            <a:endParaRPr lang="en-GB" dirty="0"/>
          </a:p>
        </p:txBody>
      </p:sp>
    </p:spTree>
    <p:extLst>
      <p:ext uri="{BB962C8B-B14F-4D97-AF65-F5344CB8AC3E}">
        <p14:creationId xmlns:p14="http://schemas.microsoft.com/office/powerpoint/2010/main" val="3499498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0F4871-4863-B9CB-8A95-8FB3A22DF19C}"/>
              </a:ext>
            </a:extLst>
          </p:cNvPr>
          <p:cNvSpPr>
            <a:spLocks noGrp="1"/>
          </p:cNvSpPr>
          <p:nvPr>
            <p:ph idx="1"/>
          </p:nvPr>
        </p:nvSpPr>
        <p:spPr>
          <a:xfrm>
            <a:off x="838200" y="1393371"/>
            <a:ext cx="10515600" cy="4783592"/>
          </a:xfrm>
        </p:spPr>
        <p:txBody>
          <a:bodyPr/>
          <a:lstStyle/>
          <a:p>
            <a:r>
              <a:rPr lang="da-DK" dirty="0" err="1"/>
              <a:t>Concerns</a:t>
            </a:r>
            <a:r>
              <a:rPr lang="da-DK" dirty="0"/>
              <a:t> have </a:t>
            </a:r>
            <a:r>
              <a:rPr lang="da-DK" dirty="0" err="1"/>
              <a:t>been</a:t>
            </a:r>
            <a:r>
              <a:rPr lang="da-DK" dirty="0"/>
              <a:t> </a:t>
            </a:r>
            <a:r>
              <a:rPr lang="da-DK" dirty="0" err="1"/>
              <a:t>raised</a:t>
            </a:r>
            <a:r>
              <a:rPr lang="da-DK" dirty="0"/>
              <a:t> at HSSC ISO Cell </a:t>
            </a:r>
            <a:r>
              <a:rPr lang="da-DK" dirty="0" err="1"/>
              <a:t>regarding</a:t>
            </a:r>
            <a:r>
              <a:rPr lang="da-DK" dirty="0"/>
              <a:t> the </a:t>
            </a:r>
            <a:r>
              <a:rPr lang="da-DK" dirty="0" err="1"/>
              <a:t>maturity</a:t>
            </a:r>
            <a:r>
              <a:rPr lang="da-DK" dirty="0"/>
              <a:t> of the </a:t>
            </a:r>
            <a:r>
              <a:rPr lang="da-DK" dirty="0" err="1"/>
              <a:t>validation</a:t>
            </a:r>
            <a:r>
              <a:rPr lang="da-DK" dirty="0"/>
              <a:t> checks, </a:t>
            </a:r>
            <a:r>
              <a:rPr lang="da-DK" dirty="0" err="1"/>
              <a:t>across</a:t>
            </a:r>
            <a:r>
              <a:rPr lang="da-DK" dirty="0"/>
              <a:t> all S-158:xxx, </a:t>
            </a:r>
            <a:r>
              <a:rPr lang="da-DK" dirty="0" err="1"/>
              <a:t>except</a:t>
            </a:r>
            <a:r>
              <a:rPr lang="da-DK" dirty="0"/>
              <a:t> S-158:101</a:t>
            </a:r>
          </a:p>
          <a:p>
            <a:endParaRPr lang="da-DK" dirty="0"/>
          </a:p>
          <a:p>
            <a:endParaRPr lang="en-GB" dirty="0"/>
          </a:p>
        </p:txBody>
      </p:sp>
      <p:sp>
        <p:nvSpPr>
          <p:cNvPr id="3" name="Title 2">
            <a:extLst>
              <a:ext uri="{FF2B5EF4-FFF2-40B4-BE49-F238E27FC236}">
                <a16:creationId xmlns:a16="http://schemas.microsoft.com/office/drawing/2014/main" id="{C95CDF2F-710F-0FDA-FDCD-AF28062C54BB}"/>
              </a:ext>
            </a:extLst>
          </p:cNvPr>
          <p:cNvSpPr>
            <a:spLocks noGrp="1"/>
          </p:cNvSpPr>
          <p:nvPr>
            <p:ph type="title"/>
          </p:nvPr>
        </p:nvSpPr>
        <p:spPr/>
        <p:txBody>
          <a:bodyPr/>
          <a:lstStyle/>
          <a:p>
            <a:r>
              <a:rPr lang="da-DK" dirty="0"/>
              <a:t>Update from HSSC 18</a:t>
            </a:r>
            <a:endParaRPr lang="en-GB" dirty="0"/>
          </a:p>
        </p:txBody>
      </p:sp>
      <p:pic>
        <p:nvPicPr>
          <p:cNvPr id="5" name="Picture 4">
            <a:extLst>
              <a:ext uri="{FF2B5EF4-FFF2-40B4-BE49-F238E27FC236}">
                <a16:creationId xmlns:a16="http://schemas.microsoft.com/office/drawing/2014/main" id="{9316D4F9-4381-1A67-21CF-31F94ED71458}"/>
              </a:ext>
            </a:extLst>
          </p:cNvPr>
          <p:cNvPicPr>
            <a:picLocks noChangeAspect="1"/>
          </p:cNvPicPr>
          <p:nvPr/>
        </p:nvPicPr>
        <p:blipFill>
          <a:blip r:embed="rId2"/>
          <a:stretch>
            <a:fillRect/>
          </a:stretch>
        </p:blipFill>
        <p:spPr>
          <a:xfrm>
            <a:off x="1939178" y="2649688"/>
            <a:ext cx="7971268" cy="4037479"/>
          </a:xfrm>
          <a:prstGeom prst="rect">
            <a:avLst/>
          </a:prstGeom>
        </p:spPr>
      </p:pic>
    </p:spTree>
    <p:extLst>
      <p:ext uri="{BB962C8B-B14F-4D97-AF65-F5344CB8AC3E}">
        <p14:creationId xmlns:p14="http://schemas.microsoft.com/office/powerpoint/2010/main" val="2076308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7AB6551-0AB1-CF41-A1F3-4ABA3D7BC45B}"/>
              </a:ext>
            </a:extLst>
          </p:cNvPr>
          <p:cNvPicPr>
            <a:picLocks noChangeAspect="1"/>
          </p:cNvPicPr>
          <p:nvPr/>
        </p:nvPicPr>
        <p:blipFill>
          <a:blip r:embed="rId2"/>
          <a:stretch>
            <a:fillRect/>
          </a:stretch>
        </p:blipFill>
        <p:spPr>
          <a:xfrm>
            <a:off x="7332576" y="94900"/>
            <a:ext cx="4624316" cy="3934780"/>
          </a:xfrm>
          <a:prstGeom prst="rect">
            <a:avLst/>
          </a:prstGeom>
        </p:spPr>
      </p:pic>
      <p:pic>
        <p:nvPicPr>
          <p:cNvPr id="7" name="Picture 6">
            <a:extLst>
              <a:ext uri="{FF2B5EF4-FFF2-40B4-BE49-F238E27FC236}">
                <a16:creationId xmlns:a16="http://schemas.microsoft.com/office/drawing/2014/main" id="{409B91F0-52A0-EEEC-912B-68643D399239}"/>
              </a:ext>
            </a:extLst>
          </p:cNvPr>
          <p:cNvPicPr>
            <a:picLocks noChangeAspect="1"/>
          </p:cNvPicPr>
          <p:nvPr/>
        </p:nvPicPr>
        <p:blipFill>
          <a:blip r:embed="rId3"/>
          <a:stretch>
            <a:fillRect/>
          </a:stretch>
        </p:blipFill>
        <p:spPr>
          <a:xfrm>
            <a:off x="120556" y="964442"/>
            <a:ext cx="7058986" cy="3452884"/>
          </a:xfrm>
          <a:prstGeom prst="rect">
            <a:avLst/>
          </a:prstGeom>
        </p:spPr>
      </p:pic>
      <p:sp>
        <p:nvSpPr>
          <p:cNvPr id="8" name="TextBox 7">
            <a:extLst>
              <a:ext uri="{FF2B5EF4-FFF2-40B4-BE49-F238E27FC236}">
                <a16:creationId xmlns:a16="http://schemas.microsoft.com/office/drawing/2014/main" id="{84D0774C-5BDB-6AD9-5FCC-9823570ABA81}"/>
              </a:ext>
            </a:extLst>
          </p:cNvPr>
          <p:cNvSpPr txBox="1"/>
          <p:nvPr/>
        </p:nvSpPr>
        <p:spPr>
          <a:xfrm>
            <a:off x="588922" y="4607803"/>
            <a:ext cx="4603845" cy="1754326"/>
          </a:xfrm>
          <a:prstGeom prst="rect">
            <a:avLst/>
          </a:prstGeom>
          <a:noFill/>
        </p:spPr>
        <p:txBody>
          <a:bodyPr wrap="square" rtlCol="0">
            <a:spAutoFit/>
          </a:bodyPr>
          <a:lstStyle/>
          <a:p>
            <a:r>
              <a:rPr lang="en-GB" b="1" dirty="0"/>
              <a:t>HSSC18/55</a:t>
            </a:r>
            <a:r>
              <a:rPr lang="en-GB" dirty="0"/>
              <a:t>: </a:t>
            </a:r>
            <a:r>
              <a:rPr lang="en-GB" i="1" dirty="0"/>
              <a:t>HSSC approved the proposed direction for the future of S-158:1xx and consider the potential role of RENCs in supporting the development and maintenance of authoritative tools and libraries for validation checks.</a:t>
            </a:r>
            <a:r>
              <a:rPr lang="en-GB" dirty="0"/>
              <a:t> </a:t>
            </a:r>
          </a:p>
        </p:txBody>
      </p:sp>
      <p:sp>
        <p:nvSpPr>
          <p:cNvPr id="10" name="TextBox 9">
            <a:extLst>
              <a:ext uri="{FF2B5EF4-FFF2-40B4-BE49-F238E27FC236}">
                <a16:creationId xmlns:a16="http://schemas.microsoft.com/office/drawing/2014/main" id="{E90D2E9C-4C92-B763-1D95-7001A32FBC4A}"/>
              </a:ext>
            </a:extLst>
          </p:cNvPr>
          <p:cNvSpPr txBox="1"/>
          <p:nvPr/>
        </p:nvSpPr>
        <p:spPr>
          <a:xfrm>
            <a:off x="6449394" y="4657284"/>
            <a:ext cx="4603845" cy="1200329"/>
          </a:xfrm>
          <a:prstGeom prst="rect">
            <a:avLst/>
          </a:prstGeom>
          <a:noFill/>
        </p:spPr>
        <p:txBody>
          <a:bodyPr wrap="square" rtlCol="0">
            <a:spAutoFit/>
          </a:bodyPr>
          <a:lstStyle/>
          <a:p>
            <a:r>
              <a:rPr lang="da-DK" dirty="0" err="1"/>
              <a:t>Proposal</a:t>
            </a:r>
            <a:r>
              <a:rPr lang="da-DK" dirty="0"/>
              <a:t> is to split </a:t>
            </a:r>
            <a:r>
              <a:rPr lang="da-DK" dirty="0" err="1"/>
              <a:t>cost</a:t>
            </a:r>
            <a:r>
              <a:rPr lang="da-DK" dirty="0"/>
              <a:t> 50/50 </a:t>
            </a:r>
            <a:r>
              <a:rPr lang="da-DK" dirty="0" err="1"/>
              <a:t>between</a:t>
            </a:r>
            <a:r>
              <a:rPr lang="da-DK" dirty="0"/>
              <a:t> </a:t>
            </a:r>
            <a:r>
              <a:rPr lang="da-DK" dirty="0" err="1"/>
              <a:t>RENCs</a:t>
            </a:r>
            <a:r>
              <a:rPr lang="da-DK" dirty="0"/>
              <a:t> </a:t>
            </a:r>
            <a:r>
              <a:rPr lang="da-DK" dirty="0" err="1"/>
              <a:t>capacity</a:t>
            </a:r>
            <a:r>
              <a:rPr lang="da-DK" dirty="0"/>
              <a:t> funds</a:t>
            </a:r>
          </a:p>
          <a:p>
            <a:endParaRPr lang="da-DK" dirty="0"/>
          </a:p>
          <a:p>
            <a:r>
              <a:rPr lang="da-DK" dirty="0"/>
              <a:t>Will speak to Nathalie in New Zealand</a:t>
            </a:r>
          </a:p>
        </p:txBody>
      </p:sp>
    </p:spTree>
    <p:extLst>
      <p:ext uri="{BB962C8B-B14F-4D97-AF65-F5344CB8AC3E}">
        <p14:creationId xmlns:p14="http://schemas.microsoft.com/office/powerpoint/2010/main" val="2342035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C3B2C15D-550E-4B57-8836-9C10720C0A2A}"/>
              </a:ext>
            </a:extLst>
          </p:cNvPr>
          <p:cNvGraphicFramePr>
            <a:graphicFrameLocks noGrp="1"/>
          </p:cNvGraphicFramePr>
          <p:nvPr>
            <p:ph idx="1"/>
            <p:extLst>
              <p:ext uri="{D42A27DB-BD31-4B8C-83A1-F6EECF244321}">
                <p14:modId xmlns:p14="http://schemas.microsoft.com/office/powerpoint/2010/main" val="2247306707"/>
              </p:ext>
            </p:extLst>
          </p:nvPr>
        </p:nvGraphicFramePr>
        <p:xfrm>
          <a:off x="1677654" y="1079061"/>
          <a:ext cx="8596965" cy="5200015"/>
        </p:xfrm>
        <a:graphic>
          <a:graphicData uri="http://schemas.openxmlformats.org/drawingml/2006/table">
            <a:tbl>
              <a:tblPr firstRow="1" bandRow="1">
                <a:tableStyleId>{5C22544A-7EE6-4342-B048-85BDC9FD1C3A}</a:tableStyleId>
              </a:tblPr>
              <a:tblGrid>
                <a:gridCol w="585901">
                  <a:extLst>
                    <a:ext uri="{9D8B030D-6E8A-4147-A177-3AD203B41FA5}">
                      <a16:colId xmlns:a16="http://schemas.microsoft.com/office/drawing/2014/main" val="1206492021"/>
                    </a:ext>
                  </a:extLst>
                </a:gridCol>
                <a:gridCol w="5596415">
                  <a:extLst>
                    <a:ext uri="{9D8B030D-6E8A-4147-A177-3AD203B41FA5}">
                      <a16:colId xmlns:a16="http://schemas.microsoft.com/office/drawing/2014/main" val="2223572248"/>
                    </a:ext>
                  </a:extLst>
                </a:gridCol>
                <a:gridCol w="2414649">
                  <a:extLst>
                    <a:ext uri="{9D8B030D-6E8A-4147-A177-3AD203B41FA5}">
                      <a16:colId xmlns:a16="http://schemas.microsoft.com/office/drawing/2014/main" val="3571029484"/>
                    </a:ext>
                  </a:extLst>
                </a:gridCol>
              </a:tblGrid>
              <a:tr h="370840">
                <a:tc>
                  <a:txBody>
                    <a:bodyPr/>
                    <a:lstStyle/>
                    <a:p>
                      <a:pPr algn="l" fontAlgn="b"/>
                      <a:endParaRPr lang="en-GB" sz="16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GB" sz="1600" b="1" i="0" u="none" strike="noStrike" dirty="0">
                          <a:solidFill>
                            <a:srgbClr val="000000"/>
                          </a:solidFill>
                          <a:effectLst/>
                          <a:latin typeface="Arial" panose="020B0604020202020204" pitchFamily="34" charset="0"/>
                          <a:cs typeface="Arial" panose="020B0604020202020204" pitchFamily="34" charset="0"/>
                        </a:rPr>
                        <a:t>Edition 2.0.0</a:t>
                      </a:r>
                    </a:p>
                  </a:txBody>
                  <a:tcPr marL="9525" marR="9525" marT="9525" marB="0" anchor="b"/>
                </a:tc>
                <a:tc>
                  <a:txBody>
                    <a:bodyPr/>
                    <a:lstStyle/>
                    <a:p>
                      <a:pPr algn="l" fontAlgn="b"/>
                      <a:r>
                        <a:rPr lang="da-DK" sz="1600" b="1" i="0" u="none" strike="noStrike" dirty="0">
                          <a:solidFill>
                            <a:srgbClr val="000000"/>
                          </a:solidFill>
                          <a:effectLst/>
                          <a:latin typeface="Arial" panose="020B0604020202020204" pitchFamily="34" charset="0"/>
                          <a:cs typeface="Arial" panose="020B0604020202020204" pitchFamily="34" charset="0"/>
                        </a:rPr>
                        <a:t>Status</a:t>
                      </a:r>
                      <a:endParaRPr lang="en-GB" sz="1600" b="1"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636420650"/>
                  </a:ext>
                </a:extLst>
              </a:tr>
              <a:tr h="370840">
                <a:tc>
                  <a:txBody>
                    <a:bodyPr/>
                    <a:lstStyle/>
                    <a:p>
                      <a:pPr algn="l" fontAlgn="b"/>
                      <a:r>
                        <a:rPr lang="da-DK" sz="1600" b="0" i="0" u="none" strike="sngStrike" dirty="0">
                          <a:solidFill>
                            <a:srgbClr val="000000"/>
                          </a:solidFill>
                          <a:effectLst/>
                          <a:latin typeface="Arial" panose="020B0604020202020204" pitchFamily="34" charset="0"/>
                          <a:cs typeface="Arial" panose="020B0604020202020204" pitchFamily="34" charset="0"/>
                        </a:rPr>
                        <a:t>1.1</a:t>
                      </a:r>
                      <a:endParaRPr lang="en-GB" sz="1600" b="0" i="0" u="none" strike="sng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GB" sz="1600" b="0" i="0" u="none" strike="sngStrike" dirty="0">
                          <a:solidFill>
                            <a:srgbClr val="000000"/>
                          </a:solidFill>
                          <a:effectLst/>
                          <a:latin typeface="Arial" panose="020B0604020202020204" pitchFamily="34" charset="0"/>
                          <a:cs typeface="Arial" panose="020B0604020202020204" pitchFamily="34" charset="0"/>
                        </a:rPr>
                        <a:t>Kick off using funds for edition 2.0.0 &amp; project outline</a:t>
                      </a:r>
                    </a:p>
                  </a:txBody>
                  <a:tcPr marL="9525" marR="9525" marT="9525" marB="0" anchor="b"/>
                </a:tc>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Complete</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91529026"/>
                  </a:ext>
                </a:extLst>
              </a:tr>
              <a:tr h="370840">
                <a:tc>
                  <a:txBody>
                    <a:bodyPr/>
                    <a:lstStyle/>
                    <a:p>
                      <a:pPr algn="l" fontAlgn="b"/>
                      <a:r>
                        <a:rPr lang="da-DK" sz="1600" b="0" i="0" u="none" strike="sngStrike" dirty="0">
                          <a:solidFill>
                            <a:srgbClr val="000000"/>
                          </a:solidFill>
                          <a:effectLst/>
                          <a:latin typeface="Arial" panose="020B0604020202020204" pitchFamily="34" charset="0"/>
                          <a:cs typeface="Arial" panose="020B0604020202020204" pitchFamily="34" charset="0"/>
                        </a:rPr>
                        <a:t>1.2</a:t>
                      </a:r>
                      <a:endParaRPr lang="en-GB" sz="1600" b="0" i="0" u="none" strike="sng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GB" sz="1600" b="0" i="0" u="none" strike="sngStrike" dirty="0">
                          <a:solidFill>
                            <a:srgbClr val="000000"/>
                          </a:solidFill>
                          <a:effectLst/>
                          <a:latin typeface="Arial" panose="020B0604020202020204" pitchFamily="34" charset="0"/>
                          <a:cs typeface="Arial" panose="020B0604020202020204" pitchFamily="34" charset="0"/>
                        </a:rPr>
                        <a:t>Initiate work</a:t>
                      </a:r>
                    </a:p>
                  </a:txBody>
                  <a:tcPr marL="9525" marR="9525" marT="9525" marB="0" anchor="b"/>
                </a:tc>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Complete</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153686738"/>
                  </a:ext>
                </a:extLst>
              </a:tr>
              <a:tr h="370840">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1.3</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Update for S-100 5.2.1</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In </a:t>
                      </a:r>
                      <a:r>
                        <a:rPr lang="da-DK" sz="1600" b="0" i="0" u="none" strike="noStrike" dirty="0" err="1">
                          <a:solidFill>
                            <a:srgbClr val="000000"/>
                          </a:solidFill>
                          <a:effectLst/>
                          <a:latin typeface="Arial" panose="020B0604020202020204" pitchFamily="34" charset="0"/>
                          <a:cs typeface="Arial" panose="020B0604020202020204" pitchFamily="34" charset="0"/>
                        </a:rPr>
                        <a:t>progress</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44738099"/>
                  </a:ext>
                </a:extLst>
              </a:tr>
              <a:tr h="370840">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1.3</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GB" sz="1600" b="0" i="0" u="none" strike="noStrike" dirty="0">
                          <a:solidFill>
                            <a:srgbClr val="000000"/>
                          </a:solidFill>
                          <a:effectLst/>
                          <a:latin typeface="Arial" panose="020B0604020202020204" pitchFamily="34" charset="0"/>
                          <a:cs typeface="Arial" panose="020B0604020202020204" pitchFamily="34" charset="0"/>
                        </a:rPr>
                        <a:t>Review GitHub issues for inclusion</a:t>
                      </a:r>
                    </a:p>
                  </a:txBody>
                  <a:tcPr marL="9525" marR="9525" marT="9525" marB="0" anchor="b"/>
                </a:tc>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In </a:t>
                      </a:r>
                      <a:r>
                        <a:rPr lang="da-DK" sz="1600" b="0" i="0" u="none" strike="noStrike" dirty="0" err="1">
                          <a:solidFill>
                            <a:srgbClr val="000000"/>
                          </a:solidFill>
                          <a:effectLst/>
                          <a:latin typeface="Arial" panose="020B0604020202020204" pitchFamily="34" charset="0"/>
                          <a:cs typeface="Arial" panose="020B0604020202020204" pitchFamily="34" charset="0"/>
                        </a:rPr>
                        <a:t>progress</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52313289"/>
                  </a:ext>
                </a:extLst>
              </a:tr>
              <a:tr h="370840">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1.4</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GB" sz="1600" b="0" i="0" u="none" strike="noStrike" dirty="0">
                          <a:solidFill>
                            <a:srgbClr val="000000"/>
                          </a:solidFill>
                          <a:effectLst/>
                          <a:latin typeface="Arial" panose="020B0604020202020204" pitchFamily="34" charset="0"/>
                          <a:cs typeface="Arial" panose="020B0604020202020204" pitchFamily="34" charset="0"/>
                        </a:rPr>
                        <a:t>Review S-98 Data Constraints Annex for Edition 2.0.0</a:t>
                      </a:r>
                    </a:p>
                  </a:txBody>
                  <a:tcPr marL="9525" marR="9525" marT="9525" marB="0" anchor="b"/>
                </a:tc>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In </a:t>
                      </a:r>
                      <a:r>
                        <a:rPr lang="da-DK" sz="1600" b="0" i="0" u="none" strike="noStrike" dirty="0" err="1">
                          <a:solidFill>
                            <a:srgbClr val="000000"/>
                          </a:solidFill>
                          <a:effectLst/>
                          <a:latin typeface="Arial" panose="020B0604020202020204" pitchFamily="34" charset="0"/>
                          <a:cs typeface="Arial" panose="020B0604020202020204" pitchFamily="34" charset="0"/>
                        </a:rPr>
                        <a:t>progress</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353908984"/>
                  </a:ext>
                </a:extLst>
              </a:tr>
              <a:tr h="370840">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1.5</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GB" sz="1600" b="0" i="0" u="none" strike="noStrike" dirty="0">
                          <a:solidFill>
                            <a:srgbClr val="000000"/>
                          </a:solidFill>
                          <a:effectLst/>
                          <a:latin typeface="Arial" panose="020B0604020202020204" pitchFamily="34" charset="0"/>
                          <a:cs typeface="Arial" panose="020B0604020202020204" pitchFamily="34" charset="0"/>
                        </a:rPr>
                        <a:t>Review S-58 for potential changes, primarily classifications</a:t>
                      </a:r>
                    </a:p>
                  </a:txBody>
                  <a:tcPr marL="9525" marR="9525" marT="9525" marB="0" anchor="b"/>
                </a:tc>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In </a:t>
                      </a:r>
                      <a:r>
                        <a:rPr lang="da-DK" sz="1600" b="0" i="0" u="none" strike="noStrike" dirty="0" err="1">
                          <a:solidFill>
                            <a:srgbClr val="000000"/>
                          </a:solidFill>
                          <a:effectLst/>
                          <a:latin typeface="Arial" panose="020B0604020202020204" pitchFamily="34" charset="0"/>
                          <a:cs typeface="Arial" panose="020B0604020202020204" pitchFamily="34" charset="0"/>
                        </a:rPr>
                        <a:t>progress</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58420681"/>
                  </a:ext>
                </a:extLst>
              </a:tr>
              <a:tr h="370840">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1.6</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GB" sz="1600" b="0" i="0" u="none" strike="noStrike" dirty="0">
                          <a:solidFill>
                            <a:srgbClr val="000000"/>
                          </a:solidFill>
                          <a:effectLst/>
                          <a:latin typeface="Arial" panose="020B0604020202020204" pitchFamily="34" charset="0"/>
                          <a:cs typeface="Arial" panose="020B0604020202020204" pitchFamily="34" charset="0"/>
                        </a:rPr>
                        <a:t>Coordinate with S-158:1xx regarding versioning concerns</a:t>
                      </a:r>
                    </a:p>
                  </a:txBody>
                  <a:tcPr marL="9525" marR="9525" marT="9525" marB="0" anchor="b"/>
                </a:tc>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To do – </a:t>
                      </a:r>
                      <a:r>
                        <a:rPr lang="da-DK" sz="1600" b="0" i="0" u="none" strike="noStrike" dirty="0" err="1">
                          <a:solidFill>
                            <a:srgbClr val="000000"/>
                          </a:solidFill>
                          <a:effectLst/>
                          <a:latin typeface="Arial" panose="020B0604020202020204" pitchFamily="34" charset="0"/>
                          <a:cs typeface="Arial" panose="020B0604020202020204" pitchFamily="34" charset="0"/>
                        </a:rPr>
                        <a:t>will</a:t>
                      </a:r>
                      <a:r>
                        <a:rPr lang="da-DK" sz="1600" b="0" i="0" u="none" strike="noStrike" dirty="0">
                          <a:solidFill>
                            <a:srgbClr val="000000"/>
                          </a:solidFill>
                          <a:effectLst/>
                          <a:latin typeface="Arial" panose="020B0604020202020204" pitchFamily="34" charset="0"/>
                          <a:cs typeface="Arial" panose="020B0604020202020204" pitchFamily="34" charset="0"/>
                        </a:rPr>
                        <a:t> send </a:t>
                      </a:r>
                      <a:r>
                        <a:rPr lang="da-DK" sz="1600" b="0" i="0" u="none" strike="noStrike" dirty="0" err="1">
                          <a:solidFill>
                            <a:srgbClr val="000000"/>
                          </a:solidFill>
                          <a:effectLst/>
                          <a:latin typeface="Arial" panose="020B0604020202020204" pitchFamily="34" charset="0"/>
                          <a:cs typeface="Arial" panose="020B0604020202020204" pitchFamily="34" charset="0"/>
                        </a:rPr>
                        <a:t>email</a:t>
                      </a:r>
                      <a:r>
                        <a:rPr lang="da-DK" sz="1600" b="0" i="0" u="none" strike="noStrike" dirty="0">
                          <a:solidFill>
                            <a:srgbClr val="000000"/>
                          </a:solidFill>
                          <a:effectLst/>
                          <a:latin typeface="Arial" panose="020B0604020202020204" pitchFamily="34" charset="0"/>
                          <a:cs typeface="Arial" panose="020B0604020202020204" pitchFamily="34" charset="0"/>
                        </a:rPr>
                        <a:t>/</a:t>
                      </a:r>
                      <a:r>
                        <a:rPr lang="da-DK" sz="1600" b="0" i="0" u="none" strike="noStrike" dirty="0" err="1">
                          <a:solidFill>
                            <a:srgbClr val="000000"/>
                          </a:solidFill>
                          <a:effectLst/>
                          <a:latin typeface="Arial" panose="020B0604020202020204" pitchFamily="34" charset="0"/>
                          <a:cs typeface="Arial" panose="020B0604020202020204" pitchFamily="34" charset="0"/>
                        </a:rPr>
                        <a:t>discuss</a:t>
                      </a:r>
                      <a:r>
                        <a:rPr lang="da-DK" sz="1600" b="0" i="0" u="none" strike="noStrike" dirty="0">
                          <a:solidFill>
                            <a:srgbClr val="000000"/>
                          </a:solidFill>
                          <a:effectLst/>
                          <a:latin typeface="Arial" panose="020B0604020202020204" pitchFamily="34" charset="0"/>
                          <a:cs typeface="Arial" panose="020B0604020202020204" pitchFamily="34" charset="0"/>
                        </a:rPr>
                        <a:t> at S-100WG</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483315712"/>
                  </a:ext>
                </a:extLst>
              </a:tr>
              <a:tr h="370840">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1.7</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GB" sz="1600" b="0" i="0" u="none" strike="noStrike" dirty="0">
                          <a:solidFill>
                            <a:srgbClr val="000000"/>
                          </a:solidFill>
                          <a:effectLst/>
                          <a:latin typeface="Arial" panose="020B0604020202020204" pitchFamily="34" charset="0"/>
                          <a:cs typeface="Arial" panose="020B0604020202020204" pitchFamily="34" charset="0"/>
                        </a:rPr>
                        <a:t>Circulation in sub group</a:t>
                      </a:r>
                    </a:p>
                  </a:txBody>
                  <a:tcPr marL="9525" marR="9525" marT="9525" marB="0" anchor="b"/>
                </a:tc>
                <a:tc>
                  <a:txBody>
                    <a:bodyPr/>
                    <a:lstStyle/>
                    <a:p>
                      <a:pPr algn="l" fontAlgn="b"/>
                      <a:r>
                        <a:rPr lang="da-DK" sz="1600" b="0" i="0" u="none" strike="noStrike" dirty="0" err="1">
                          <a:solidFill>
                            <a:srgbClr val="000000"/>
                          </a:solidFill>
                          <a:effectLst/>
                          <a:latin typeface="Arial" panose="020B0604020202020204" pitchFamily="34" charset="0"/>
                          <a:cs typeface="Arial" panose="020B0604020202020204" pitchFamily="34" charset="0"/>
                        </a:rPr>
                        <a:t>Draft</a:t>
                      </a:r>
                      <a:r>
                        <a:rPr lang="da-DK" sz="1600" b="0" i="0" u="none" strike="noStrike" dirty="0">
                          <a:solidFill>
                            <a:srgbClr val="000000"/>
                          </a:solidFill>
                          <a:effectLst/>
                          <a:latin typeface="Arial" panose="020B0604020202020204" pitchFamily="34" charset="0"/>
                          <a:cs typeface="Arial" panose="020B0604020202020204" pitchFamily="34" charset="0"/>
                        </a:rPr>
                        <a:t> version </a:t>
                      </a:r>
                      <a:r>
                        <a:rPr lang="da-DK" sz="1600" b="0" i="0" u="none" strike="noStrike" dirty="0" err="1">
                          <a:solidFill>
                            <a:srgbClr val="000000"/>
                          </a:solidFill>
                          <a:effectLst/>
                          <a:latin typeface="Arial" panose="020B0604020202020204" pitchFamily="34" charset="0"/>
                          <a:cs typeface="Arial" panose="020B0604020202020204" pitchFamily="34" charset="0"/>
                        </a:rPr>
                        <a:t>ready</a:t>
                      </a:r>
                      <a:r>
                        <a:rPr lang="da-DK" sz="1600" b="0" i="0" u="none" strike="noStrike" dirty="0">
                          <a:solidFill>
                            <a:srgbClr val="000000"/>
                          </a:solidFill>
                          <a:effectLst/>
                          <a:latin typeface="Arial" panose="020B0604020202020204" pitchFamily="34" charset="0"/>
                          <a:cs typeface="Arial" panose="020B0604020202020204" pitchFamily="34" charset="0"/>
                        </a:rPr>
                        <a:t> for </a:t>
                      </a:r>
                      <a:r>
                        <a:rPr lang="da-DK" sz="1600" b="0" i="0" u="none" strike="noStrike" dirty="0" err="1">
                          <a:solidFill>
                            <a:srgbClr val="000000"/>
                          </a:solidFill>
                          <a:effectLst/>
                          <a:latin typeface="Arial" panose="020B0604020202020204" pitchFamily="34" charset="0"/>
                          <a:cs typeface="Arial" panose="020B0604020202020204" pitchFamily="34" charset="0"/>
                        </a:rPr>
                        <a:t>review</a:t>
                      </a:r>
                      <a:r>
                        <a:rPr lang="da-DK" sz="1600" b="0" i="0" u="none" strike="noStrike" dirty="0">
                          <a:solidFill>
                            <a:srgbClr val="000000"/>
                          </a:solidFill>
                          <a:effectLst/>
                          <a:latin typeface="Arial" panose="020B0604020202020204" pitchFamily="34" charset="0"/>
                          <a:cs typeface="Arial" panose="020B0604020202020204" pitchFamily="34" charset="0"/>
                        </a:rPr>
                        <a:t> – </a:t>
                      </a:r>
                      <a:r>
                        <a:rPr lang="da-DK" sz="1600" b="0" i="0" u="none" strike="noStrike" dirty="0" err="1">
                          <a:solidFill>
                            <a:srgbClr val="000000"/>
                          </a:solidFill>
                          <a:effectLst/>
                          <a:latin typeface="Arial" panose="020B0604020202020204" pitchFamily="34" charset="0"/>
                          <a:cs typeface="Arial" panose="020B0604020202020204" pitchFamily="34" charset="0"/>
                        </a:rPr>
                        <a:t>will</a:t>
                      </a:r>
                      <a:r>
                        <a:rPr lang="da-DK" sz="1600" b="0" i="0" u="none" strike="noStrike" dirty="0">
                          <a:solidFill>
                            <a:srgbClr val="000000"/>
                          </a:solidFill>
                          <a:effectLst/>
                          <a:latin typeface="Arial" panose="020B0604020202020204" pitchFamily="34" charset="0"/>
                          <a:cs typeface="Arial" panose="020B0604020202020204" pitchFamily="34" charset="0"/>
                        </a:rPr>
                        <a:t> </a:t>
                      </a:r>
                      <a:r>
                        <a:rPr lang="da-DK" sz="1600" b="0" i="0" u="none" strike="noStrike" dirty="0" err="1">
                          <a:solidFill>
                            <a:srgbClr val="000000"/>
                          </a:solidFill>
                          <a:effectLst/>
                          <a:latin typeface="Arial" panose="020B0604020202020204" pitchFamily="34" charset="0"/>
                          <a:cs typeface="Arial" panose="020B0604020202020204" pitchFamily="34" charset="0"/>
                        </a:rPr>
                        <a:t>circulate</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242666083"/>
                  </a:ext>
                </a:extLst>
              </a:tr>
              <a:tr h="370840">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1.8</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GB" sz="1600" b="0" i="0" u="none" strike="noStrike" dirty="0">
                          <a:solidFill>
                            <a:srgbClr val="000000"/>
                          </a:solidFill>
                          <a:effectLst/>
                          <a:latin typeface="Arial" panose="020B0604020202020204" pitchFamily="34" charset="0"/>
                          <a:cs typeface="Arial" panose="020B0604020202020204" pitchFamily="34" charset="0"/>
                        </a:rPr>
                        <a:t>Approval to S-100 WG – draft version</a:t>
                      </a:r>
                    </a:p>
                  </a:txBody>
                  <a:tcPr marL="9525" marR="9525" marT="9525" marB="0" anchor="b"/>
                </a:tc>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To do</a:t>
                      </a:r>
                    </a:p>
                  </a:txBody>
                  <a:tcPr marL="9525" marR="9525" marT="9525" marB="0" anchor="b"/>
                </a:tc>
                <a:extLst>
                  <a:ext uri="{0D108BD9-81ED-4DB2-BD59-A6C34878D82A}">
                    <a16:rowId xmlns:a16="http://schemas.microsoft.com/office/drawing/2014/main" val="3862845048"/>
                  </a:ext>
                </a:extLst>
              </a:tr>
              <a:tr h="370840">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1.9</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GB" sz="1600" b="0" i="0" u="none" strike="noStrike" dirty="0">
                          <a:solidFill>
                            <a:srgbClr val="000000"/>
                          </a:solidFill>
                          <a:effectLst/>
                          <a:latin typeface="Arial" panose="020B0604020202020204" pitchFamily="34" charset="0"/>
                          <a:cs typeface="Arial" panose="020B0604020202020204" pitchFamily="34" charset="0"/>
                        </a:rPr>
                        <a:t>Potential approval from S-100 WG via circular letter</a:t>
                      </a:r>
                    </a:p>
                  </a:txBody>
                  <a:tcPr marL="9525" marR="9525" marT="9525" marB="0" anchor="b"/>
                </a:tc>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To do</a:t>
                      </a:r>
                    </a:p>
                    <a:p>
                      <a:pPr marL="0" marR="0" lvl="0" indent="0" algn="l" defTabSz="914400" rtl="0" eaLnBrk="1" fontAlgn="b" latinLnBrk="0" hangingPunct="1">
                        <a:lnSpc>
                          <a:spcPct val="100000"/>
                        </a:lnSpc>
                        <a:spcBef>
                          <a:spcPts val="0"/>
                        </a:spcBef>
                        <a:spcAft>
                          <a:spcPts val="0"/>
                        </a:spcAft>
                        <a:buClrTx/>
                        <a:buSzTx/>
                        <a:buFontTx/>
                        <a:buNone/>
                        <a:tabLst/>
                        <a:defRPr/>
                      </a:pPr>
                      <a:r>
                        <a:rPr lang="da-DK" sz="1600" b="0" i="0" u="none" strike="noStrike" dirty="0">
                          <a:solidFill>
                            <a:srgbClr val="000000"/>
                          </a:solidFill>
                          <a:effectLst/>
                          <a:latin typeface="Arial" panose="020B0604020202020204" pitchFamily="34" charset="0"/>
                          <a:cs typeface="Arial" panose="020B0604020202020204" pitchFamily="34" charset="0"/>
                        </a:rPr>
                        <a:t>Final </a:t>
                      </a:r>
                      <a:r>
                        <a:rPr lang="da-DK" sz="1600" b="0" i="0" u="none" strike="noStrike" dirty="0" err="1">
                          <a:solidFill>
                            <a:srgbClr val="000000"/>
                          </a:solidFill>
                          <a:effectLst/>
                          <a:latin typeface="Arial" panose="020B0604020202020204" pitchFamily="34" charset="0"/>
                          <a:cs typeface="Arial" panose="020B0604020202020204" pitchFamily="34" charset="0"/>
                        </a:rPr>
                        <a:t>drafts</a:t>
                      </a:r>
                      <a:r>
                        <a:rPr lang="da-DK" sz="1600" b="0" i="0" u="none" strike="noStrike" dirty="0">
                          <a:solidFill>
                            <a:srgbClr val="000000"/>
                          </a:solidFill>
                          <a:effectLst/>
                          <a:latin typeface="Arial" panose="020B0604020202020204" pitchFamily="34" charset="0"/>
                          <a:cs typeface="Arial" panose="020B0604020202020204" pitchFamily="34" charset="0"/>
                        </a:rPr>
                        <a:t> due 30/12</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4195719592"/>
                  </a:ext>
                </a:extLst>
              </a:tr>
              <a:tr h="370840">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1.10</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en-GB" sz="1600" b="0" i="0" u="none" strike="noStrike" dirty="0">
                          <a:solidFill>
                            <a:srgbClr val="000000"/>
                          </a:solidFill>
                          <a:effectLst/>
                          <a:latin typeface="Arial" panose="020B0604020202020204" pitchFamily="34" charset="0"/>
                          <a:cs typeface="Arial" panose="020B0604020202020204" pitchFamily="34" charset="0"/>
                        </a:rPr>
                        <a:t>User impact study</a:t>
                      </a:r>
                    </a:p>
                  </a:txBody>
                  <a:tcPr marL="9525" marR="9525" marT="9525" marB="0" anchor="b"/>
                </a:tc>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To do</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741934063"/>
                  </a:ext>
                </a:extLst>
              </a:tr>
              <a:tr h="370840">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1.11</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HSSC </a:t>
                      </a:r>
                      <a:r>
                        <a:rPr lang="da-DK" sz="1600" b="0" i="0" u="none" strike="noStrike" dirty="0" err="1">
                          <a:solidFill>
                            <a:srgbClr val="000000"/>
                          </a:solidFill>
                          <a:effectLst/>
                          <a:latin typeface="Arial" panose="020B0604020202020204" pitchFamily="34" charset="0"/>
                          <a:cs typeface="Arial" panose="020B0604020202020204" pitchFamily="34" charset="0"/>
                        </a:rPr>
                        <a:t>endorsement</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l" fontAlgn="b"/>
                      <a:r>
                        <a:rPr lang="da-DK" sz="1600" b="0" i="0" u="none" strike="noStrike" dirty="0">
                          <a:solidFill>
                            <a:srgbClr val="000000"/>
                          </a:solidFill>
                          <a:effectLst/>
                          <a:latin typeface="Arial" panose="020B0604020202020204" pitchFamily="34" charset="0"/>
                          <a:cs typeface="Arial" panose="020B0604020202020204" pitchFamily="34" charset="0"/>
                        </a:rPr>
                        <a:t>To do</a:t>
                      </a:r>
                      <a:endParaRPr lang="en-GB" sz="16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891874355"/>
                  </a:ext>
                </a:extLst>
              </a:tr>
            </a:tbl>
          </a:graphicData>
        </a:graphic>
      </p:graphicFrame>
      <p:sp>
        <p:nvSpPr>
          <p:cNvPr id="3" name="Title 2">
            <a:extLst>
              <a:ext uri="{FF2B5EF4-FFF2-40B4-BE49-F238E27FC236}">
                <a16:creationId xmlns:a16="http://schemas.microsoft.com/office/drawing/2014/main" id="{3E535DBE-A9E3-4D0B-8F1A-F888ADCFFEF4}"/>
              </a:ext>
            </a:extLst>
          </p:cNvPr>
          <p:cNvSpPr>
            <a:spLocks noGrp="1"/>
          </p:cNvSpPr>
          <p:nvPr>
            <p:ph type="title"/>
          </p:nvPr>
        </p:nvSpPr>
        <p:spPr/>
        <p:txBody>
          <a:bodyPr/>
          <a:lstStyle/>
          <a:p>
            <a:r>
              <a:rPr lang="en-GB" dirty="0"/>
              <a:t>Work plan for Edition 2.0.0</a:t>
            </a:r>
            <a:br>
              <a:rPr lang="en-GB" dirty="0"/>
            </a:br>
            <a:endParaRPr lang="en-GB" dirty="0"/>
          </a:p>
        </p:txBody>
      </p:sp>
    </p:spTree>
    <p:extLst>
      <p:ext uri="{BB962C8B-B14F-4D97-AF65-F5344CB8AC3E}">
        <p14:creationId xmlns:p14="http://schemas.microsoft.com/office/powerpoint/2010/main" val="741083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B47C00F-1BF9-EC80-3928-E44ECB68D75E}"/>
              </a:ext>
            </a:extLst>
          </p:cNvPr>
          <p:cNvSpPr>
            <a:spLocks noGrp="1"/>
          </p:cNvSpPr>
          <p:nvPr>
            <p:ph idx="1"/>
          </p:nvPr>
        </p:nvSpPr>
        <p:spPr>
          <a:xfrm>
            <a:off x="969936" y="1554405"/>
            <a:ext cx="10515600" cy="4351338"/>
          </a:xfrm>
        </p:spPr>
        <p:txBody>
          <a:bodyPr/>
          <a:lstStyle/>
          <a:p>
            <a:r>
              <a:rPr lang="da-DK" dirty="0" err="1"/>
              <a:t>Originally</a:t>
            </a:r>
            <a:r>
              <a:rPr lang="da-DK" dirty="0"/>
              <a:t> </a:t>
            </a:r>
            <a:r>
              <a:rPr lang="da-DK" dirty="0" err="1"/>
              <a:t>planned</a:t>
            </a:r>
            <a:r>
              <a:rPr lang="da-DK" dirty="0"/>
              <a:t> to </a:t>
            </a:r>
            <a:r>
              <a:rPr lang="da-DK" dirty="0" err="1"/>
              <a:t>arrange</a:t>
            </a:r>
            <a:r>
              <a:rPr lang="da-DK" dirty="0"/>
              <a:t> a VTC with all the S-158:1xx </a:t>
            </a:r>
            <a:r>
              <a:rPr lang="da-DK" dirty="0" err="1"/>
              <a:t>leads</a:t>
            </a:r>
            <a:endParaRPr lang="da-DK" dirty="0"/>
          </a:p>
          <a:p>
            <a:r>
              <a:rPr lang="da-DK" dirty="0" err="1"/>
              <a:t>Primarily</a:t>
            </a:r>
            <a:r>
              <a:rPr lang="da-DK" dirty="0"/>
              <a:t> to </a:t>
            </a:r>
            <a:r>
              <a:rPr lang="da-DK" dirty="0" err="1"/>
              <a:t>discuss</a:t>
            </a:r>
            <a:r>
              <a:rPr lang="da-DK" dirty="0"/>
              <a:t> </a:t>
            </a:r>
            <a:r>
              <a:rPr lang="da-DK" dirty="0" err="1"/>
              <a:t>versioning</a:t>
            </a:r>
            <a:r>
              <a:rPr lang="da-DK" dirty="0"/>
              <a:t> issues</a:t>
            </a:r>
          </a:p>
          <a:p>
            <a:pPr lvl="1"/>
            <a:r>
              <a:rPr lang="da-DK" dirty="0"/>
              <a:t>Has </a:t>
            </a:r>
            <a:r>
              <a:rPr lang="da-DK" dirty="0" err="1"/>
              <a:t>become</a:t>
            </a:r>
            <a:r>
              <a:rPr lang="da-DK" dirty="0"/>
              <a:t> </a:t>
            </a:r>
            <a:r>
              <a:rPr lang="da-DK" dirty="0" err="1"/>
              <a:t>too</a:t>
            </a:r>
            <a:r>
              <a:rPr lang="da-DK" dirty="0"/>
              <a:t> </a:t>
            </a:r>
            <a:r>
              <a:rPr lang="da-DK" dirty="0" err="1"/>
              <a:t>difficult</a:t>
            </a:r>
            <a:r>
              <a:rPr lang="da-DK" dirty="0"/>
              <a:t> to </a:t>
            </a:r>
            <a:r>
              <a:rPr lang="da-DK" dirty="0" err="1"/>
              <a:t>arrange</a:t>
            </a:r>
            <a:r>
              <a:rPr lang="da-DK" dirty="0"/>
              <a:t> and with time zone differences</a:t>
            </a:r>
          </a:p>
          <a:p>
            <a:pPr marL="457200" lvl="1" indent="0">
              <a:buNone/>
            </a:pPr>
            <a:endParaRPr lang="da-DK" dirty="0"/>
          </a:p>
          <a:p>
            <a:endParaRPr lang="en-GB" dirty="0"/>
          </a:p>
          <a:p>
            <a:r>
              <a:rPr lang="en-GB" dirty="0"/>
              <a:t>Will send an email asking for feedback &amp; will speak to S-158:1xx leads present in Wellington</a:t>
            </a:r>
          </a:p>
          <a:p>
            <a:pPr lvl="1"/>
            <a:r>
              <a:rPr lang="en-GB" dirty="0"/>
              <a:t>Potentially arrange individual VTCs if required</a:t>
            </a:r>
          </a:p>
        </p:txBody>
      </p:sp>
      <p:sp>
        <p:nvSpPr>
          <p:cNvPr id="3" name="Title 2">
            <a:extLst>
              <a:ext uri="{FF2B5EF4-FFF2-40B4-BE49-F238E27FC236}">
                <a16:creationId xmlns:a16="http://schemas.microsoft.com/office/drawing/2014/main" id="{D96EAAAB-5CD1-98B9-5934-9AE63B94F168}"/>
              </a:ext>
            </a:extLst>
          </p:cNvPr>
          <p:cNvSpPr>
            <a:spLocks noGrp="1"/>
          </p:cNvSpPr>
          <p:nvPr>
            <p:ph type="title"/>
          </p:nvPr>
        </p:nvSpPr>
        <p:spPr/>
        <p:txBody>
          <a:bodyPr/>
          <a:lstStyle/>
          <a:p>
            <a:r>
              <a:rPr lang="da-DK" dirty="0"/>
              <a:t>Co-ordination with S-158:1xx </a:t>
            </a:r>
            <a:r>
              <a:rPr lang="da-DK" dirty="0" err="1"/>
              <a:t>leads</a:t>
            </a:r>
            <a:endParaRPr lang="en-GB" dirty="0"/>
          </a:p>
        </p:txBody>
      </p:sp>
    </p:spTree>
    <p:extLst>
      <p:ext uri="{BB962C8B-B14F-4D97-AF65-F5344CB8AC3E}">
        <p14:creationId xmlns:p14="http://schemas.microsoft.com/office/powerpoint/2010/main" val="2730419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A8D6A75-3361-C82B-2C14-FF37C6B0BD7B}"/>
              </a:ext>
            </a:extLst>
          </p:cNvPr>
          <p:cNvSpPr>
            <a:spLocks noGrp="1"/>
          </p:cNvSpPr>
          <p:nvPr>
            <p:ph idx="1"/>
          </p:nvPr>
        </p:nvSpPr>
        <p:spPr>
          <a:xfrm>
            <a:off x="838200" y="1441342"/>
            <a:ext cx="11118742" cy="4735621"/>
          </a:xfrm>
        </p:spPr>
        <p:txBody>
          <a:bodyPr>
            <a:normAutofit fontScale="92500" lnSpcReduction="10000"/>
          </a:bodyPr>
          <a:lstStyle/>
          <a:p>
            <a:pPr marL="0" indent="0">
              <a:buNone/>
            </a:pPr>
            <a:r>
              <a:rPr lang="da-DK" dirty="0"/>
              <a:t>Presentation </a:t>
            </a:r>
            <a:r>
              <a:rPr lang="da-DK" dirty="0" err="1"/>
              <a:t>based</a:t>
            </a:r>
            <a:r>
              <a:rPr lang="da-DK" dirty="0"/>
              <a:t> on </a:t>
            </a:r>
            <a:r>
              <a:rPr lang="da-DK" dirty="0" err="1"/>
              <a:t>todays</a:t>
            </a:r>
            <a:r>
              <a:rPr lang="da-DK" dirty="0"/>
              <a:t> slides and with status</a:t>
            </a:r>
          </a:p>
          <a:p>
            <a:endParaRPr lang="da-DK" dirty="0"/>
          </a:p>
          <a:p>
            <a:pPr marL="0" indent="0">
              <a:buNone/>
            </a:pPr>
            <a:r>
              <a:rPr lang="da-DK" dirty="0" err="1"/>
              <a:t>Draft</a:t>
            </a:r>
            <a:r>
              <a:rPr lang="da-DK" dirty="0"/>
              <a:t> Edition 2.0.0 versions of:</a:t>
            </a:r>
          </a:p>
          <a:p>
            <a:r>
              <a:rPr lang="da-DK" dirty="0"/>
              <a:t>S-158 </a:t>
            </a:r>
          </a:p>
          <a:p>
            <a:pPr marL="0" indent="0">
              <a:buNone/>
            </a:pPr>
            <a:r>
              <a:rPr lang="en-GB" sz="1200" dirty="0">
                <a:hlinkClick r:id="rId2"/>
              </a:rPr>
              <a:t>S-100-Validation-Checks/Documents/S-158/2.0.0/WD-158 Validation_Checks_2_0_0_20260831.docx at main · </a:t>
            </a:r>
            <a:r>
              <a:rPr lang="en-GB" sz="1200" dirty="0" err="1">
                <a:hlinkClick r:id="rId2"/>
              </a:rPr>
              <a:t>iho-ohi</a:t>
            </a:r>
            <a:r>
              <a:rPr lang="en-GB" sz="1200" dirty="0">
                <a:hlinkClick r:id="rId2"/>
              </a:rPr>
              <a:t>/S-100-Validation-Checks</a:t>
            </a:r>
            <a:endParaRPr lang="da-DK" sz="1200" dirty="0"/>
          </a:p>
          <a:p>
            <a:r>
              <a:rPr lang="da-DK" dirty="0"/>
              <a:t>S-158:100 </a:t>
            </a:r>
          </a:p>
          <a:p>
            <a:pPr marL="0" indent="0">
              <a:buNone/>
            </a:pPr>
            <a:r>
              <a:rPr lang="en-GB" sz="1200" dirty="0">
                <a:hlinkClick r:id="rId3"/>
              </a:rPr>
              <a:t>S-100-Validation-Checks/Documents/S-158-100/2.0.0 at main · </a:t>
            </a:r>
            <a:r>
              <a:rPr lang="en-GB" sz="1200" dirty="0" err="1">
                <a:hlinkClick r:id="rId3"/>
              </a:rPr>
              <a:t>iho-ohi</a:t>
            </a:r>
            <a:r>
              <a:rPr lang="en-GB" sz="1200" dirty="0">
                <a:hlinkClick r:id="rId3"/>
              </a:rPr>
              <a:t>/S-100-Validation-Checks</a:t>
            </a:r>
            <a:endParaRPr lang="da-DK" sz="1200" dirty="0"/>
          </a:p>
          <a:p>
            <a:r>
              <a:rPr lang="da-DK" dirty="0"/>
              <a:t>S-158:98</a:t>
            </a:r>
          </a:p>
          <a:p>
            <a:pPr marL="0" indent="0">
              <a:buNone/>
            </a:pPr>
            <a:r>
              <a:rPr lang="en-GB" sz="1200" dirty="0">
                <a:hlinkClick r:id="rId4"/>
              </a:rPr>
              <a:t>S-100-Validation-Checks/Documents/S-158-98/2.0.0 at main · </a:t>
            </a:r>
            <a:r>
              <a:rPr lang="en-GB" sz="1200" dirty="0" err="1">
                <a:hlinkClick r:id="rId4"/>
              </a:rPr>
              <a:t>iho-ohi</a:t>
            </a:r>
            <a:r>
              <a:rPr lang="en-GB" sz="1200" dirty="0">
                <a:hlinkClick r:id="rId4"/>
              </a:rPr>
              <a:t>/S-100-Validation-Checks</a:t>
            </a:r>
            <a:endParaRPr lang="en-GB" sz="1200" dirty="0"/>
          </a:p>
          <a:p>
            <a:pPr marL="0" indent="0">
              <a:buNone/>
            </a:pPr>
            <a:endParaRPr lang="da-DK" sz="1200" dirty="0"/>
          </a:p>
          <a:p>
            <a:pPr marL="0" indent="0">
              <a:buNone/>
            </a:pPr>
            <a:r>
              <a:rPr lang="da-DK" sz="2200" dirty="0"/>
              <a:t>Any </a:t>
            </a:r>
            <a:r>
              <a:rPr lang="da-DK" sz="2200" dirty="0" err="1"/>
              <a:t>comments</a:t>
            </a:r>
            <a:r>
              <a:rPr lang="da-DK" sz="2200" dirty="0"/>
              <a:t> </a:t>
            </a:r>
            <a:r>
              <a:rPr lang="da-DK" sz="2200" dirty="0" err="1"/>
              <a:t>submit</a:t>
            </a:r>
            <a:r>
              <a:rPr lang="da-DK" sz="2200" dirty="0"/>
              <a:t> via GitHub issue</a:t>
            </a:r>
          </a:p>
          <a:p>
            <a:pPr marL="0" indent="0">
              <a:buNone/>
            </a:pPr>
            <a:r>
              <a:rPr lang="da-DK" sz="2200" dirty="0" err="1"/>
              <a:t>Following</a:t>
            </a:r>
            <a:r>
              <a:rPr lang="da-DK" sz="2200" dirty="0"/>
              <a:t> </a:t>
            </a:r>
            <a:r>
              <a:rPr lang="da-DK" sz="2200" dirty="0" err="1"/>
              <a:t>revised</a:t>
            </a:r>
            <a:r>
              <a:rPr lang="da-DK" sz="2200" dirty="0"/>
              <a:t> TR2/2007 </a:t>
            </a:r>
            <a:r>
              <a:rPr lang="da-DK" sz="2200" dirty="0" err="1"/>
              <a:t>naming</a:t>
            </a:r>
            <a:r>
              <a:rPr lang="da-DK" sz="2200" dirty="0"/>
              <a:t> </a:t>
            </a:r>
            <a:r>
              <a:rPr lang="da-DK" sz="2200" dirty="0" err="1"/>
              <a:t>convention</a:t>
            </a:r>
            <a:endParaRPr lang="da-DK" sz="2200" dirty="0"/>
          </a:p>
          <a:p>
            <a:pPr marL="0" indent="0">
              <a:buNone/>
            </a:pPr>
            <a:endParaRPr lang="da-DK" dirty="0"/>
          </a:p>
          <a:p>
            <a:endParaRPr lang="da-DK" dirty="0"/>
          </a:p>
          <a:p>
            <a:endParaRPr lang="en-GB" dirty="0"/>
          </a:p>
        </p:txBody>
      </p:sp>
      <p:sp>
        <p:nvSpPr>
          <p:cNvPr id="3" name="Title 2">
            <a:extLst>
              <a:ext uri="{FF2B5EF4-FFF2-40B4-BE49-F238E27FC236}">
                <a16:creationId xmlns:a16="http://schemas.microsoft.com/office/drawing/2014/main" id="{1A7044C9-97C1-ED21-FD21-F857DE377E20}"/>
              </a:ext>
            </a:extLst>
          </p:cNvPr>
          <p:cNvSpPr>
            <a:spLocks noGrp="1"/>
          </p:cNvSpPr>
          <p:nvPr>
            <p:ph type="title"/>
          </p:nvPr>
        </p:nvSpPr>
        <p:spPr/>
        <p:txBody>
          <a:bodyPr/>
          <a:lstStyle/>
          <a:p>
            <a:r>
              <a:rPr lang="da-DK" dirty="0" err="1"/>
              <a:t>Preparation</a:t>
            </a:r>
            <a:r>
              <a:rPr lang="da-DK" dirty="0"/>
              <a:t> for S-100 WG 11 (22-25th September)</a:t>
            </a:r>
            <a:endParaRPr lang="en-GB" dirty="0"/>
          </a:p>
        </p:txBody>
      </p:sp>
    </p:spTree>
    <p:extLst>
      <p:ext uri="{BB962C8B-B14F-4D97-AF65-F5344CB8AC3E}">
        <p14:creationId xmlns:p14="http://schemas.microsoft.com/office/powerpoint/2010/main" val="3066700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4E4C8AF-1BE4-00A2-9BEF-F85C2FDE415E}"/>
              </a:ext>
            </a:extLst>
          </p:cNvPr>
          <p:cNvSpPr>
            <a:spLocks noGrp="1"/>
          </p:cNvSpPr>
          <p:nvPr>
            <p:ph type="title"/>
          </p:nvPr>
        </p:nvSpPr>
        <p:spPr/>
        <p:txBody>
          <a:bodyPr/>
          <a:lstStyle/>
          <a:p>
            <a:r>
              <a:rPr lang="en-US" dirty="0"/>
              <a:t>Alignment with S-100 edition 5.2.1 - 1</a:t>
            </a:r>
            <a:endParaRPr lang="en-GB" dirty="0"/>
          </a:p>
        </p:txBody>
      </p:sp>
      <p:graphicFrame>
        <p:nvGraphicFramePr>
          <p:cNvPr id="5" name="Table 4">
            <a:extLst>
              <a:ext uri="{FF2B5EF4-FFF2-40B4-BE49-F238E27FC236}">
                <a16:creationId xmlns:a16="http://schemas.microsoft.com/office/drawing/2014/main" id="{8B653611-5148-CB8E-9239-6239C9833B99}"/>
              </a:ext>
            </a:extLst>
          </p:cNvPr>
          <p:cNvGraphicFramePr>
            <a:graphicFrameLocks noGrp="1"/>
          </p:cNvGraphicFramePr>
          <p:nvPr>
            <p:extLst>
              <p:ext uri="{D42A27DB-BD31-4B8C-83A1-F6EECF244321}">
                <p14:modId xmlns:p14="http://schemas.microsoft.com/office/powerpoint/2010/main" val="2166800988"/>
              </p:ext>
            </p:extLst>
          </p:nvPr>
        </p:nvGraphicFramePr>
        <p:xfrm>
          <a:off x="965199" y="1030637"/>
          <a:ext cx="10388601" cy="5455920"/>
        </p:xfrm>
        <a:graphic>
          <a:graphicData uri="http://schemas.openxmlformats.org/drawingml/2006/table">
            <a:tbl>
              <a:tblPr firstRow="1" bandRow="1">
                <a:tableStyleId>{5C22544A-7EE6-4342-B048-85BDC9FD1C3A}</a:tableStyleId>
              </a:tblPr>
              <a:tblGrid>
                <a:gridCol w="1504820">
                  <a:extLst>
                    <a:ext uri="{9D8B030D-6E8A-4147-A177-3AD203B41FA5}">
                      <a16:colId xmlns:a16="http://schemas.microsoft.com/office/drawing/2014/main" val="1759216924"/>
                    </a:ext>
                  </a:extLst>
                </a:gridCol>
                <a:gridCol w="5069298">
                  <a:extLst>
                    <a:ext uri="{9D8B030D-6E8A-4147-A177-3AD203B41FA5}">
                      <a16:colId xmlns:a16="http://schemas.microsoft.com/office/drawing/2014/main" val="3322187922"/>
                    </a:ext>
                  </a:extLst>
                </a:gridCol>
                <a:gridCol w="3814483">
                  <a:extLst>
                    <a:ext uri="{9D8B030D-6E8A-4147-A177-3AD203B41FA5}">
                      <a16:colId xmlns:a16="http://schemas.microsoft.com/office/drawing/2014/main" val="460557316"/>
                    </a:ext>
                  </a:extLst>
                </a:gridCol>
              </a:tblGrid>
              <a:tr h="364580">
                <a:tc>
                  <a:txBody>
                    <a:bodyPr/>
                    <a:lstStyle/>
                    <a:p>
                      <a:r>
                        <a:rPr lang="en-US" dirty="0"/>
                        <a:t>Location</a:t>
                      </a:r>
                    </a:p>
                  </a:txBody>
                  <a:tcPr/>
                </a:tc>
                <a:tc>
                  <a:txBody>
                    <a:bodyPr/>
                    <a:lstStyle/>
                    <a:p>
                      <a:r>
                        <a:rPr lang="en-US" dirty="0"/>
                        <a:t>Summary</a:t>
                      </a:r>
                    </a:p>
                  </a:txBody>
                  <a:tcPr/>
                </a:tc>
                <a:tc>
                  <a:txBody>
                    <a:bodyPr/>
                    <a:lstStyle/>
                    <a:p>
                      <a:r>
                        <a:rPr lang="en-US" dirty="0"/>
                        <a:t>Disposition</a:t>
                      </a:r>
                    </a:p>
                  </a:txBody>
                  <a:tcPr/>
                </a:tc>
                <a:extLst>
                  <a:ext uri="{0D108BD9-81ED-4DB2-BD59-A6C34878D82A}">
                    <a16:rowId xmlns:a16="http://schemas.microsoft.com/office/drawing/2014/main" val="1850344486"/>
                  </a:ext>
                </a:extLst>
              </a:tr>
              <a:tr h="370840">
                <a:tc>
                  <a:txBody>
                    <a:bodyPr/>
                    <a:lstStyle/>
                    <a:p>
                      <a:r>
                        <a:rPr lang="en-US" sz="1600" dirty="0"/>
                        <a:t>7-4.2.11.1</a:t>
                      </a:r>
                    </a:p>
                  </a:txBody>
                  <a:tcPr/>
                </a:tc>
                <a:tc>
                  <a:txBody>
                    <a:bodyPr/>
                    <a:lstStyle/>
                    <a:p>
                      <a:r>
                        <a:rPr lang="en-US" sz="1600" dirty="0"/>
                        <a:t>Removed requirement that all geometric primitive must be part of at least one </a:t>
                      </a:r>
                      <a:r>
                        <a:rPr lang="en-US" sz="1600" dirty="0" err="1"/>
                        <a:t>GM_Aggregate</a:t>
                      </a:r>
                      <a:endParaRPr lang="en-US" sz="1600" dirty="0"/>
                    </a:p>
                  </a:txBody>
                  <a:tcPr/>
                </a:tc>
                <a:tc>
                  <a:txBody>
                    <a:bodyPr/>
                    <a:lstStyle/>
                    <a:p>
                      <a:r>
                        <a:rPr lang="en-US" sz="1600" dirty="0"/>
                        <a:t>No effect on VCs, issue was dealt with while preparing 158:100 1.0.0</a:t>
                      </a:r>
                    </a:p>
                  </a:txBody>
                  <a:tcPr/>
                </a:tc>
                <a:extLst>
                  <a:ext uri="{0D108BD9-81ED-4DB2-BD59-A6C34878D82A}">
                    <a16:rowId xmlns:a16="http://schemas.microsoft.com/office/drawing/2014/main" val="2494120333"/>
                  </a:ext>
                </a:extLst>
              </a:tr>
              <a:tr h="370840">
                <a:tc>
                  <a:txBody>
                    <a:bodyPr/>
                    <a:lstStyle/>
                    <a:p>
                      <a:r>
                        <a:rPr lang="en-US" sz="1600" dirty="0"/>
                        <a:t>10a-7-2.1.2</a:t>
                      </a:r>
                    </a:p>
                  </a:txBody>
                  <a:tcPr/>
                </a:tc>
                <a:tc>
                  <a:txBody>
                    <a:bodyPr/>
                    <a:lstStyle/>
                    <a:p>
                      <a:r>
                        <a:rPr lang="en-US" sz="1600" dirty="0"/>
                        <a:t>COCC field update – NCOR = number of tuples following if COUI is Insert or Modify</a:t>
                      </a:r>
                    </a:p>
                  </a:txBody>
                  <a:tcPr/>
                </a:tc>
                <a:tc>
                  <a:txBody>
                    <a:bodyPr/>
                    <a:lstStyle/>
                    <a:p>
                      <a:r>
                        <a:rPr lang="en-US" sz="1600" dirty="0"/>
                        <a:t>Covered by 100_0120</a:t>
                      </a:r>
                    </a:p>
                  </a:txBody>
                  <a:tcPr/>
                </a:tc>
                <a:extLst>
                  <a:ext uri="{0D108BD9-81ED-4DB2-BD59-A6C34878D82A}">
                    <a16:rowId xmlns:a16="http://schemas.microsoft.com/office/drawing/2014/main" val="888408502"/>
                  </a:ext>
                </a:extLst>
              </a:tr>
              <a:tr h="370840">
                <a:tc>
                  <a:txBody>
                    <a:bodyPr/>
                    <a:lstStyle/>
                    <a:p>
                      <a:r>
                        <a:rPr lang="en-US" sz="1600" dirty="0"/>
                        <a:t>10a-7.2.4.2.3</a:t>
                      </a:r>
                    </a:p>
                  </a:txBody>
                  <a:tcPr/>
                </a:tc>
                <a:tc>
                  <a:txBody>
                    <a:bodyPr/>
                    <a:lstStyle/>
                    <a:p>
                      <a:r>
                        <a:rPr lang="en-US" sz="1600" i="0" dirty="0"/>
                        <a:t>SECC field update – NSEG = number of segments in update record if SEUI is Insert or Modify </a:t>
                      </a:r>
                    </a:p>
                  </a:txBody>
                  <a:tcPr/>
                </a:tc>
                <a:tc>
                  <a:txBody>
                    <a:bodyPr/>
                    <a:lstStyle/>
                    <a:p>
                      <a:r>
                        <a:rPr lang="en-US" sz="1600" dirty="0"/>
                        <a:t>100_0138, desc OK but correct message: SECC-SEUI  -&gt; SECC-NSEG</a:t>
                      </a:r>
                    </a:p>
                  </a:txBody>
                  <a:tcPr/>
                </a:tc>
                <a:extLst>
                  <a:ext uri="{0D108BD9-81ED-4DB2-BD59-A6C34878D82A}">
                    <a16:rowId xmlns:a16="http://schemas.microsoft.com/office/drawing/2014/main" val="10758460"/>
                  </a:ext>
                </a:extLst>
              </a:tr>
              <a:tr h="370840">
                <a:tc>
                  <a:txBody>
                    <a:bodyPr/>
                    <a:lstStyle/>
                    <a:p>
                      <a:r>
                        <a:rPr lang="en-US" sz="1600" dirty="0"/>
                        <a:t>10a-7.2.5.2.2</a:t>
                      </a:r>
                    </a:p>
                  </a:txBody>
                  <a:tcPr/>
                </a:tc>
                <a:tc>
                  <a:txBody>
                    <a:bodyPr/>
                    <a:lstStyle/>
                    <a:p>
                      <a:r>
                        <a:rPr lang="en-US" sz="1600" dirty="0"/>
                        <a:t>COCC field update – NCCO = number of curve record pointers if CCUI is Insert or Modify</a:t>
                      </a:r>
                    </a:p>
                  </a:txBody>
                  <a:tcPr/>
                </a:tc>
                <a:tc>
                  <a:txBody>
                    <a:bodyPr/>
                    <a:lstStyle/>
                    <a:p>
                      <a:r>
                        <a:rPr lang="en-US" sz="1600" dirty="0"/>
                        <a:t>100_0142, desc OK but correct message: COCC-CCUI -&gt; COCC-NCCO</a:t>
                      </a:r>
                    </a:p>
                  </a:txBody>
                  <a:tcPr/>
                </a:tc>
                <a:extLst>
                  <a:ext uri="{0D108BD9-81ED-4DB2-BD59-A6C34878D82A}">
                    <a16:rowId xmlns:a16="http://schemas.microsoft.com/office/drawing/2014/main" val="3134141167"/>
                  </a:ext>
                </a:extLst>
              </a:tr>
              <a:tr h="370840">
                <a:tc>
                  <a:txBody>
                    <a:bodyPr/>
                    <a:lstStyle/>
                    <a:p>
                      <a:r>
                        <a:rPr lang="en-US" sz="1600" dirty="0"/>
                        <a:t>Three Part 10a items above</a:t>
                      </a:r>
                    </a:p>
                  </a:txBody>
                  <a:tcPr/>
                </a:tc>
                <a:tc>
                  <a:txBody>
                    <a:bodyPr/>
                    <a:lstStyle/>
                    <a:p>
                      <a:r>
                        <a:rPr lang="en-US" sz="1600" dirty="0"/>
                        <a:t>Typical S-100 language: Number of Curve record pointers to be inserted, </a:t>
                      </a:r>
                      <a:r>
                        <a:rPr lang="en-US" sz="1600" dirty="0">
                          <a:solidFill>
                            <a:srgbClr val="FF0000"/>
                          </a:solidFill>
                        </a:rPr>
                        <a:t>deleted</a:t>
                      </a:r>
                      <a:r>
                        <a:rPr lang="en-US" sz="1600" dirty="0"/>
                        <a:t> or modified</a:t>
                      </a:r>
                    </a:p>
                    <a:p>
                      <a:r>
                        <a:rPr lang="en-US" sz="1600" dirty="0"/>
                        <a:t>If CCUI is Insert(1) or Modify(3) this is the number of Curve record pointers in the CUCO field(s) of the update record</a:t>
                      </a:r>
                    </a:p>
                    <a:p>
                      <a:endParaRPr lang="en-US" sz="1600" dirty="0"/>
                    </a:p>
                    <a:p>
                      <a:r>
                        <a:rPr lang="en-US" sz="1600" dirty="0"/>
                        <a:t>Typical VC: For each CCOC field where CCUI is Equal to 1 (Insert) or 3 (Modify) AND NCCO is Not equal to the number of curve components in the update record.</a:t>
                      </a:r>
                    </a:p>
                  </a:txBody>
                  <a:tcPr/>
                </a:tc>
                <a:tc>
                  <a:txBody>
                    <a:bodyPr/>
                    <a:lstStyle/>
                    <a:p>
                      <a:r>
                        <a:rPr lang="en-US" sz="1600" dirty="0"/>
                        <a:t>S-100 language: Nothing about value of NCCO for deletion (implying actual #).</a:t>
                      </a:r>
                    </a:p>
                    <a:p>
                      <a:r>
                        <a:rPr lang="en-US" sz="1600" dirty="0"/>
                        <a:t>VC: Nothing about deletion.</a:t>
                      </a:r>
                    </a:p>
                    <a:p>
                      <a:r>
                        <a:rPr lang="en-US" sz="1600" dirty="0"/>
                        <a:t>S-100 10c Change Summary is “Amended subfield comments for COCC-NCOR, SECC-NSEG and CCOC-NCCO to </a:t>
                      </a:r>
                      <a:r>
                        <a:rPr lang="en-US" sz="1600" dirty="0" err="1"/>
                        <a:t>recognise</a:t>
                      </a:r>
                      <a:r>
                        <a:rPr lang="en-US" sz="1600" dirty="0"/>
                        <a:t> that for a Delete instruction there should be no items present.”</a:t>
                      </a:r>
                    </a:p>
                    <a:p>
                      <a:endParaRPr lang="en-US" sz="1600" dirty="0"/>
                    </a:p>
                    <a:p>
                      <a:r>
                        <a:rPr lang="en-US" sz="1600" dirty="0">
                          <a:solidFill>
                            <a:schemeClr val="tx1"/>
                          </a:solidFill>
                        </a:rPr>
                        <a:t>New checks and/or S-100 clarification needed </a:t>
                      </a:r>
                      <a:r>
                        <a:rPr lang="en-US" sz="1600" dirty="0" err="1">
                          <a:solidFill>
                            <a:schemeClr val="tx1"/>
                          </a:solidFill>
                        </a:rPr>
                        <a:t>w.r.t.</a:t>
                      </a:r>
                      <a:r>
                        <a:rPr lang="en-US" sz="1600" dirty="0">
                          <a:solidFill>
                            <a:schemeClr val="tx1"/>
                          </a:solidFill>
                        </a:rPr>
                        <a:t> deletion.</a:t>
                      </a:r>
                    </a:p>
                  </a:txBody>
                  <a:tcPr/>
                </a:tc>
                <a:extLst>
                  <a:ext uri="{0D108BD9-81ED-4DB2-BD59-A6C34878D82A}">
                    <a16:rowId xmlns:a16="http://schemas.microsoft.com/office/drawing/2014/main" val="1888240139"/>
                  </a:ext>
                </a:extLst>
              </a:tr>
            </a:tbl>
          </a:graphicData>
        </a:graphic>
      </p:graphicFrame>
      <p:sp>
        <p:nvSpPr>
          <p:cNvPr id="8" name="Star: 5 Points 7">
            <a:extLst>
              <a:ext uri="{FF2B5EF4-FFF2-40B4-BE49-F238E27FC236}">
                <a16:creationId xmlns:a16="http://schemas.microsoft.com/office/drawing/2014/main" id="{E01ADD4C-FE64-DEDC-B4F4-71F17D93A9BB}"/>
              </a:ext>
            </a:extLst>
          </p:cNvPr>
          <p:cNvSpPr/>
          <p:nvPr/>
        </p:nvSpPr>
        <p:spPr>
          <a:xfrm>
            <a:off x="183827" y="4557322"/>
            <a:ext cx="654373" cy="58985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Star: 5 Points 9">
            <a:extLst>
              <a:ext uri="{FF2B5EF4-FFF2-40B4-BE49-F238E27FC236}">
                <a16:creationId xmlns:a16="http://schemas.microsoft.com/office/drawing/2014/main" id="{E0603A5D-0B3B-E31B-3D0A-492746506AC7}"/>
              </a:ext>
            </a:extLst>
          </p:cNvPr>
          <p:cNvSpPr/>
          <p:nvPr/>
        </p:nvSpPr>
        <p:spPr>
          <a:xfrm>
            <a:off x="183827" y="2511546"/>
            <a:ext cx="654373" cy="58985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Star: 5 Points 11">
            <a:extLst>
              <a:ext uri="{FF2B5EF4-FFF2-40B4-BE49-F238E27FC236}">
                <a16:creationId xmlns:a16="http://schemas.microsoft.com/office/drawing/2014/main" id="{80C30457-A153-A530-BDD4-18AB6B2A2EA6}"/>
              </a:ext>
            </a:extLst>
          </p:cNvPr>
          <p:cNvSpPr/>
          <p:nvPr/>
        </p:nvSpPr>
        <p:spPr>
          <a:xfrm>
            <a:off x="183826" y="3134071"/>
            <a:ext cx="654373" cy="58985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5041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3C44EE-B3EB-1CE3-36FF-6098B4625CD4}"/>
              </a:ext>
            </a:extLst>
          </p:cNvPr>
          <p:cNvSpPr>
            <a:spLocks noGrp="1"/>
          </p:cNvSpPr>
          <p:nvPr>
            <p:ph type="title"/>
          </p:nvPr>
        </p:nvSpPr>
        <p:spPr/>
        <p:txBody>
          <a:bodyPr/>
          <a:lstStyle/>
          <a:p>
            <a:r>
              <a:rPr lang="en-US" dirty="0"/>
              <a:t>Alignment with S-100 edition 5.2.1 - 2</a:t>
            </a:r>
            <a:endParaRPr lang="en-GB" dirty="0"/>
          </a:p>
        </p:txBody>
      </p:sp>
      <p:graphicFrame>
        <p:nvGraphicFramePr>
          <p:cNvPr id="5" name="Table 4">
            <a:extLst>
              <a:ext uri="{FF2B5EF4-FFF2-40B4-BE49-F238E27FC236}">
                <a16:creationId xmlns:a16="http://schemas.microsoft.com/office/drawing/2014/main" id="{32E3D31C-DAA1-58F5-3212-231639F81CE2}"/>
              </a:ext>
            </a:extLst>
          </p:cNvPr>
          <p:cNvGraphicFramePr>
            <a:graphicFrameLocks noGrp="1"/>
          </p:cNvGraphicFramePr>
          <p:nvPr>
            <p:extLst>
              <p:ext uri="{D42A27DB-BD31-4B8C-83A1-F6EECF244321}">
                <p14:modId xmlns:p14="http://schemas.microsoft.com/office/powerpoint/2010/main" val="1521195342"/>
              </p:ext>
            </p:extLst>
          </p:nvPr>
        </p:nvGraphicFramePr>
        <p:xfrm>
          <a:off x="965200" y="961714"/>
          <a:ext cx="10388601" cy="5562600"/>
        </p:xfrm>
        <a:graphic>
          <a:graphicData uri="http://schemas.openxmlformats.org/drawingml/2006/table">
            <a:tbl>
              <a:tblPr firstRow="1" bandRow="1">
                <a:tableStyleId>{5C22544A-7EE6-4342-B048-85BDC9FD1C3A}</a:tableStyleId>
              </a:tblPr>
              <a:tblGrid>
                <a:gridCol w="1504820">
                  <a:extLst>
                    <a:ext uri="{9D8B030D-6E8A-4147-A177-3AD203B41FA5}">
                      <a16:colId xmlns:a16="http://schemas.microsoft.com/office/drawing/2014/main" val="1759216924"/>
                    </a:ext>
                  </a:extLst>
                </a:gridCol>
                <a:gridCol w="4854145">
                  <a:extLst>
                    <a:ext uri="{9D8B030D-6E8A-4147-A177-3AD203B41FA5}">
                      <a16:colId xmlns:a16="http://schemas.microsoft.com/office/drawing/2014/main" val="3322187922"/>
                    </a:ext>
                  </a:extLst>
                </a:gridCol>
                <a:gridCol w="4029636">
                  <a:extLst>
                    <a:ext uri="{9D8B030D-6E8A-4147-A177-3AD203B41FA5}">
                      <a16:colId xmlns:a16="http://schemas.microsoft.com/office/drawing/2014/main" val="460557316"/>
                    </a:ext>
                  </a:extLst>
                </a:gridCol>
              </a:tblGrid>
              <a:tr h="370840">
                <a:tc>
                  <a:txBody>
                    <a:bodyPr/>
                    <a:lstStyle/>
                    <a:p>
                      <a:r>
                        <a:rPr lang="en-US" dirty="0"/>
                        <a:t>Location</a:t>
                      </a:r>
                    </a:p>
                  </a:txBody>
                  <a:tcPr/>
                </a:tc>
                <a:tc>
                  <a:txBody>
                    <a:bodyPr/>
                    <a:lstStyle/>
                    <a:p>
                      <a:r>
                        <a:rPr lang="en-US" dirty="0"/>
                        <a:t>Summary</a:t>
                      </a:r>
                    </a:p>
                  </a:txBody>
                  <a:tcPr/>
                </a:tc>
                <a:tc>
                  <a:txBody>
                    <a:bodyPr/>
                    <a:lstStyle/>
                    <a:p>
                      <a:r>
                        <a:rPr lang="en-US" dirty="0"/>
                        <a:t>Disposition</a:t>
                      </a:r>
                    </a:p>
                  </a:txBody>
                  <a:tcPr/>
                </a:tc>
                <a:extLst>
                  <a:ext uri="{0D108BD9-81ED-4DB2-BD59-A6C34878D82A}">
                    <a16:rowId xmlns:a16="http://schemas.microsoft.com/office/drawing/2014/main" val="1850344486"/>
                  </a:ext>
                </a:extLst>
              </a:tr>
              <a:tr h="370840">
                <a:tc>
                  <a:txBody>
                    <a:bodyPr/>
                    <a:lstStyle/>
                    <a:p>
                      <a:r>
                        <a:rPr lang="en-US" sz="1600" dirty="0"/>
                        <a:t>10b-7</a:t>
                      </a:r>
                    </a:p>
                  </a:txBody>
                  <a:tcPr/>
                </a:tc>
                <a:tc>
                  <a:txBody>
                    <a:bodyPr/>
                    <a:lstStyle/>
                    <a:p>
                      <a:r>
                        <a:rPr lang="en-US" sz="1600" dirty="0"/>
                        <a:t>Extension for GML datasets must be .GML</a:t>
                      </a:r>
                    </a:p>
                  </a:txBody>
                  <a:tcPr/>
                </a:tc>
                <a:tc>
                  <a:txBody>
                    <a:bodyPr/>
                    <a:lstStyle/>
                    <a:p>
                      <a:r>
                        <a:rPr lang="en-US" sz="1600" dirty="0"/>
                        <a:t>New check</a:t>
                      </a:r>
                    </a:p>
                    <a:p>
                      <a:r>
                        <a:rPr lang="en-US" sz="1600" dirty="0"/>
                        <a:t>NB: Parts 10a &amp; 10c don’t have equivalent requirements; instead, the product specifications do.</a:t>
                      </a:r>
                    </a:p>
                  </a:txBody>
                  <a:tcPr/>
                </a:tc>
                <a:extLst>
                  <a:ext uri="{0D108BD9-81ED-4DB2-BD59-A6C34878D82A}">
                    <a16:rowId xmlns:a16="http://schemas.microsoft.com/office/drawing/2014/main" val="2494120333"/>
                  </a:ext>
                </a:extLst>
              </a:tr>
              <a:tr h="370840">
                <a:tc>
                  <a:txBody>
                    <a:bodyPr/>
                    <a:lstStyle/>
                    <a:p>
                      <a:r>
                        <a:rPr lang="en-US" sz="1600" dirty="0"/>
                        <a:t>10b-8.4</a:t>
                      </a:r>
                    </a:p>
                  </a:txBody>
                  <a:tcPr/>
                </a:tc>
                <a:tc>
                  <a:txBody>
                    <a:bodyPr/>
                    <a:lstStyle/>
                    <a:p>
                      <a:r>
                        <a:rPr lang="en-US" sz="1600" dirty="0"/>
                        <a:t>Encoding associations by reference is no longer allowed.</a:t>
                      </a:r>
                    </a:p>
                  </a:txBody>
                  <a:tcPr/>
                </a:tc>
                <a:tc>
                  <a:txBody>
                    <a:bodyPr/>
                    <a:lstStyle/>
                    <a:p>
                      <a:r>
                        <a:rPr lang="en-US" sz="1600" dirty="0"/>
                        <a:t>No action for VC, PS requirement.</a:t>
                      </a:r>
                    </a:p>
                  </a:txBody>
                  <a:tcPr/>
                </a:tc>
                <a:extLst>
                  <a:ext uri="{0D108BD9-81ED-4DB2-BD59-A6C34878D82A}">
                    <a16:rowId xmlns:a16="http://schemas.microsoft.com/office/drawing/2014/main" val="888408502"/>
                  </a:ext>
                </a:extLst>
              </a:tr>
              <a:tr h="370840">
                <a:tc>
                  <a:txBody>
                    <a:bodyPr/>
                    <a:lstStyle/>
                    <a:p>
                      <a:r>
                        <a:rPr lang="en-US" sz="1600" dirty="0"/>
                        <a:t>10b-8.4</a:t>
                      </a:r>
                    </a:p>
                  </a:txBody>
                  <a:tcPr/>
                </a:tc>
                <a:tc>
                  <a:txBody>
                    <a:bodyPr/>
                    <a:lstStyle/>
                    <a:p>
                      <a:r>
                        <a:rPr lang="en-US" sz="1600" i="0" dirty="0"/>
                        <a:t>Deleted “Bidirectional encoding allowed by means of encoding reverse property name in </a:t>
                      </a:r>
                      <a:r>
                        <a:rPr lang="en-US" sz="1600" i="1" dirty="0" err="1"/>
                        <a:t>appInfo</a:t>
                      </a:r>
                      <a:r>
                        <a:rPr lang="en-US" sz="1600" i="0" dirty="0"/>
                        <a:t> element.”</a:t>
                      </a:r>
                    </a:p>
                  </a:txBody>
                  <a:tcPr/>
                </a:tc>
                <a:tc>
                  <a:txBody>
                    <a:bodyPr/>
                    <a:lstStyle/>
                    <a:p>
                      <a:r>
                        <a:rPr lang="en-US" sz="1600" dirty="0"/>
                        <a:t>No action for VC. Concerns GML schema, i.e. PS package.</a:t>
                      </a:r>
                    </a:p>
                  </a:txBody>
                  <a:tcPr/>
                </a:tc>
                <a:extLst>
                  <a:ext uri="{0D108BD9-81ED-4DB2-BD59-A6C34878D82A}">
                    <a16:rowId xmlns:a16="http://schemas.microsoft.com/office/drawing/2014/main" val="10758460"/>
                  </a:ext>
                </a:extLst>
              </a:tr>
              <a:tr h="370840">
                <a:tc>
                  <a:txBody>
                    <a:bodyPr/>
                    <a:lstStyle/>
                    <a:p>
                      <a:r>
                        <a:rPr lang="en-US" sz="1600" dirty="0"/>
                        <a:t>10b-8.4.1</a:t>
                      </a:r>
                    </a:p>
                  </a:txBody>
                  <a:tcPr/>
                </a:tc>
                <a:tc>
                  <a:txBody>
                    <a:bodyPr/>
                    <a:lstStyle/>
                    <a:p>
                      <a:r>
                        <a:rPr lang="en-US" sz="1600" dirty="0"/>
                        <a:t>Intermediate class name for association class encoding</a:t>
                      </a:r>
                    </a:p>
                  </a:txBody>
                  <a:tcPr/>
                </a:tc>
                <a:tc>
                  <a:txBody>
                    <a:bodyPr/>
                    <a:lstStyle/>
                    <a:p>
                      <a:r>
                        <a:rPr lang="en-US" sz="1600" dirty="0"/>
                        <a:t>No action for VC, concerns GML schema, i.e., PS package.</a:t>
                      </a:r>
                    </a:p>
                  </a:txBody>
                  <a:tcPr/>
                </a:tc>
                <a:extLst>
                  <a:ext uri="{0D108BD9-81ED-4DB2-BD59-A6C34878D82A}">
                    <a16:rowId xmlns:a16="http://schemas.microsoft.com/office/drawing/2014/main" val="3134141167"/>
                  </a:ext>
                </a:extLst>
              </a:tr>
              <a:tr h="370840">
                <a:tc>
                  <a:txBody>
                    <a:bodyPr/>
                    <a:lstStyle/>
                    <a:p>
                      <a:r>
                        <a:rPr lang="en-US" sz="1600" dirty="0"/>
                        <a:t>10b-9</a:t>
                      </a:r>
                    </a:p>
                  </a:txBody>
                  <a:tcPr/>
                </a:tc>
                <a:tc>
                  <a:txBody>
                    <a:bodyPr/>
                    <a:lstStyle/>
                    <a:p>
                      <a:r>
                        <a:rPr lang="en-US" sz="1600" dirty="0"/>
                        <a:t>Ordering of (inherited) elements in GML schema</a:t>
                      </a:r>
                    </a:p>
                  </a:txBody>
                  <a:tcPr/>
                </a:tc>
                <a:tc>
                  <a:txBody>
                    <a:bodyPr/>
                    <a:lstStyle/>
                    <a:p>
                      <a:r>
                        <a:rPr lang="en-US" sz="1600" dirty="0"/>
                        <a:t>No action for VC, concerns GML schema, i.e., PS package.</a:t>
                      </a:r>
                    </a:p>
                  </a:txBody>
                  <a:tcPr/>
                </a:tc>
                <a:extLst>
                  <a:ext uri="{0D108BD9-81ED-4DB2-BD59-A6C34878D82A}">
                    <a16:rowId xmlns:a16="http://schemas.microsoft.com/office/drawing/2014/main" val="1888240139"/>
                  </a:ext>
                </a:extLst>
              </a:tr>
              <a:tr h="370840">
                <a:tc>
                  <a:txBody>
                    <a:bodyPr/>
                    <a:lstStyle/>
                    <a:p>
                      <a:r>
                        <a:rPr lang="en-US" sz="1600" dirty="0"/>
                        <a:t>10b-9, 10b-11.4</a:t>
                      </a:r>
                    </a:p>
                  </a:txBody>
                  <a:tcPr/>
                </a:tc>
                <a:tc>
                  <a:txBody>
                    <a:bodyPr/>
                    <a:lstStyle/>
                    <a:p>
                      <a:r>
                        <a:rPr lang="en-US" sz="1600" dirty="0"/>
                        <a:t>Use of </a:t>
                      </a:r>
                      <a:r>
                        <a:rPr lang="en-US" sz="1600" dirty="0" err="1"/>
                        <a:t>xlink:title</a:t>
                      </a:r>
                      <a:endParaRPr lang="en-US" sz="1600" dirty="0"/>
                    </a:p>
                  </a:txBody>
                  <a:tcPr/>
                </a:tc>
                <a:tc>
                  <a:txBody>
                    <a:bodyPr/>
                    <a:lstStyle/>
                    <a:p>
                      <a:r>
                        <a:rPr lang="en-US" sz="1600" dirty="0"/>
                        <a:t>Already in S-158:100, 100_0175, 100_0176</a:t>
                      </a:r>
                    </a:p>
                  </a:txBody>
                  <a:tcPr/>
                </a:tc>
                <a:extLst>
                  <a:ext uri="{0D108BD9-81ED-4DB2-BD59-A6C34878D82A}">
                    <a16:rowId xmlns:a16="http://schemas.microsoft.com/office/drawing/2014/main" val="795366379"/>
                  </a:ext>
                </a:extLst>
              </a:tr>
              <a:tr h="370840">
                <a:tc>
                  <a:txBody>
                    <a:bodyPr/>
                    <a:lstStyle/>
                    <a:p>
                      <a:r>
                        <a:rPr lang="en-US" sz="1600" dirty="0"/>
                        <a:t>10b-9.1</a:t>
                      </a:r>
                    </a:p>
                  </a:txBody>
                  <a:tcPr/>
                </a:tc>
                <a:tc>
                  <a:txBody>
                    <a:bodyPr/>
                    <a:lstStyle/>
                    <a:p>
                      <a:r>
                        <a:rPr lang="en-US" sz="1600" dirty="0"/>
                        <a:t>Position data must use &lt;pos&gt; or &lt;</a:t>
                      </a:r>
                      <a:r>
                        <a:rPr lang="en-US" sz="1600" dirty="0" err="1"/>
                        <a:t>posList</a:t>
                      </a:r>
                      <a:r>
                        <a:rPr lang="en-US" sz="1600" dirty="0"/>
                        <a:t>&gt;</a:t>
                      </a:r>
                    </a:p>
                    <a:p>
                      <a:endParaRPr lang="en-US" sz="1600" dirty="0"/>
                    </a:p>
                  </a:txBody>
                  <a:tcPr/>
                </a:tc>
                <a:tc>
                  <a:txBody>
                    <a:bodyPr/>
                    <a:lstStyle/>
                    <a:p>
                      <a:r>
                        <a:rPr lang="en-US" sz="1600" dirty="0"/>
                        <a:t>Enforced by S-100 GML profile, which has never allowed the </a:t>
                      </a:r>
                      <a:r>
                        <a:rPr lang="en-US" sz="1600" i="1" dirty="0"/>
                        <a:t>&lt;coordinates&gt;</a:t>
                      </a:r>
                      <a:r>
                        <a:rPr lang="en-US" sz="1600" dirty="0"/>
                        <a:t> element.</a:t>
                      </a:r>
                    </a:p>
                    <a:p>
                      <a:r>
                        <a:rPr lang="en-US" sz="1600" dirty="0"/>
                        <a:t>New check to permit only &lt;</a:t>
                      </a:r>
                      <a:r>
                        <a:rPr lang="en-US" sz="1600" i="1" dirty="0" err="1"/>
                        <a:t>posList</a:t>
                      </a:r>
                      <a:r>
                        <a:rPr lang="en-US" sz="1600" i="1" dirty="0"/>
                        <a:t>&gt; (not &lt;pos&gt;)</a:t>
                      </a:r>
                      <a:r>
                        <a:rPr lang="en-US" sz="1600" dirty="0"/>
                        <a:t> for curves and surface boundaries.</a:t>
                      </a:r>
                    </a:p>
                  </a:txBody>
                  <a:tcPr/>
                </a:tc>
                <a:extLst>
                  <a:ext uri="{0D108BD9-81ED-4DB2-BD59-A6C34878D82A}">
                    <a16:rowId xmlns:a16="http://schemas.microsoft.com/office/drawing/2014/main" val="1927980498"/>
                  </a:ext>
                </a:extLst>
              </a:tr>
              <a:tr h="370840">
                <a:tc>
                  <a:txBody>
                    <a:bodyPr/>
                    <a:lstStyle/>
                    <a:p>
                      <a:r>
                        <a:rPr lang="en-US" sz="1600" dirty="0"/>
                        <a:t>10b-11.1.1</a:t>
                      </a:r>
                    </a:p>
                  </a:txBody>
                  <a:tcPr/>
                </a:tc>
                <a:tc>
                  <a:txBody>
                    <a:bodyPr/>
                    <a:lstStyle/>
                    <a:p>
                      <a:r>
                        <a:rPr lang="en-US" sz="1600" dirty="0"/>
                        <a:t>Guidance for use of </a:t>
                      </a:r>
                      <a:r>
                        <a:rPr lang="en-US" sz="1600" dirty="0" err="1"/>
                        <a:t>schemaLocation</a:t>
                      </a:r>
                      <a:r>
                        <a:rPr lang="en-US" sz="1600" dirty="0"/>
                        <a:t> and Schematron rule, recommends Schematron validation check in PS</a:t>
                      </a:r>
                    </a:p>
                  </a:txBody>
                  <a:tcPr/>
                </a:tc>
                <a:tc>
                  <a:txBody>
                    <a:bodyPr/>
                    <a:lstStyle/>
                    <a:p>
                      <a:r>
                        <a:rPr lang="en-US" sz="1600" dirty="0"/>
                        <a:t>New </a:t>
                      </a:r>
                      <a:r>
                        <a:rPr lang="en-US" sz="1600" b="1" dirty="0"/>
                        <a:t>S-158:1xx</a:t>
                      </a:r>
                      <a:r>
                        <a:rPr lang="en-US" sz="1600" dirty="0"/>
                        <a:t> check(s), W since S-100 “recommends” it for Product Specifications.</a:t>
                      </a:r>
                    </a:p>
                  </a:txBody>
                  <a:tcPr/>
                </a:tc>
                <a:extLst>
                  <a:ext uri="{0D108BD9-81ED-4DB2-BD59-A6C34878D82A}">
                    <a16:rowId xmlns:a16="http://schemas.microsoft.com/office/drawing/2014/main" val="1387976259"/>
                  </a:ext>
                </a:extLst>
              </a:tr>
            </a:tbl>
          </a:graphicData>
        </a:graphic>
      </p:graphicFrame>
      <p:sp>
        <p:nvSpPr>
          <p:cNvPr id="9" name="Star: 5 Points 8">
            <a:extLst>
              <a:ext uri="{FF2B5EF4-FFF2-40B4-BE49-F238E27FC236}">
                <a16:creationId xmlns:a16="http://schemas.microsoft.com/office/drawing/2014/main" id="{703663A9-8E5C-A458-A050-1F651BA8AD82}"/>
              </a:ext>
            </a:extLst>
          </p:cNvPr>
          <p:cNvSpPr/>
          <p:nvPr/>
        </p:nvSpPr>
        <p:spPr>
          <a:xfrm>
            <a:off x="183824" y="5872464"/>
            <a:ext cx="654373" cy="58985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Star: 5 Points 10">
            <a:extLst>
              <a:ext uri="{FF2B5EF4-FFF2-40B4-BE49-F238E27FC236}">
                <a16:creationId xmlns:a16="http://schemas.microsoft.com/office/drawing/2014/main" id="{29F07A00-147B-9CE7-6122-51B7850E70FB}"/>
              </a:ext>
            </a:extLst>
          </p:cNvPr>
          <p:cNvSpPr/>
          <p:nvPr/>
        </p:nvSpPr>
        <p:spPr>
          <a:xfrm>
            <a:off x="183826" y="1620393"/>
            <a:ext cx="654373" cy="58985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Star: 5 Points 12">
            <a:extLst>
              <a:ext uri="{FF2B5EF4-FFF2-40B4-BE49-F238E27FC236}">
                <a16:creationId xmlns:a16="http://schemas.microsoft.com/office/drawing/2014/main" id="{36FC1BED-7008-2086-3ACD-156127A3071B}"/>
              </a:ext>
            </a:extLst>
          </p:cNvPr>
          <p:cNvSpPr/>
          <p:nvPr/>
        </p:nvSpPr>
        <p:spPr>
          <a:xfrm>
            <a:off x="183825" y="4942678"/>
            <a:ext cx="654373" cy="58985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43979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00B3F4-1576-131D-172D-D50DCEF350F7}"/>
              </a:ext>
            </a:extLst>
          </p:cNvPr>
          <p:cNvSpPr>
            <a:spLocks noGrp="1"/>
          </p:cNvSpPr>
          <p:nvPr>
            <p:ph type="title"/>
          </p:nvPr>
        </p:nvSpPr>
        <p:spPr/>
        <p:txBody>
          <a:bodyPr/>
          <a:lstStyle/>
          <a:p>
            <a:r>
              <a:rPr lang="en-US" dirty="0"/>
              <a:t>Alignment with S-100 edition 5.2.1 - 3</a:t>
            </a:r>
            <a:endParaRPr lang="en-GB" dirty="0"/>
          </a:p>
        </p:txBody>
      </p:sp>
      <p:graphicFrame>
        <p:nvGraphicFramePr>
          <p:cNvPr id="5" name="Table 4">
            <a:extLst>
              <a:ext uri="{FF2B5EF4-FFF2-40B4-BE49-F238E27FC236}">
                <a16:creationId xmlns:a16="http://schemas.microsoft.com/office/drawing/2014/main" id="{B9B8700C-7BD2-C581-AAE9-3860E406D5FA}"/>
              </a:ext>
            </a:extLst>
          </p:cNvPr>
          <p:cNvGraphicFramePr>
            <a:graphicFrameLocks noGrp="1"/>
          </p:cNvGraphicFramePr>
          <p:nvPr>
            <p:extLst>
              <p:ext uri="{D42A27DB-BD31-4B8C-83A1-F6EECF244321}">
                <p14:modId xmlns:p14="http://schemas.microsoft.com/office/powerpoint/2010/main" val="229108840"/>
              </p:ext>
            </p:extLst>
          </p:nvPr>
        </p:nvGraphicFramePr>
        <p:xfrm>
          <a:off x="965200" y="961714"/>
          <a:ext cx="10388601" cy="5318760"/>
        </p:xfrm>
        <a:graphic>
          <a:graphicData uri="http://schemas.openxmlformats.org/drawingml/2006/table">
            <a:tbl>
              <a:tblPr firstRow="1" bandRow="1">
                <a:tableStyleId>{5C22544A-7EE6-4342-B048-85BDC9FD1C3A}</a:tableStyleId>
              </a:tblPr>
              <a:tblGrid>
                <a:gridCol w="1311835">
                  <a:extLst>
                    <a:ext uri="{9D8B030D-6E8A-4147-A177-3AD203B41FA5}">
                      <a16:colId xmlns:a16="http://schemas.microsoft.com/office/drawing/2014/main" val="1759216924"/>
                    </a:ext>
                  </a:extLst>
                </a:gridCol>
                <a:gridCol w="4742330">
                  <a:extLst>
                    <a:ext uri="{9D8B030D-6E8A-4147-A177-3AD203B41FA5}">
                      <a16:colId xmlns:a16="http://schemas.microsoft.com/office/drawing/2014/main" val="3322187922"/>
                    </a:ext>
                  </a:extLst>
                </a:gridCol>
                <a:gridCol w="4334436">
                  <a:extLst>
                    <a:ext uri="{9D8B030D-6E8A-4147-A177-3AD203B41FA5}">
                      <a16:colId xmlns:a16="http://schemas.microsoft.com/office/drawing/2014/main" val="460557316"/>
                    </a:ext>
                  </a:extLst>
                </a:gridCol>
              </a:tblGrid>
              <a:tr h="370840">
                <a:tc>
                  <a:txBody>
                    <a:bodyPr/>
                    <a:lstStyle/>
                    <a:p>
                      <a:r>
                        <a:rPr lang="en-US" dirty="0"/>
                        <a:t>Location</a:t>
                      </a:r>
                    </a:p>
                  </a:txBody>
                  <a:tcPr/>
                </a:tc>
                <a:tc>
                  <a:txBody>
                    <a:bodyPr/>
                    <a:lstStyle/>
                    <a:p>
                      <a:r>
                        <a:rPr lang="en-US" dirty="0"/>
                        <a:t>Summary</a:t>
                      </a:r>
                    </a:p>
                  </a:txBody>
                  <a:tcPr/>
                </a:tc>
                <a:tc>
                  <a:txBody>
                    <a:bodyPr/>
                    <a:lstStyle/>
                    <a:p>
                      <a:r>
                        <a:rPr lang="en-US" dirty="0"/>
                        <a:t>Disposition</a:t>
                      </a:r>
                    </a:p>
                  </a:txBody>
                  <a:tcPr/>
                </a:tc>
                <a:extLst>
                  <a:ext uri="{0D108BD9-81ED-4DB2-BD59-A6C34878D82A}">
                    <a16:rowId xmlns:a16="http://schemas.microsoft.com/office/drawing/2014/main" val="1850344486"/>
                  </a:ext>
                </a:extLst>
              </a:tr>
              <a:tr h="370840">
                <a:tc>
                  <a:txBody>
                    <a:bodyPr/>
                    <a:lstStyle/>
                    <a:p>
                      <a:r>
                        <a:rPr lang="en-US" sz="1600" dirty="0"/>
                        <a:t>10b-11.4</a:t>
                      </a:r>
                    </a:p>
                  </a:txBody>
                  <a:tcPr/>
                </a:tc>
                <a:tc>
                  <a:txBody>
                    <a:bodyPr/>
                    <a:lstStyle/>
                    <a:p>
                      <a:r>
                        <a:rPr lang="en-US" sz="1600" dirty="0"/>
                        <a:t>Information association on spatial type must have </a:t>
                      </a:r>
                      <a:r>
                        <a:rPr lang="en-US" sz="1600" i="1" dirty="0" err="1"/>
                        <a:t>arcrole</a:t>
                      </a:r>
                      <a:endParaRPr lang="en-US" sz="1600" i="1" dirty="0"/>
                    </a:p>
                  </a:txBody>
                  <a:tcPr/>
                </a:tc>
                <a:tc>
                  <a:txBody>
                    <a:bodyPr/>
                    <a:lstStyle/>
                    <a:p>
                      <a:r>
                        <a:rPr lang="en-US" sz="1600" dirty="0"/>
                        <a:t>Amend 100_0177 to include reqd. format for value of </a:t>
                      </a:r>
                      <a:r>
                        <a:rPr lang="en-US" sz="1600" i="1" dirty="0" err="1"/>
                        <a:t>arcrole</a:t>
                      </a:r>
                      <a:r>
                        <a:rPr lang="en-US" sz="1600" dirty="0"/>
                        <a:t> (or add new check).</a:t>
                      </a:r>
                    </a:p>
                  </a:txBody>
                  <a:tcPr/>
                </a:tc>
                <a:extLst>
                  <a:ext uri="{0D108BD9-81ED-4DB2-BD59-A6C34878D82A}">
                    <a16:rowId xmlns:a16="http://schemas.microsoft.com/office/drawing/2014/main" val="2494120333"/>
                  </a:ext>
                </a:extLst>
              </a:tr>
              <a:tr h="370840">
                <a:tc>
                  <a:txBody>
                    <a:bodyPr/>
                    <a:lstStyle/>
                    <a:p>
                      <a:r>
                        <a:rPr lang="en-US" sz="1600" dirty="0"/>
                        <a:t>10b-11.6.1</a:t>
                      </a:r>
                    </a:p>
                  </a:txBody>
                  <a:tcPr/>
                </a:tc>
                <a:tc>
                  <a:txBody>
                    <a:bodyPr/>
                    <a:lstStyle/>
                    <a:p>
                      <a:r>
                        <a:rPr lang="en-US" sz="1600" dirty="0" err="1"/>
                        <a:t>updateNumber</a:t>
                      </a:r>
                      <a:r>
                        <a:rPr lang="en-US" sz="1600" dirty="0"/>
                        <a:t> in dataset identification header must be </a:t>
                      </a:r>
                      <a:r>
                        <a:rPr lang="en-US" sz="1600" dirty="0">
                          <a:latin typeface="Arial" panose="020B0604020202020204" pitchFamily="34" charset="0"/>
                          <a:cs typeface="Arial" panose="020B0604020202020204" pitchFamily="34" charset="0"/>
                        </a:rPr>
                        <a:t>≥</a:t>
                      </a:r>
                      <a:r>
                        <a:rPr lang="en-US" sz="1600" dirty="0"/>
                        <a:t> 0</a:t>
                      </a:r>
                    </a:p>
                  </a:txBody>
                  <a:tcPr/>
                </a:tc>
                <a:tc>
                  <a:txBody>
                    <a:bodyPr/>
                    <a:lstStyle/>
                    <a:p>
                      <a:r>
                        <a:rPr lang="en-US" sz="1600" dirty="0"/>
                        <a:t>No action for VCs, GML profile enforces it</a:t>
                      </a:r>
                    </a:p>
                  </a:txBody>
                  <a:tcPr/>
                </a:tc>
                <a:extLst>
                  <a:ext uri="{0D108BD9-81ED-4DB2-BD59-A6C34878D82A}">
                    <a16:rowId xmlns:a16="http://schemas.microsoft.com/office/drawing/2014/main" val="888408502"/>
                  </a:ext>
                </a:extLst>
              </a:tr>
              <a:tr h="370840">
                <a:tc>
                  <a:txBody>
                    <a:bodyPr/>
                    <a:lstStyle/>
                    <a:p>
                      <a:r>
                        <a:rPr lang="en-US" sz="1600" dirty="0"/>
                        <a:t>10b-11.7</a:t>
                      </a:r>
                    </a:p>
                  </a:txBody>
                  <a:tcPr/>
                </a:tc>
                <a:tc>
                  <a:txBody>
                    <a:bodyPr/>
                    <a:lstStyle/>
                    <a:p>
                      <a:r>
                        <a:rPr lang="en-US" sz="1600" i="0" dirty="0"/>
                        <a:t>Coordinate order must be as per the CRS</a:t>
                      </a:r>
                    </a:p>
                  </a:txBody>
                  <a:tcPr/>
                </a:tc>
                <a:tc>
                  <a:txBody>
                    <a:bodyPr/>
                    <a:lstStyle/>
                    <a:p>
                      <a:r>
                        <a:rPr lang="en-US" sz="1600" dirty="0"/>
                        <a:t>New VC. Not clear a software check can be fully specified for this requirement, some cases may need visual inspection or heuristics.</a:t>
                      </a:r>
                    </a:p>
                  </a:txBody>
                  <a:tcPr/>
                </a:tc>
                <a:extLst>
                  <a:ext uri="{0D108BD9-81ED-4DB2-BD59-A6C34878D82A}">
                    <a16:rowId xmlns:a16="http://schemas.microsoft.com/office/drawing/2014/main" val="10758460"/>
                  </a:ext>
                </a:extLst>
              </a:tr>
              <a:tr h="370840">
                <a:tc>
                  <a:txBody>
                    <a:bodyPr/>
                    <a:lstStyle/>
                    <a:p>
                      <a:r>
                        <a:rPr lang="en-US" sz="1600" dirty="0"/>
                        <a:t>10b-14</a:t>
                      </a:r>
                    </a:p>
                  </a:txBody>
                  <a:tcPr/>
                </a:tc>
                <a:tc>
                  <a:txBody>
                    <a:bodyPr/>
                    <a:lstStyle/>
                    <a:p>
                      <a:r>
                        <a:rPr lang="en-US" sz="1600" i="0" dirty="0"/>
                        <a:t>Schema availability</a:t>
                      </a:r>
                    </a:p>
                  </a:txBody>
                  <a:tcPr/>
                </a:tc>
                <a:tc>
                  <a:txBody>
                    <a:bodyPr/>
                    <a:lstStyle/>
                    <a:p>
                      <a:r>
                        <a:rPr lang="en-US" sz="1600" dirty="0"/>
                        <a:t>Procedural requirement, no action for VCs</a:t>
                      </a:r>
                    </a:p>
                  </a:txBody>
                  <a:tcPr/>
                </a:tc>
                <a:extLst>
                  <a:ext uri="{0D108BD9-81ED-4DB2-BD59-A6C34878D82A}">
                    <a16:rowId xmlns:a16="http://schemas.microsoft.com/office/drawing/2014/main" val="2915103140"/>
                  </a:ext>
                </a:extLst>
              </a:tr>
              <a:tr h="370840">
                <a:tc>
                  <a:txBody>
                    <a:bodyPr/>
                    <a:lstStyle/>
                    <a:p>
                      <a:r>
                        <a:rPr lang="en-US" sz="1600" dirty="0"/>
                        <a:t>10c-9-5</a:t>
                      </a:r>
                    </a:p>
                  </a:txBody>
                  <a:tcPr/>
                </a:tc>
                <a:tc>
                  <a:txBody>
                    <a:bodyPr/>
                    <a:lstStyle/>
                    <a:p>
                      <a:r>
                        <a:rPr lang="en-US" sz="1600" dirty="0"/>
                        <a:t>Optional attributes not used in dataset need not be encoded in </a:t>
                      </a:r>
                      <a:r>
                        <a:rPr lang="en-US" sz="1600" dirty="0" err="1"/>
                        <a:t>Group_F</a:t>
                      </a:r>
                      <a:r>
                        <a:rPr lang="en-US" sz="1600" dirty="0"/>
                        <a:t>.</a:t>
                      </a:r>
                    </a:p>
                  </a:txBody>
                  <a:tcPr/>
                </a:tc>
                <a:tc>
                  <a:txBody>
                    <a:bodyPr/>
                    <a:lstStyle/>
                    <a:p>
                      <a:r>
                        <a:rPr lang="en-US" sz="1600" dirty="0"/>
                        <a:t>Amend 100_0210 to require optional attributes </a:t>
                      </a:r>
                      <a:r>
                        <a:rPr lang="en-US" sz="1600" dirty="0" err="1"/>
                        <a:t>iff</a:t>
                      </a:r>
                      <a:r>
                        <a:rPr lang="en-US" sz="1600" dirty="0"/>
                        <a:t> they are present in values records.</a:t>
                      </a:r>
                    </a:p>
                  </a:txBody>
                  <a:tcPr/>
                </a:tc>
                <a:extLst>
                  <a:ext uri="{0D108BD9-81ED-4DB2-BD59-A6C34878D82A}">
                    <a16:rowId xmlns:a16="http://schemas.microsoft.com/office/drawing/2014/main" val="3134141167"/>
                  </a:ext>
                </a:extLst>
              </a:tr>
              <a:tr h="370840">
                <a:tc>
                  <a:txBody>
                    <a:bodyPr/>
                    <a:lstStyle/>
                    <a:p>
                      <a:r>
                        <a:rPr lang="en-US" sz="1600" dirty="0"/>
                        <a:t>10c-9.6.2</a:t>
                      </a:r>
                    </a:p>
                  </a:txBody>
                  <a:tcPr/>
                </a:tc>
                <a:tc>
                  <a:txBody>
                    <a:bodyPr/>
                    <a:lstStyle/>
                    <a:p>
                      <a:r>
                        <a:rPr lang="en-US" sz="1600" dirty="0"/>
                        <a:t>Feature attribute table element must have component named </a:t>
                      </a:r>
                      <a:r>
                        <a:rPr lang="en-US" sz="1600" dirty="0" err="1"/>
                        <a:t>featureAttributeTableKey</a:t>
                      </a:r>
                      <a:endParaRPr lang="en-US" sz="1600" dirty="0"/>
                    </a:p>
                  </a:txBody>
                  <a:tcPr/>
                </a:tc>
                <a:tc>
                  <a:txBody>
                    <a:bodyPr/>
                    <a:lstStyle/>
                    <a:p>
                      <a:r>
                        <a:rPr lang="en-US" sz="1600" dirty="0"/>
                        <a:t>Amend 100_0215 and 100_0216 to change “id” to “</a:t>
                      </a:r>
                      <a:r>
                        <a:rPr lang="en-US" sz="1600" dirty="0" err="1"/>
                        <a:t>featureAttributeTableKey</a:t>
                      </a:r>
                      <a:r>
                        <a:rPr lang="en-US" sz="1600" dirty="0"/>
                        <a:t>”</a:t>
                      </a:r>
                    </a:p>
                  </a:txBody>
                  <a:tcPr/>
                </a:tc>
                <a:extLst>
                  <a:ext uri="{0D108BD9-81ED-4DB2-BD59-A6C34878D82A}">
                    <a16:rowId xmlns:a16="http://schemas.microsoft.com/office/drawing/2014/main" val="1888240139"/>
                  </a:ext>
                </a:extLst>
              </a:tr>
              <a:tr h="370840">
                <a:tc>
                  <a:txBody>
                    <a:bodyPr/>
                    <a:lstStyle/>
                    <a:p>
                      <a:r>
                        <a:rPr lang="en-US" sz="1600" dirty="0"/>
                        <a:t>Table 10c-12</a:t>
                      </a:r>
                    </a:p>
                  </a:txBody>
                  <a:tcPr/>
                </a:tc>
                <a:tc>
                  <a:txBody>
                    <a:bodyPr/>
                    <a:lstStyle/>
                    <a:p>
                      <a:r>
                        <a:rPr lang="en-US" sz="1600" dirty="0"/>
                        <a:t>Unit of grid origin/spacing must conform to CRS used for the dataset</a:t>
                      </a:r>
                    </a:p>
                  </a:txBody>
                  <a:tcPr/>
                </a:tc>
                <a:tc>
                  <a:txBody>
                    <a:bodyPr/>
                    <a:lstStyle/>
                    <a:p>
                      <a:r>
                        <a:rPr lang="en-US" sz="1600" dirty="0"/>
                        <a:t>New check? 100_0222/0223 are relevant but not equivalent to the requirement. May need visual inspection, production code test/verification, or heuristics.</a:t>
                      </a:r>
                    </a:p>
                  </a:txBody>
                  <a:tcPr/>
                </a:tc>
                <a:extLst>
                  <a:ext uri="{0D108BD9-81ED-4DB2-BD59-A6C34878D82A}">
                    <a16:rowId xmlns:a16="http://schemas.microsoft.com/office/drawing/2014/main" val="795366379"/>
                  </a:ext>
                </a:extLst>
              </a:tr>
              <a:tr h="370840">
                <a:tc>
                  <a:txBody>
                    <a:bodyPr/>
                    <a:lstStyle/>
                    <a:p>
                      <a:r>
                        <a:rPr lang="en-US" sz="1600" dirty="0"/>
                        <a:t>Table 10c-19</a:t>
                      </a:r>
                    </a:p>
                  </a:txBody>
                  <a:tcPr/>
                </a:tc>
                <a:tc>
                  <a:txBody>
                    <a:bodyPr/>
                    <a:lstStyle/>
                    <a:p>
                      <a:r>
                        <a:rPr lang="en-US" sz="1600" dirty="0"/>
                        <a:t>Multiplicity of timestamp is now 0..1</a:t>
                      </a:r>
                    </a:p>
                  </a:txBody>
                  <a:tcPr/>
                </a:tc>
                <a:tc>
                  <a:txBody>
                    <a:bodyPr/>
                    <a:lstStyle/>
                    <a:p>
                      <a:r>
                        <a:rPr lang="en-US" sz="1600" dirty="0"/>
                        <a:t>No change? Formulation of 100_0242 still works.</a:t>
                      </a:r>
                    </a:p>
                  </a:txBody>
                  <a:tcPr/>
                </a:tc>
                <a:extLst>
                  <a:ext uri="{0D108BD9-81ED-4DB2-BD59-A6C34878D82A}">
                    <a16:rowId xmlns:a16="http://schemas.microsoft.com/office/drawing/2014/main" val="1927980498"/>
                  </a:ext>
                </a:extLst>
              </a:tr>
            </a:tbl>
          </a:graphicData>
        </a:graphic>
      </p:graphicFrame>
      <p:sp>
        <p:nvSpPr>
          <p:cNvPr id="7" name="Star: 5 Points 6">
            <a:extLst>
              <a:ext uri="{FF2B5EF4-FFF2-40B4-BE49-F238E27FC236}">
                <a16:creationId xmlns:a16="http://schemas.microsoft.com/office/drawing/2014/main" id="{86A92C5B-C623-F8A2-AB76-3B911AC847E2}"/>
              </a:ext>
            </a:extLst>
          </p:cNvPr>
          <p:cNvSpPr/>
          <p:nvPr/>
        </p:nvSpPr>
        <p:spPr>
          <a:xfrm>
            <a:off x="183823" y="1280712"/>
            <a:ext cx="654373" cy="58985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tar: 5 Points 8">
            <a:extLst>
              <a:ext uri="{FF2B5EF4-FFF2-40B4-BE49-F238E27FC236}">
                <a16:creationId xmlns:a16="http://schemas.microsoft.com/office/drawing/2014/main" id="{060200D1-E3D0-A5EF-D743-477C9F9806DF}"/>
              </a:ext>
            </a:extLst>
          </p:cNvPr>
          <p:cNvSpPr/>
          <p:nvPr/>
        </p:nvSpPr>
        <p:spPr>
          <a:xfrm>
            <a:off x="183824" y="2544214"/>
            <a:ext cx="654373" cy="58985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Star: 5 Points 10">
            <a:extLst>
              <a:ext uri="{FF2B5EF4-FFF2-40B4-BE49-F238E27FC236}">
                <a16:creationId xmlns:a16="http://schemas.microsoft.com/office/drawing/2014/main" id="{EB8AF136-7ABC-802F-ADC0-36E8DC228368}"/>
              </a:ext>
            </a:extLst>
          </p:cNvPr>
          <p:cNvSpPr/>
          <p:nvPr/>
        </p:nvSpPr>
        <p:spPr>
          <a:xfrm>
            <a:off x="183826" y="3621094"/>
            <a:ext cx="654373" cy="58985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Star: 5 Points 12">
            <a:extLst>
              <a:ext uri="{FF2B5EF4-FFF2-40B4-BE49-F238E27FC236}">
                <a16:creationId xmlns:a16="http://schemas.microsoft.com/office/drawing/2014/main" id="{1479B727-308A-AF76-EBE1-E9FF2A0911AB}"/>
              </a:ext>
            </a:extLst>
          </p:cNvPr>
          <p:cNvSpPr/>
          <p:nvPr/>
        </p:nvSpPr>
        <p:spPr>
          <a:xfrm>
            <a:off x="183823" y="4210951"/>
            <a:ext cx="654373" cy="58985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Star: 5 Points 14">
            <a:extLst>
              <a:ext uri="{FF2B5EF4-FFF2-40B4-BE49-F238E27FC236}">
                <a16:creationId xmlns:a16="http://schemas.microsoft.com/office/drawing/2014/main" id="{D619D1F9-E3DD-1CDE-75CF-5CEBA907C4D0}"/>
              </a:ext>
            </a:extLst>
          </p:cNvPr>
          <p:cNvSpPr/>
          <p:nvPr/>
        </p:nvSpPr>
        <p:spPr>
          <a:xfrm>
            <a:off x="183825" y="5097200"/>
            <a:ext cx="654373" cy="58985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51823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978D5D-ECA6-99D1-17E1-F142219761A2}"/>
              </a:ext>
            </a:extLst>
          </p:cNvPr>
          <p:cNvSpPr>
            <a:spLocks noGrp="1"/>
          </p:cNvSpPr>
          <p:nvPr>
            <p:ph type="title"/>
          </p:nvPr>
        </p:nvSpPr>
        <p:spPr/>
        <p:txBody>
          <a:bodyPr/>
          <a:lstStyle/>
          <a:p>
            <a:r>
              <a:rPr lang="en-US" dirty="0"/>
              <a:t>Alignment with S-100 edition 5.2.1- 4</a:t>
            </a:r>
            <a:endParaRPr lang="en-GB" dirty="0"/>
          </a:p>
        </p:txBody>
      </p:sp>
      <p:graphicFrame>
        <p:nvGraphicFramePr>
          <p:cNvPr id="5" name="Table 4">
            <a:extLst>
              <a:ext uri="{FF2B5EF4-FFF2-40B4-BE49-F238E27FC236}">
                <a16:creationId xmlns:a16="http://schemas.microsoft.com/office/drawing/2014/main" id="{B03480DE-B55D-56B3-8FE4-0955F3401B1E}"/>
              </a:ext>
            </a:extLst>
          </p:cNvPr>
          <p:cNvGraphicFramePr>
            <a:graphicFrameLocks noGrp="1"/>
          </p:cNvGraphicFramePr>
          <p:nvPr>
            <p:extLst>
              <p:ext uri="{D42A27DB-BD31-4B8C-83A1-F6EECF244321}">
                <p14:modId xmlns:p14="http://schemas.microsoft.com/office/powerpoint/2010/main" val="875611674"/>
              </p:ext>
            </p:extLst>
          </p:nvPr>
        </p:nvGraphicFramePr>
        <p:xfrm>
          <a:off x="965200" y="961714"/>
          <a:ext cx="10388601" cy="5471160"/>
        </p:xfrm>
        <a:graphic>
          <a:graphicData uri="http://schemas.openxmlformats.org/drawingml/2006/table">
            <a:tbl>
              <a:tblPr firstRow="1" bandRow="1">
                <a:tableStyleId>{5C22544A-7EE6-4342-B048-85BDC9FD1C3A}</a:tableStyleId>
              </a:tblPr>
              <a:tblGrid>
                <a:gridCol w="1186329">
                  <a:extLst>
                    <a:ext uri="{9D8B030D-6E8A-4147-A177-3AD203B41FA5}">
                      <a16:colId xmlns:a16="http://schemas.microsoft.com/office/drawing/2014/main" val="1759216924"/>
                    </a:ext>
                  </a:extLst>
                </a:gridCol>
                <a:gridCol w="5351930">
                  <a:extLst>
                    <a:ext uri="{9D8B030D-6E8A-4147-A177-3AD203B41FA5}">
                      <a16:colId xmlns:a16="http://schemas.microsoft.com/office/drawing/2014/main" val="3322187922"/>
                    </a:ext>
                  </a:extLst>
                </a:gridCol>
                <a:gridCol w="3850342">
                  <a:extLst>
                    <a:ext uri="{9D8B030D-6E8A-4147-A177-3AD203B41FA5}">
                      <a16:colId xmlns:a16="http://schemas.microsoft.com/office/drawing/2014/main" val="460557316"/>
                    </a:ext>
                  </a:extLst>
                </a:gridCol>
              </a:tblGrid>
              <a:tr h="370840">
                <a:tc>
                  <a:txBody>
                    <a:bodyPr/>
                    <a:lstStyle/>
                    <a:p>
                      <a:r>
                        <a:rPr lang="en-US" dirty="0"/>
                        <a:t>Location</a:t>
                      </a:r>
                    </a:p>
                  </a:txBody>
                  <a:tcPr/>
                </a:tc>
                <a:tc>
                  <a:txBody>
                    <a:bodyPr/>
                    <a:lstStyle/>
                    <a:p>
                      <a:r>
                        <a:rPr lang="en-US" dirty="0"/>
                        <a:t>Summary</a:t>
                      </a:r>
                    </a:p>
                  </a:txBody>
                  <a:tcPr/>
                </a:tc>
                <a:tc>
                  <a:txBody>
                    <a:bodyPr/>
                    <a:lstStyle/>
                    <a:p>
                      <a:r>
                        <a:rPr lang="en-US" dirty="0"/>
                        <a:t>Disposition</a:t>
                      </a:r>
                    </a:p>
                  </a:txBody>
                  <a:tcPr/>
                </a:tc>
                <a:extLst>
                  <a:ext uri="{0D108BD9-81ED-4DB2-BD59-A6C34878D82A}">
                    <a16:rowId xmlns:a16="http://schemas.microsoft.com/office/drawing/2014/main" val="1850344486"/>
                  </a:ext>
                </a:extLst>
              </a:tr>
              <a:tr h="370840">
                <a:tc>
                  <a:txBody>
                    <a:bodyPr/>
                    <a:lstStyle/>
                    <a:p>
                      <a:r>
                        <a:rPr lang="en-US" sz="1600" dirty="0"/>
                        <a:t>10c-9-11.1</a:t>
                      </a:r>
                    </a:p>
                  </a:txBody>
                  <a:tcPr/>
                </a:tc>
                <a:tc>
                  <a:txBody>
                    <a:bodyPr/>
                    <a:lstStyle/>
                    <a:p>
                      <a:r>
                        <a:rPr lang="en-US" sz="1600" i="0" dirty="0"/>
                        <a:t>Name and data type of feature identification value (in values record) must be identical to the identification value from the feature attribute table (if DCF 9 feature is also present).</a:t>
                      </a:r>
                    </a:p>
                    <a:p>
                      <a:r>
                        <a:rPr lang="en-US" sz="1600" i="0" dirty="0"/>
                        <a:t>Presumably saying that the name must be </a:t>
                      </a:r>
                      <a:r>
                        <a:rPr lang="en-US" sz="1600" i="1" dirty="0" err="1"/>
                        <a:t>featureAttributeTableKey</a:t>
                      </a:r>
                      <a:r>
                        <a:rPr lang="en-US" sz="1600" i="0" dirty="0"/>
                        <a:t> in both places.</a:t>
                      </a:r>
                    </a:p>
                  </a:txBody>
                  <a:tcPr/>
                </a:tc>
                <a:tc>
                  <a:txBody>
                    <a:bodyPr/>
                    <a:lstStyle/>
                    <a:p>
                      <a:r>
                        <a:rPr lang="en-US" sz="1600" dirty="0"/>
                        <a:t>New check(s) comparing name and data type in both places.</a:t>
                      </a:r>
                    </a:p>
                    <a:p>
                      <a:r>
                        <a:rPr lang="en-US" sz="1600" dirty="0"/>
                        <a:t>Does “type” include precision (1/2/4 bytes)?</a:t>
                      </a:r>
                    </a:p>
                    <a:p>
                      <a:r>
                        <a:rPr lang="en-US" sz="1600" dirty="0"/>
                        <a:t>Perhaps this should be a PS check.</a:t>
                      </a:r>
                    </a:p>
                  </a:txBody>
                  <a:tcPr/>
                </a:tc>
                <a:extLst>
                  <a:ext uri="{0D108BD9-81ED-4DB2-BD59-A6C34878D82A}">
                    <a16:rowId xmlns:a16="http://schemas.microsoft.com/office/drawing/2014/main" val="2494120333"/>
                  </a:ext>
                </a:extLst>
              </a:tr>
              <a:tr h="370840">
                <a:tc>
                  <a:txBody>
                    <a:bodyPr/>
                    <a:lstStyle/>
                    <a:p>
                      <a:r>
                        <a:rPr lang="en-US" sz="1600" dirty="0"/>
                        <a:t>11-13</a:t>
                      </a:r>
                    </a:p>
                  </a:txBody>
                  <a:tcPr/>
                </a:tc>
                <a:tc>
                  <a:txBody>
                    <a:bodyPr/>
                    <a:lstStyle/>
                    <a:p>
                      <a:r>
                        <a:rPr lang="en-US" sz="1600" i="0" dirty="0"/>
                        <a:t>Transfer size must use standardized unit</a:t>
                      </a:r>
                    </a:p>
                  </a:txBody>
                  <a:tcPr/>
                </a:tc>
                <a:tc>
                  <a:txBody>
                    <a:bodyPr/>
                    <a:lstStyle/>
                    <a:p>
                      <a:r>
                        <a:rPr lang="en-US" sz="1600" dirty="0"/>
                        <a:t>No VC action, PS requirement.</a:t>
                      </a:r>
                    </a:p>
                  </a:txBody>
                  <a:tcPr/>
                </a:tc>
                <a:extLst>
                  <a:ext uri="{0D108BD9-81ED-4DB2-BD59-A6C34878D82A}">
                    <a16:rowId xmlns:a16="http://schemas.microsoft.com/office/drawing/2014/main" val="2384781178"/>
                  </a:ext>
                </a:extLst>
              </a:tr>
              <a:tr h="370840">
                <a:tc>
                  <a:txBody>
                    <a:bodyPr/>
                    <a:lstStyle/>
                    <a:p>
                      <a:r>
                        <a:rPr lang="en-US" sz="1600" dirty="0"/>
                        <a:t>17-4.3</a:t>
                      </a:r>
                    </a:p>
                  </a:txBody>
                  <a:tcPr/>
                </a:tc>
                <a:tc>
                  <a:txBody>
                    <a:bodyPr/>
                    <a:lstStyle/>
                    <a:p>
                      <a:r>
                        <a:rPr lang="en-US" sz="1600" dirty="0"/>
                        <a:t>Corrections to </a:t>
                      </a:r>
                      <a:r>
                        <a:rPr lang="en-US" sz="1600" dirty="0" err="1"/>
                        <a:t>filePath</a:t>
                      </a:r>
                      <a:r>
                        <a:rPr lang="en-US" sz="1600" dirty="0"/>
                        <a:t> format</a:t>
                      </a:r>
                    </a:p>
                  </a:txBody>
                  <a:tcPr/>
                </a:tc>
                <a:tc>
                  <a:txBody>
                    <a:bodyPr/>
                    <a:lstStyle/>
                    <a:p>
                      <a:r>
                        <a:rPr lang="en-US" sz="1600" dirty="0"/>
                        <a:t>Covered by 100_0282</a:t>
                      </a:r>
                    </a:p>
                  </a:txBody>
                  <a:tcPr/>
                </a:tc>
                <a:extLst>
                  <a:ext uri="{0D108BD9-81ED-4DB2-BD59-A6C34878D82A}">
                    <a16:rowId xmlns:a16="http://schemas.microsoft.com/office/drawing/2014/main" val="888408502"/>
                  </a:ext>
                </a:extLst>
              </a:tr>
              <a:tr h="370840">
                <a:tc>
                  <a:txBody>
                    <a:bodyPr/>
                    <a:lstStyle/>
                    <a:p>
                      <a:r>
                        <a:rPr lang="en-US" sz="1600" dirty="0"/>
                        <a:t>17-4.4.1</a:t>
                      </a:r>
                    </a:p>
                  </a:txBody>
                  <a:tcPr/>
                </a:tc>
                <a:tc>
                  <a:txBody>
                    <a:bodyPr/>
                    <a:lstStyle/>
                    <a:p>
                      <a:r>
                        <a:rPr lang="en-US" sz="1600" i="0" dirty="0"/>
                        <a:t>For file-based cancellation </a:t>
                      </a:r>
                      <a:r>
                        <a:rPr lang="en-US" sz="1600" i="0" dirty="0" err="1"/>
                        <a:t>editionNumber</a:t>
                      </a:r>
                      <a:r>
                        <a:rPr lang="en-US" sz="1600" i="0" dirty="0"/>
                        <a:t> must be set to the Edition number of the product being cancelled; and the attribute purpose must be set to S100_Purpose value 5 (cancellation). </a:t>
                      </a:r>
                    </a:p>
                  </a:txBody>
                  <a:tcPr/>
                </a:tc>
                <a:tc>
                  <a:txBody>
                    <a:bodyPr/>
                    <a:lstStyle/>
                    <a:p>
                      <a:r>
                        <a:rPr lang="en-US" sz="1600" dirty="0"/>
                        <a:t>Amend 100_0290 condition and message. Fileless cancellation is covered by 100_0291</a:t>
                      </a:r>
                    </a:p>
                  </a:txBody>
                  <a:tcPr/>
                </a:tc>
                <a:extLst>
                  <a:ext uri="{0D108BD9-81ED-4DB2-BD59-A6C34878D82A}">
                    <a16:rowId xmlns:a16="http://schemas.microsoft.com/office/drawing/2014/main" val="10758460"/>
                  </a:ext>
                </a:extLst>
              </a:tr>
              <a:tr h="370840">
                <a:tc>
                  <a:txBody>
                    <a:bodyPr/>
                    <a:lstStyle/>
                    <a:p>
                      <a:r>
                        <a:rPr lang="en-US" sz="1600" dirty="0"/>
                        <a:t>17-4.4.2, 11-15</a:t>
                      </a:r>
                    </a:p>
                  </a:txBody>
                  <a:tcPr/>
                </a:tc>
                <a:tc>
                  <a:txBody>
                    <a:bodyPr/>
                    <a:lstStyle/>
                    <a:p>
                      <a:r>
                        <a:rPr lang="en-US" sz="1600" dirty="0"/>
                        <a:t>Provision of XSD file for exchange catalog recommended</a:t>
                      </a:r>
                    </a:p>
                  </a:txBody>
                  <a:tcPr/>
                </a:tc>
                <a:tc>
                  <a:txBody>
                    <a:bodyPr/>
                    <a:lstStyle/>
                    <a:p>
                      <a:r>
                        <a:rPr lang="en-US" sz="1600" dirty="0"/>
                        <a:t>No VC action, this is a recommendation for the PS package</a:t>
                      </a:r>
                    </a:p>
                  </a:txBody>
                  <a:tcPr/>
                </a:tc>
                <a:extLst>
                  <a:ext uri="{0D108BD9-81ED-4DB2-BD59-A6C34878D82A}">
                    <a16:rowId xmlns:a16="http://schemas.microsoft.com/office/drawing/2014/main" val="3134141167"/>
                  </a:ext>
                </a:extLst>
              </a:tr>
              <a:tr h="370840">
                <a:tc>
                  <a:txBody>
                    <a:bodyPr/>
                    <a:lstStyle/>
                    <a:p>
                      <a:r>
                        <a:rPr lang="en-US" sz="1600" dirty="0"/>
                        <a:t>17-4.5</a:t>
                      </a:r>
                    </a:p>
                  </a:txBody>
                  <a:tcPr/>
                </a:tc>
                <a:tc>
                  <a:txBody>
                    <a:bodyPr/>
                    <a:lstStyle/>
                    <a:p>
                      <a:r>
                        <a:rPr lang="en-US" sz="1600" dirty="0"/>
                        <a:t>Amended type for </a:t>
                      </a:r>
                      <a:r>
                        <a:rPr lang="en-US" sz="1600" i="1" dirty="0" err="1"/>
                        <a:t>editionNumber</a:t>
                      </a:r>
                      <a:r>
                        <a:rPr lang="en-US" sz="1600" dirty="0"/>
                        <a:t> attribute in</a:t>
                      </a:r>
                    </a:p>
                    <a:p>
                      <a:r>
                        <a:rPr lang="en-US" sz="1600" dirty="0"/>
                        <a:t>S100_DatasetDiscoveryMetadata to </a:t>
                      </a:r>
                      <a:r>
                        <a:rPr lang="en-US" sz="1600" dirty="0" err="1"/>
                        <a:t>PositiveInteger</a:t>
                      </a:r>
                      <a:endParaRPr lang="en-US" sz="1600" dirty="0"/>
                    </a:p>
                  </a:txBody>
                  <a:tcPr/>
                </a:tc>
                <a:tc>
                  <a:txBody>
                    <a:bodyPr/>
                    <a:lstStyle/>
                    <a:p>
                      <a:r>
                        <a:rPr lang="en-US" sz="1600" dirty="0"/>
                        <a:t>No VC action, enforced by exchange catalogue schema</a:t>
                      </a:r>
                    </a:p>
                  </a:txBody>
                  <a:tcPr/>
                </a:tc>
                <a:extLst>
                  <a:ext uri="{0D108BD9-81ED-4DB2-BD59-A6C34878D82A}">
                    <a16:rowId xmlns:a16="http://schemas.microsoft.com/office/drawing/2014/main" val="1888240139"/>
                  </a:ext>
                </a:extLst>
              </a:tr>
              <a:tr h="370840">
                <a:tc>
                  <a:txBody>
                    <a:bodyPr/>
                    <a:lstStyle/>
                    <a:p>
                      <a:r>
                        <a:rPr lang="en-US" sz="1600" dirty="0"/>
                        <a:t>17-4.5</a:t>
                      </a:r>
                    </a:p>
                  </a:txBody>
                  <a:tcPr/>
                </a:tc>
                <a:tc>
                  <a:txBody>
                    <a:bodyPr/>
                    <a:lstStyle/>
                    <a:p>
                      <a:r>
                        <a:rPr lang="en-US" sz="1600" dirty="0"/>
                        <a:t>Edition number remains the same for a re-issue and cancellation</a:t>
                      </a:r>
                    </a:p>
                  </a:txBody>
                  <a:tcPr/>
                </a:tc>
                <a:tc>
                  <a:txBody>
                    <a:bodyPr/>
                    <a:lstStyle/>
                    <a:p>
                      <a:r>
                        <a:rPr lang="en-US" sz="1600" dirty="0"/>
                        <a:t>New check for </a:t>
                      </a:r>
                      <a:r>
                        <a:rPr lang="en-US" sz="1600" dirty="0" err="1"/>
                        <a:t>editionNumber</a:t>
                      </a:r>
                      <a:r>
                        <a:rPr lang="en-US" sz="1600" dirty="0"/>
                        <a:t> for reissue case.</a:t>
                      </a:r>
                    </a:p>
                    <a:p>
                      <a:r>
                        <a:rPr lang="en-US" sz="1600" dirty="0"/>
                        <a:t>Fileless cancellation is covered by 100_0291</a:t>
                      </a:r>
                    </a:p>
                  </a:txBody>
                  <a:tcPr/>
                </a:tc>
                <a:extLst>
                  <a:ext uri="{0D108BD9-81ED-4DB2-BD59-A6C34878D82A}">
                    <a16:rowId xmlns:a16="http://schemas.microsoft.com/office/drawing/2014/main" val="1405561579"/>
                  </a:ext>
                </a:extLst>
              </a:tr>
            </a:tbl>
          </a:graphicData>
        </a:graphic>
      </p:graphicFrame>
      <p:sp>
        <p:nvSpPr>
          <p:cNvPr id="7" name="Star: 5 Points 6">
            <a:extLst>
              <a:ext uri="{FF2B5EF4-FFF2-40B4-BE49-F238E27FC236}">
                <a16:creationId xmlns:a16="http://schemas.microsoft.com/office/drawing/2014/main" id="{74159F5A-2094-B29D-85E9-496B86F2B23E}"/>
              </a:ext>
            </a:extLst>
          </p:cNvPr>
          <p:cNvSpPr/>
          <p:nvPr/>
        </p:nvSpPr>
        <p:spPr>
          <a:xfrm>
            <a:off x="289299" y="1620393"/>
            <a:ext cx="654373" cy="58985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tar: 5 Points 8">
            <a:extLst>
              <a:ext uri="{FF2B5EF4-FFF2-40B4-BE49-F238E27FC236}">
                <a16:creationId xmlns:a16="http://schemas.microsoft.com/office/drawing/2014/main" id="{AC045E24-EA1A-076E-55A8-00D5B6BDDF30}"/>
              </a:ext>
            </a:extLst>
          </p:cNvPr>
          <p:cNvSpPr/>
          <p:nvPr/>
        </p:nvSpPr>
        <p:spPr>
          <a:xfrm>
            <a:off x="289298" y="3531850"/>
            <a:ext cx="654373" cy="58985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Star: 5 Points 10">
            <a:extLst>
              <a:ext uri="{FF2B5EF4-FFF2-40B4-BE49-F238E27FC236}">
                <a16:creationId xmlns:a16="http://schemas.microsoft.com/office/drawing/2014/main" id="{4374819D-559E-0C7F-07A0-A9D39A848D9A}"/>
              </a:ext>
            </a:extLst>
          </p:cNvPr>
          <p:cNvSpPr/>
          <p:nvPr/>
        </p:nvSpPr>
        <p:spPr>
          <a:xfrm>
            <a:off x="289297" y="5655119"/>
            <a:ext cx="654373" cy="58985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25164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D7A7A5F-029F-8144-F7F7-5B2CDAD6429B}"/>
              </a:ext>
            </a:extLst>
          </p:cNvPr>
          <p:cNvSpPr>
            <a:spLocks noGrp="1"/>
          </p:cNvSpPr>
          <p:nvPr>
            <p:ph type="title"/>
          </p:nvPr>
        </p:nvSpPr>
        <p:spPr/>
        <p:txBody>
          <a:bodyPr/>
          <a:lstStyle/>
          <a:p>
            <a:r>
              <a:rPr lang="en-US" dirty="0"/>
              <a:t>Alignment with S-100 edition 5.2.1 - 5</a:t>
            </a:r>
            <a:endParaRPr lang="en-GB" dirty="0"/>
          </a:p>
        </p:txBody>
      </p:sp>
      <p:graphicFrame>
        <p:nvGraphicFramePr>
          <p:cNvPr id="5" name="Table 4">
            <a:extLst>
              <a:ext uri="{FF2B5EF4-FFF2-40B4-BE49-F238E27FC236}">
                <a16:creationId xmlns:a16="http://schemas.microsoft.com/office/drawing/2014/main" id="{7D7EE490-C740-09C2-17EF-61659C735577}"/>
              </a:ext>
            </a:extLst>
          </p:cNvPr>
          <p:cNvGraphicFramePr>
            <a:graphicFrameLocks noGrp="1"/>
          </p:cNvGraphicFramePr>
          <p:nvPr>
            <p:extLst>
              <p:ext uri="{D42A27DB-BD31-4B8C-83A1-F6EECF244321}">
                <p14:modId xmlns:p14="http://schemas.microsoft.com/office/powerpoint/2010/main" val="2595989578"/>
              </p:ext>
            </p:extLst>
          </p:nvPr>
        </p:nvGraphicFramePr>
        <p:xfrm>
          <a:off x="965200" y="961714"/>
          <a:ext cx="10388601" cy="5100320"/>
        </p:xfrm>
        <a:graphic>
          <a:graphicData uri="http://schemas.openxmlformats.org/drawingml/2006/table">
            <a:tbl>
              <a:tblPr firstRow="1" bandRow="1">
                <a:tableStyleId>{5C22544A-7EE6-4342-B048-85BDC9FD1C3A}</a:tableStyleId>
              </a:tblPr>
              <a:tblGrid>
                <a:gridCol w="1186329">
                  <a:extLst>
                    <a:ext uri="{9D8B030D-6E8A-4147-A177-3AD203B41FA5}">
                      <a16:colId xmlns:a16="http://schemas.microsoft.com/office/drawing/2014/main" val="1759216924"/>
                    </a:ext>
                  </a:extLst>
                </a:gridCol>
                <a:gridCol w="5800165">
                  <a:extLst>
                    <a:ext uri="{9D8B030D-6E8A-4147-A177-3AD203B41FA5}">
                      <a16:colId xmlns:a16="http://schemas.microsoft.com/office/drawing/2014/main" val="3322187922"/>
                    </a:ext>
                  </a:extLst>
                </a:gridCol>
                <a:gridCol w="3402107">
                  <a:extLst>
                    <a:ext uri="{9D8B030D-6E8A-4147-A177-3AD203B41FA5}">
                      <a16:colId xmlns:a16="http://schemas.microsoft.com/office/drawing/2014/main" val="460557316"/>
                    </a:ext>
                  </a:extLst>
                </a:gridCol>
              </a:tblGrid>
              <a:tr h="370840">
                <a:tc>
                  <a:txBody>
                    <a:bodyPr/>
                    <a:lstStyle/>
                    <a:p>
                      <a:r>
                        <a:rPr lang="en-US" dirty="0"/>
                        <a:t>Location</a:t>
                      </a:r>
                    </a:p>
                  </a:txBody>
                  <a:tcPr/>
                </a:tc>
                <a:tc>
                  <a:txBody>
                    <a:bodyPr/>
                    <a:lstStyle/>
                    <a:p>
                      <a:r>
                        <a:rPr lang="en-US" dirty="0"/>
                        <a:t>Summary</a:t>
                      </a:r>
                    </a:p>
                  </a:txBody>
                  <a:tcPr/>
                </a:tc>
                <a:tc>
                  <a:txBody>
                    <a:bodyPr/>
                    <a:lstStyle/>
                    <a:p>
                      <a:r>
                        <a:rPr lang="en-US" dirty="0"/>
                        <a:t>Disposition</a:t>
                      </a:r>
                    </a:p>
                  </a:txBody>
                  <a:tcPr/>
                </a:tc>
                <a:extLst>
                  <a:ext uri="{0D108BD9-81ED-4DB2-BD59-A6C34878D82A}">
                    <a16:rowId xmlns:a16="http://schemas.microsoft.com/office/drawing/2014/main" val="1850344486"/>
                  </a:ext>
                </a:extLst>
              </a:tr>
              <a:tr h="370840">
                <a:tc>
                  <a:txBody>
                    <a:bodyPr/>
                    <a:lstStyle/>
                    <a:p>
                      <a:r>
                        <a:rPr lang="en-US" sz="1600"/>
                        <a:t>17-4.5</a:t>
                      </a:r>
                      <a:endParaRPr lang="en-US" sz="1600" dirty="0"/>
                    </a:p>
                  </a:txBody>
                  <a:tcPr/>
                </a:tc>
                <a:tc>
                  <a:txBody>
                    <a:bodyPr/>
                    <a:lstStyle/>
                    <a:p>
                      <a:r>
                        <a:rPr lang="en-US" sz="1600" dirty="0"/>
                        <a:t>Digital signatures in catalog.xml should be applied after encryption and compression</a:t>
                      </a:r>
                    </a:p>
                  </a:txBody>
                  <a:tcPr/>
                </a:tc>
                <a:tc>
                  <a:txBody>
                    <a:bodyPr/>
                    <a:lstStyle/>
                    <a:p>
                      <a:r>
                        <a:rPr lang="en-US" sz="1600" dirty="0"/>
                        <a:t>Theoretically checkable, but this is basically a procedural requirement. No VC action</a:t>
                      </a:r>
                    </a:p>
                  </a:txBody>
                  <a:tcPr/>
                </a:tc>
                <a:extLst>
                  <a:ext uri="{0D108BD9-81ED-4DB2-BD59-A6C34878D82A}">
                    <a16:rowId xmlns:a16="http://schemas.microsoft.com/office/drawing/2014/main" val="4112931603"/>
                  </a:ext>
                </a:extLst>
              </a:tr>
              <a:tr h="370840">
                <a:tc>
                  <a:txBody>
                    <a:bodyPr/>
                    <a:lstStyle/>
                    <a:p>
                      <a:r>
                        <a:rPr lang="en-US" sz="1600" dirty="0"/>
                        <a:t>17-4.5</a:t>
                      </a:r>
                    </a:p>
                  </a:txBody>
                  <a:tcPr/>
                </a:tc>
                <a:tc>
                  <a:txBody>
                    <a:bodyPr/>
                    <a:lstStyle/>
                    <a:p>
                      <a:r>
                        <a:rPr lang="en-US" sz="1600" dirty="0"/>
                        <a:t>References to EPSG codes are to be in http URI format</a:t>
                      </a:r>
                    </a:p>
                  </a:txBody>
                  <a:tcPr/>
                </a:tc>
                <a:tc>
                  <a:txBody>
                    <a:bodyPr/>
                    <a:lstStyle/>
                    <a:p>
                      <a:r>
                        <a:rPr lang="en-US" sz="1600" dirty="0"/>
                        <a:t>Covered by 100_0319</a:t>
                      </a:r>
                    </a:p>
                  </a:txBody>
                  <a:tcPr/>
                </a:tc>
                <a:extLst>
                  <a:ext uri="{0D108BD9-81ED-4DB2-BD59-A6C34878D82A}">
                    <a16:rowId xmlns:a16="http://schemas.microsoft.com/office/drawing/2014/main" val="1695236894"/>
                  </a:ext>
                </a:extLst>
              </a:tr>
              <a:tr h="370840">
                <a:tc>
                  <a:txBody>
                    <a:bodyPr/>
                    <a:lstStyle/>
                    <a:p>
                      <a:r>
                        <a:rPr lang="en-US" sz="1600" dirty="0"/>
                        <a:t>17-4.5</a:t>
                      </a:r>
                    </a:p>
                  </a:txBody>
                  <a:tcPr/>
                </a:tc>
                <a:tc>
                  <a:txBody>
                    <a:bodyPr/>
                    <a:lstStyle/>
                    <a:p>
                      <a:r>
                        <a:rPr lang="en-US" sz="1600" i="0" dirty="0"/>
                        <a:t>Coordinate positions in data coverage polygons in CATALOG.XML must  be expressed as a list (&lt;</a:t>
                      </a:r>
                      <a:r>
                        <a:rPr lang="en-US" sz="1600" i="0" dirty="0" err="1"/>
                        <a:t>posList</a:t>
                      </a:r>
                      <a:r>
                        <a:rPr lang="en-US" sz="1600" i="0" dirty="0"/>
                        <a:t>&gt;)</a:t>
                      </a:r>
                    </a:p>
                  </a:txBody>
                  <a:tcPr/>
                </a:tc>
                <a:tc>
                  <a:txBody>
                    <a:bodyPr/>
                    <a:lstStyle/>
                    <a:p>
                      <a:r>
                        <a:rPr lang="en-US" sz="1600" dirty="0"/>
                        <a:t>Modify 100_0320 to permit only &lt;</a:t>
                      </a:r>
                      <a:r>
                        <a:rPr lang="en-US" sz="1600" i="1" dirty="0" err="1"/>
                        <a:t>posList</a:t>
                      </a:r>
                      <a:r>
                        <a:rPr lang="en-US" sz="1600" i="1" dirty="0"/>
                        <a:t>&gt;</a:t>
                      </a:r>
                    </a:p>
                  </a:txBody>
                  <a:tcPr/>
                </a:tc>
                <a:extLst>
                  <a:ext uri="{0D108BD9-81ED-4DB2-BD59-A6C34878D82A}">
                    <a16:rowId xmlns:a16="http://schemas.microsoft.com/office/drawing/2014/main" val="2494120333"/>
                  </a:ext>
                </a:extLst>
              </a:tr>
              <a:tr h="370840">
                <a:tc>
                  <a:txBody>
                    <a:bodyPr/>
                    <a:lstStyle/>
                    <a:p>
                      <a:r>
                        <a:rPr lang="en-US" sz="1600" dirty="0"/>
                        <a:t>17-4.5</a:t>
                      </a:r>
                    </a:p>
                  </a:txBody>
                  <a:tcPr/>
                </a:tc>
                <a:tc>
                  <a:txBody>
                    <a:bodyPr/>
                    <a:lstStyle/>
                    <a:p>
                      <a:r>
                        <a:rPr lang="en-US" sz="1600" dirty="0"/>
                        <a:t>Coordinate order for the </a:t>
                      </a:r>
                      <a:r>
                        <a:rPr lang="en-US" sz="1600" dirty="0" err="1"/>
                        <a:t>boundingPolygon</a:t>
                      </a:r>
                      <a:r>
                        <a:rPr lang="en-US" sz="1600" dirty="0"/>
                        <a:t> attribute must be as for the defined CRS</a:t>
                      </a:r>
                    </a:p>
                  </a:txBody>
                  <a:tcPr/>
                </a:tc>
                <a:tc>
                  <a:txBody>
                    <a:bodyPr/>
                    <a:lstStyle/>
                    <a:p>
                      <a:r>
                        <a:rPr lang="en-US" sz="1600" dirty="0"/>
                        <a:t>New VC. Not clear how a definitive check can be specified for this, some cases may need visual inspection or heuristics.</a:t>
                      </a:r>
                    </a:p>
                  </a:txBody>
                  <a:tcPr/>
                </a:tc>
                <a:extLst>
                  <a:ext uri="{0D108BD9-81ED-4DB2-BD59-A6C34878D82A}">
                    <a16:rowId xmlns:a16="http://schemas.microsoft.com/office/drawing/2014/main" val="8884085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17-4.5</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US" sz="1600" i="0" dirty="0"/>
                        <a:t>New dataset may be produced where, for example, coverage or </a:t>
                      </a:r>
                    </a:p>
                    <a:p>
                      <a:r>
                        <a:rPr lang="en-US" sz="1600" i="0" dirty="0"/>
                        <a:t>extent has been changed significantly.</a:t>
                      </a:r>
                    </a:p>
                  </a:txBody>
                  <a:tcPr/>
                </a:tc>
                <a:tc>
                  <a:txBody>
                    <a:bodyPr/>
                    <a:lstStyle/>
                    <a:p>
                      <a:r>
                        <a:rPr lang="en-US" sz="1600" dirty="0"/>
                        <a:t>Instruction for PS developers, no VC action</a:t>
                      </a:r>
                    </a:p>
                  </a:txBody>
                  <a:tcPr/>
                </a:tc>
                <a:extLst>
                  <a:ext uri="{0D108BD9-81ED-4DB2-BD59-A6C34878D82A}">
                    <a16:rowId xmlns:a16="http://schemas.microsoft.com/office/drawing/2014/main" val="107584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17-4.5</a:t>
                      </a:r>
                    </a:p>
                  </a:txBody>
                  <a:tcPr/>
                </a:tc>
                <a:tc>
                  <a:txBody>
                    <a:bodyPr/>
                    <a:lstStyle/>
                    <a:p>
                      <a:r>
                        <a:rPr lang="en-US" sz="1600" dirty="0"/>
                        <a:t>Amended Remarks for the </a:t>
                      </a:r>
                      <a:r>
                        <a:rPr lang="en-US" sz="1600" dirty="0" err="1"/>
                        <a:t>editionNumber</a:t>
                      </a:r>
                      <a:r>
                        <a:rPr lang="en-US" sz="1600" dirty="0"/>
                        <a:t> attribute in Table </a:t>
                      </a:r>
                    </a:p>
                    <a:p>
                      <a:r>
                        <a:rPr lang="en-US" sz="1600" dirty="0"/>
                        <a:t>S100_SupportFileDiscoveryMetadata to indicate that the edition number is for the support file and not the data set. </a:t>
                      </a:r>
                    </a:p>
                  </a:txBody>
                  <a:tcPr/>
                </a:tc>
                <a:tc>
                  <a:txBody>
                    <a:bodyPr/>
                    <a:lstStyle/>
                    <a:p>
                      <a:r>
                        <a:rPr lang="en-US" sz="1600" dirty="0"/>
                        <a:t>No VC action for this change, but there appears to be no check that new editions of support files have an incremented edition number in discovery metadata</a:t>
                      </a:r>
                    </a:p>
                  </a:txBody>
                  <a:tcPr/>
                </a:tc>
                <a:extLst>
                  <a:ext uri="{0D108BD9-81ED-4DB2-BD59-A6C34878D82A}">
                    <a16:rowId xmlns:a16="http://schemas.microsoft.com/office/drawing/2014/main" val="3134141167"/>
                  </a:ext>
                </a:extLst>
              </a:tr>
            </a:tbl>
          </a:graphicData>
        </a:graphic>
      </p:graphicFrame>
      <p:sp>
        <p:nvSpPr>
          <p:cNvPr id="7" name="Star: 5 Points 6">
            <a:extLst>
              <a:ext uri="{FF2B5EF4-FFF2-40B4-BE49-F238E27FC236}">
                <a16:creationId xmlns:a16="http://schemas.microsoft.com/office/drawing/2014/main" id="{F5D02CB8-A2EC-07E4-65BE-F468BB18657F}"/>
              </a:ext>
            </a:extLst>
          </p:cNvPr>
          <p:cNvSpPr/>
          <p:nvPr/>
        </p:nvSpPr>
        <p:spPr>
          <a:xfrm>
            <a:off x="114084" y="2434054"/>
            <a:ext cx="654373" cy="58985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tar: 5 Points 8">
            <a:extLst>
              <a:ext uri="{FF2B5EF4-FFF2-40B4-BE49-F238E27FC236}">
                <a16:creationId xmlns:a16="http://schemas.microsoft.com/office/drawing/2014/main" id="{7E9189AB-599E-B792-2C2A-85A76EA65565}"/>
              </a:ext>
            </a:extLst>
          </p:cNvPr>
          <p:cNvSpPr/>
          <p:nvPr/>
        </p:nvSpPr>
        <p:spPr>
          <a:xfrm>
            <a:off x="114084" y="3301959"/>
            <a:ext cx="654373" cy="58985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5AD30FF7-BA7A-47F8-2FF0-DAFF6B6BA93A}"/>
              </a:ext>
            </a:extLst>
          </p:cNvPr>
          <p:cNvSpPr txBox="1"/>
          <p:nvPr/>
        </p:nvSpPr>
        <p:spPr>
          <a:xfrm>
            <a:off x="255722" y="6230319"/>
            <a:ext cx="5757620" cy="369332"/>
          </a:xfrm>
          <a:prstGeom prst="rect">
            <a:avLst/>
          </a:prstGeom>
          <a:noFill/>
        </p:spPr>
        <p:txBody>
          <a:bodyPr wrap="square" rtlCol="0">
            <a:spAutoFit/>
          </a:bodyPr>
          <a:lstStyle/>
          <a:p>
            <a:r>
              <a:rPr lang="da-DK" dirty="0"/>
              <a:t>S-98 </a:t>
            </a:r>
            <a:r>
              <a:rPr lang="da-DK" dirty="0" err="1"/>
              <a:t>changes</a:t>
            </a:r>
            <a:r>
              <a:rPr lang="da-DK" dirty="0"/>
              <a:t> </a:t>
            </a:r>
            <a:r>
              <a:rPr lang="da-DK" dirty="0" err="1"/>
              <a:t>listed</a:t>
            </a:r>
            <a:r>
              <a:rPr lang="da-DK" dirty="0"/>
              <a:t> at the end of the slides</a:t>
            </a:r>
            <a:endParaRPr lang="en-GB" dirty="0"/>
          </a:p>
        </p:txBody>
      </p:sp>
    </p:spTree>
    <p:extLst>
      <p:ext uri="{BB962C8B-B14F-4D97-AF65-F5344CB8AC3E}">
        <p14:creationId xmlns:p14="http://schemas.microsoft.com/office/powerpoint/2010/main" val="4011470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53E55-8A44-EAF6-A503-90E3325EC054}"/>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E380C6F-31DB-45B4-A7D6-C878E68E6F18}"/>
              </a:ext>
            </a:extLst>
          </p:cNvPr>
          <p:cNvSpPr>
            <a:spLocks noGrp="1"/>
          </p:cNvSpPr>
          <p:nvPr>
            <p:ph idx="1"/>
          </p:nvPr>
        </p:nvSpPr>
        <p:spPr>
          <a:xfrm>
            <a:off x="954742" y="1018802"/>
            <a:ext cx="10515600" cy="5274422"/>
          </a:xfrm>
        </p:spPr>
        <p:txBody>
          <a:bodyPr>
            <a:normAutofit/>
          </a:bodyPr>
          <a:lstStyle/>
          <a:p>
            <a:pPr>
              <a:lnSpc>
                <a:spcPct val="120000"/>
              </a:lnSpc>
            </a:pPr>
            <a:r>
              <a:rPr lang="en-US" sz="2200" dirty="0"/>
              <a:t>Priority issues for S-100 validation sub-group discussion are tagged “help wanted” on GitHub.</a:t>
            </a:r>
          </a:p>
          <a:p>
            <a:pPr>
              <a:lnSpc>
                <a:spcPct val="120000"/>
              </a:lnSpc>
            </a:pPr>
            <a:r>
              <a:rPr lang="en-US" sz="2200" dirty="0"/>
              <a:t>Broad themes apparent in issues and discussions:</a:t>
            </a:r>
          </a:p>
          <a:p>
            <a:pPr lvl="1">
              <a:lnSpc>
                <a:spcPct val="120000"/>
              </a:lnSpc>
            </a:pPr>
            <a:r>
              <a:rPr lang="en-US" sz="1800" dirty="0"/>
              <a:t>“Delegation” - #150 and later </a:t>
            </a:r>
            <a:r>
              <a:rPr lang="en-US" sz="1800" dirty="0">
                <a:hlinkClick r:id="rId2" action="ppaction://hlinksldjump"/>
              </a:rPr>
              <a:t>slide</a:t>
            </a:r>
            <a:r>
              <a:rPr lang="en-US" sz="1800" dirty="0"/>
              <a:t> in this deck</a:t>
            </a:r>
          </a:p>
          <a:p>
            <a:pPr lvl="1">
              <a:lnSpc>
                <a:spcPct val="120000"/>
              </a:lnSpc>
            </a:pPr>
            <a:r>
              <a:rPr lang="en-US" sz="1800" dirty="0"/>
              <a:t>Does check X belong in S-100 or in S-158:1xx?</a:t>
            </a:r>
          </a:p>
          <a:p>
            <a:pPr lvl="1">
              <a:lnSpc>
                <a:spcPct val="120000"/>
              </a:lnSpc>
            </a:pPr>
            <a:r>
              <a:rPr lang="en-US" sz="1800" dirty="0"/>
              <a:t>Annotation or indication of checks which cannot be fully implemented in validation software.</a:t>
            </a:r>
          </a:p>
          <a:p>
            <a:pPr lvl="2">
              <a:lnSpc>
                <a:spcPct val="120000"/>
              </a:lnSpc>
            </a:pPr>
            <a:r>
              <a:rPr lang="en-US" sz="1400" dirty="0"/>
              <a:t>Add “undetermined” and “non-executable” as possible check results?</a:t>
            </a:r>
          </a:p>
          <a:p>
            <a:pPr lvl="1">
              <a:lnSpc>
                <a:spcPct val="120000"/>
              </a:lnSpc>
            </a:pPr>
            <a:r>
              <a:rPr lang="en-US" sz="1800" dirty="0"/>
              <a:t>Redundancies and logical dependencies in checks.</a:t>
            </a:r>
          </a:p>
          <a:p>
            <a:pPr>
              <a:lnSpc>
                <a:spcPct val="120000"/>
              </a:lnSpc>
            </a:pPr>
            <a:r>
              <a:rPr lang="en-US" sz="2200" dirty="0"/>
              <a:t>Other open issues on GitHub should also be reviewed by validation sub-group members and discussion requested if needed.</a:t>
            </a:r>
          </a:p>
          <a:p>
            <a:pPr>
              <a:lnSpc>
                <a:spcPct val="120000"/>
              </a:lnSpc>
            </a:pPr>
            <a:r>
              <a:rPr lang="en-US" sz="2200" dirty="0"/>
              <a:t>Redline of checks list now available.</a:t>
            </a:r>
          </a:p>
          <a:p>
            <a:pPr>
              <a:lnSpc>
                <a:spcPct val="120000"/>
              </a:lnSpc>
            </a:pPr>
            <a:endParaRPr lang="en-US" sz="2200" dirty="0"/>
          </a:p>
        </p:txBody>
      </p:sp>
      <p:sp>
        <p:nvSpPr>
          <p:cNvPr id="2" name="Slide Number Placeholder 1">
            <a:extLst>
              <a:ext uri="{FF2B5EF4-FFF2-40B4-BE49-F238E27FC236}">
                <a16:creationId xmlns:a16="http://schemas.microsoft.com/office/drawing/2014/main" id="{203B74D2-8C81-B766-6A76-26F54A173AB5}"/>
              </a:ext>
            </a:extLst>
          </p:cNvPr>
          <p:cNvSpPr>
            <a:spLocks noGrp="1"/>
          </p:cNvSpPr>
          <p:nvPr>
            <p:ph type="sldNum" sz="quarter" idx="12"/>
          </p:nvPr>
        </p:nvSpPr>
        <p:spPr/>
        <p:txBody>
          <a:bodyPr/>
          <a:lstStyle/>
          <a:p>
            <a:fld id="{46D0E966-1BD1-4C85-866E-DF3AF3395196}" type="slidenum">
              <a:rPr lang="fr-FR" smtClean="0"/>
              <a:t>17</a:t>
            </a:fld>
            <a:endParaRPr lang="fr-FR"/>
          </a:p>
        </p:txBody>
      </p:sp>
      <p:sp>
        <p:nvSpPr>
          <p:cNvPr id="3" name="Title 2">
            <a:extLst>
              <a:ext uri="{FF2B5EF4-FFF2-40B4-BE49-F238E27FC236}">
                <a16:creationId xmlns:a16="http://schemas.microsoft.com/office/drawing/2014/main" id="{C314E82A-8FAD-EEF0-35CD-A398961B8391}"/>
              </a:ext>
            </a:extLst>
          </p:cNvPr>
          <p:cNvSpPr>
            <a:spLocks noGrp="1"/>
          </p:cNvSpPr>
          <p:nvPr>
            <p:ph type="title"/>
          </p:nvPr>
        </p:nvSpPr>
        <p:spPr/>
        <p:txBody>
          <a:bodyPr/>
          <a:lstStyle/>
          <a:p>
            <a:r>
              <a:rPr lang="en-US" dirty="0"/>
              <a:t>Review and resolution of validation issues - 1</a:t>
            </a:r>
          </a:p>
        </p:txBody>
      </p:sp>
    </p:spTree>
    <p:extLst>
      <p:ext uri="{BB962C8B-B14F-4D97-AF65-F5344CB8AC3E}">
        <p14:creationId xmlns:p14="http://schemas.microsoft.com/office/powerpoint/2010/main" val="30651273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202E8-7568-E6F3-231E-FA51CE63FF9F}"/>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F0FC4E9-D412-5FA6-0559-1C416DDE932C}"/>
              </a:ext>
            </a:extLst>
          </p:cNvPr>
          <p:cNvSpPr>
            <a:spLocks noGrp="1"/>
          </p:cNvSpPr>
          <p:nvPr>
            <p:ph idx="1"/>
          </p:nvPr>
        </p:nvSpPr>
        <p:spPr>
          <a:xfrm>
            <a:off x="954742" y="1018802"/>
            <a:ext cx="10515600" cy="5274422"/>
          </a:xfrm>
        </p:spPr>
        <p:txBody>
          <a:bodyPr>
            <a:normAutofit fontScale="92500" lnSpcReduction="20000"/>
          </a:bodyPr>
          <a:lstStyle/>
          <a:p>
            <a:pPr>
              <a:lnSpc>
                <a:spcPct val="120000"/>
              </a:lnSpc>
            </a:pPr>
            <a:r>
              <a:rPr lang="en-US" sz="1400" dirty="0"/>
              <a:t>#71 – Classification as pass/fail: The S-100 WG rejected the idea at TSM 12.</a:t>
            </a:r>
          </a:p>
          <a:p>
            <a:pPr marL="0" indent="0">
              <a:lnSpc>
                <a:spcPct val="120000"/>
              </a:lnSpc>
              <a:buNone/>
            </a:pPr>
            <a:r>
              <a:rPr lang="en-GB" sz="1100" dirty="0">
                <a:hlinkClick r:id="rId2"/>
              </a:rPr>
              <a:t>S-100 level vs </a:t>
            </a:r>
            <a:r>
              <a:rPr lang="en-GB" sz="1100" dirty="0" err="1">
                <a:hlinkClick r:id="rId2"/>
              </a:rPr>
              <a:t>PSes</a:t>
            </a:r>
            <a:r>
              <a:rPr lang="en-GB" sz="1100" dirty="0">
                <a:hlinkClick r:id="rId2"/>
              </a:rPr>
              <a:t> level "Fail" check category consideration · Issue #71 · </a:t>
            </a:r>
            <a:r>
              <a:rPr lang="en-GB" sz="1100" dirty="0" err="1">
                <a:hlinkClick r:id="rId2"/>
              </a:rPr>
              <a:t>iho-ohi</a:t>
            </a:r>
            <a:r>
              <a:rPr lang="en-GB" sz="1100" dirty="0">
                <a:hlinkClick r:id="rId2"/>
              </a:rPr>
              <a:t>/S-100-Validation-Checks</a:t>
            </a:r>
            <a:endParaRPr lang="en-US" sz="1000" dirty="0"/>
          </a:p>
          <a:p>
            <a:pPr lvl="1">
              <a:lnSpc>
                <a:spcPct val="120000"/>
              </a:lnSpc>
            </a:pPr>
            <a:r>
              <a:rPr lang="en-US" sz="1300" dirty="0"/>
              <a:t>TSM12 actions, agenda #7.9: “TSM12 also noted that the classification of errors will remain unchanged, as established in Edition 1.0.0 of S-158:100.”</a:t>
            </a:r>
          </a:p>
          <a:p>
            <a:pPr lvl="1">
              <a:lnSpc>
                <a:spcPct val="120000"/>
              </a:lnSpc>
            </a:pPr>
            <a:r>
              <a:rPr lang="en-US" sz="1300" dirty="0"/>
              <a:t># 136 – S-158:1xx changing classification – permit S-158:1xx to raise but not lower the severity levels of individual checks(?) </a:t>
            </a:r>
            <a:r>
              <a:rPr lang="en-US" sz="1300" dirty="0">
                <a:solidFill>
                  <a:srgbClr val="FF0000"/>
                </a:solidFill>
              </a:rPr>
              <a:t>[Confirmation by Validation sub-group TBD]</a:t>
            </a:r>
            <a:endParaRPr lang="en-US" sz="1100" dirty="0">
              <a:solidFill>
                <a:srgbClr val="FF0000"/>
              </a:solidFill>
            </a:endParaRPr>
          </a:p>
          <a:p>
            <a:pPr>
              <a:lnSpc>
                <a:spcPct val="120000"/>
              </a:lnSpc>
            </a:pPr>
            <a:r>
              <a:rPr lang="en-US" sz="1500" dirty="0"/>
              <a:t>#140 – Data Quality measure column - S-100 WG made it optional – continues to be optional in Edition 2.0.0 pending action on data quality by the S-100 WG.</a:t>
            </a:r>
          </a:p>
          <a:p>
            <a:pPr marL="0" indent="0">
              <a:lnSpc>
                <a:spcPct val="120000"/>
              </a:lnSpc>
              <a:buNone/>
            </a:pPr>
            <a:r>
              <a:rPr lang="en-GB" sz="1000" dirty="0">
                <a:hlinkClick r:id="rId3"/>
              </a:rPr>
              <a:t>DQWG solution for consideration for "Data Quality Measure" column · Issue #140 · </a:t>
            </a:r>
            <a:r>
              <a:rPr lang="en-GB" sz="1000" dirty="0" err="1">
                <a:hlinkClick r:id="rId3"/>
              </a:rPr>
              <a:t>iho-ohi</a:t>
            </a:r>
            <a:r>
              <a:rPr lang="en-GB" sz="1000" dirty="0">
                <a:hlinkClick r:id="rId3"/>
              </a:rPr>
              <a:t>/S-100-Validation-Checks</a:t>
            </a:r>
            <a:endParaRPr lang="en-US" sz="1400" dirty="0"/>
          </a:p>
          <a:p>
            <a:pPr>
              <a:lnSpc>
                <a:spcPct val="120000"/>
              </a:lnSpc>
            </a:pPr>
            <a:r>
              <a:rPr lang="en-US" sz="1500" dirty="0"/>
              <a:t>#142 – </a:t>
            </a:r>
            <a:r>
              <a:rPr lang="en-US" sz="1500" dirty="0" err="1"/>
              <a:t>dataOffsetCode</a:t>
            </a:r>
            <a:r>
              <a:rPr lang="en-US" sz="1500" dirty="0"/>
              <a:t> – It is S-102 PT and producers who appear to have a problem with it. Looks like the problem arises in S-102.</a:t>
            </a:r>
          </a:p>
          <a:p>
            <a:pPr marL="0" indent="0">
              <a:lnSpc>
                <a:spcPct val="120000"/>
              </a:lnSpc>
              <a:buNone/>
            </a:pPr>
            <a:r>
              <a:rPr lang="en-GB" sz="1000" dirty="0">
                <a:hlinkClick r:id="rId4"/>
              </a:rPr>
              <a:t>Checks 100_0230, 100_0231 and 100_0232 require clarification in S-100 parts 8 and 10c · Issue #142 · </a:t>
            </a:r>
            <a:r>
              <a:rPr lang="en-GB" sz="1000" dirty="0" err="1">
                <a:hlinkClick r:id="rId4"/>
              </a:rPr>
              <a:t>iho-ohi</a:t>
            </a:r>
            <a:r>
              <a:rPr lang="en-GB" sz="1000" dirty="0">
                <a:hlinkClick r:id="rId4"/>
              </a:rPr>
              <a:t>/S-100-Validation-Checks</a:t>
            </a:r>
            <a:endParaRPr lang="en-US" sz="1000" dirty="0"/>
          </a:p>
          <a:p>
            <a:pPr>
              <a:lnSpc>
                <a:spcPct val="120000"/>
              </a:lnSpc>
            </a:pPr>
            <a:r>
              <a:rPr lang="en-US" sz="1500" dirty="0"/>
              <a:t>#138 – No requirement in S-100 that only official producers can be considered. No new check.</a:t>
            </a:r>
          </a:p>
          <a:p>
            <a:pPr marL="0" indent="0">
              <a:lnSpc>
                <a:spcPct val="120000"/>
              </a:lnSpc>
              <a:buNone/>
            </a:pPr>
            <a:r>
              <a:rPr lang="en-GB" sz="1000" dirty="0">
                <a:hlinkClick r:id="rId5"/>
              </a:rPr>
              <a:t>Clarification request for check 100_0299 · Issue #138 · </a:t>
            </a:r>
            <a:r>
              <a:rPr lang="en-GB" sz="1000" dirty="0" err="1">
                <a:hlinkClick r:id="rId5"/>
              </a:rPr>
              <a:t>iho-ohi</a:t>
            </a:r>
            <a:r>
              <a:rPr lang="en-GB" sz="1000" dirty="0">
                <a:hlinkClick r:id="rId5"/>
              </a:rPr>
              <a:t>/S-100-Validation-Checks</a:t>
            </a:r>
            <a:endParaRPr lang="en-US" sz="1000" dirty="0"/>
          </a:p>
          <a:p>
            <a:pPr>
              <a:lnSpc>
                <a:spcPct val="120000"/>
              </a:lnSpc>
            </a:pPr>
            <a:r>
              <a:rPr lang="en-US" sz="1500" dirty="0"/>
              <a:t>#137 – Checks being relevant to multiple PS is not a reason to have them in the S-100 list. Instead, this should be handled by the checks register in the GI registry.</a:t>
            </a:r>
          </a:p>
          <a:p>
            <a:pPr marL="0" indent="0">
              <a:lnSpc>
                <a:spcPct val="120000"/>
              </a:lnSpc>
              <a:buNone/>
            </a:pPr>
            <a:r>
              <a:rPr lang="en-GB" sz="1000" dirty="0">
                <a:hlinkClick r:id="rId6"/>
              </a:rPr>
              <a:t>Checks </a:t>
            </a:r>
            <a:r>
              <a:rPr lang="en-GB" sz="1000" dirty="0" err="1">
                <a:hlinkClick r:id="rId6"/>
              </a:rPr>
              <a:t>transfered</a:t>
            </a:r>
            <a:r>
              <a:rPr lang="en-GB" sz="1000" dirty="0">
                <a:hlinkClick r:id="rId6"/>
              </a:rPr>
              <a:t> back from S-101 Validation </a:t>
            </a:r>
            <a:r>
              <a:rPr lang="en-GB" sz="1000" dirty="0" err="1">
                <a:hlinkClick r:id="rId6"/>
              </a:rPr>
              <a:t>SubGroup</a:t>
            </a:r>
            <a:r>
              <a:rPr lang="en-GB" sz="1000" dirty="0">
                <a:hlinkClick r:id="rId6"/>
              </a:rPr>
              <a:t> for consideration to include in S-158:100 · Issue #137 · </a:t>
            </a:r>
            <a:r>
              <a:rPr lang="en-GB" sz="1000" dirty="0" err="1">
                <a:hlinkClick r:id="rId6"/>
              </a:rPr>
              <a:t>iho-ohi</a:t>
            </a:r>
            <a:r>
              <a:rPr lang="en-GB" sz="1000" dirty="0">
                <a:hlinkClick r:id="rId6"/>
              </a:rPr>
              <a:t>/S-100-Validation-Checks</a:t>
            </a:r>
            <a:endParaRPr lang="en-US" sz="1000" dirty="0"/>
          </a:p>
          <a:p>
            <a:pPr>
              <a:lnSpc>
                <a:spcPct val="120000"/>
              </a:lnSpc>
            </a:pPr>
            <a:r>
              <a:rPr lang="en-US" sz="1500" dirty="0"/>
              <a:t>Not all formats have </a:t>
            </a:r>
            <a:r>
              <a:rPr lang="en-US" sz="1500" dirty="0" err="1"/>
              <a:t>DataCoverage</a:t>
            </a:r>
            <a:r>
              <a:rPr lang="en-US" sz="1500" dirty="0"/>
              <a:t> features – HDF5 datasets don’t. Checks mentioning </a:t>
            </a:r>
            <a:r>
              <a:rPr lang="en-US" sz="1500" dirty="0" err="1"/>
              <a:t>DataCoverage</a:t>
            </a:r>
            <a:r>
              <a:rPr lang="en-US" sz="1500" dirty="0"/>
              <a:t> features must be encoded in S-158:1xx.</a:t>
            </a:r>
          </a:p>
        </p:txBody>
      </p:sp>
      <p:sp>
        <p:nvSpPr>
          <p:cNvPr id="2" name="Slide Number Placeholder 1">
            <a:extLst>
              <a:ext uri="{FF2B5EF4-FFF2-40B4-BE49-F238E27FC236}">
                <a16:creationId xmlns:a16="http://schemas.microsoft.com/office/drawing/2014/main" id="{968AE009-7FC8-80AC-007E-91682859D651}"/>
              </a:ext>
            </a:extLst>
          </p:cNvPr>
          <p:cNvSpPr>
            <a:spLocks noGrp="1"/>
          </p:cNvSpPr>
          <p:nvPr>
            <p:ph type="sldNum" sz="quarter" idx="12"/>
          </p:nvPr>
        </p:nvSpPr>
        <p:spPr/>
        <p:txBody>
          <a:bodyPr/>
          <a:lstStyle/>
          <a:p>
            <a:fld id="{46D0E966-1BD1-4C85-866E-DF3AF3395196}" type="slidenum">
              <a:rPr lang="fr-FR" smtClean="0"/>
              <a:t>18</a:t>
            </a:fld>
            <a:endParaRPr lang="fr-FR"/>
          </a:p>
        </p:txBody>
      </p:sp>
      <p:sp>
        <p:nvSpPr>
          <p:cNvPr id="3" name="Title 2">
            <a:extLst>
              <a:ext uri="{FF2B5EF4-FFF2-40B4-BE49-F238E27FC236}">
                <a16:creationId xmlns:a16="http://schemas.microsoft.com/office/drawing/2014/main" id="{F715769B-8ECF-8E51-BA23-070581EC16A5}"/>
              </a:ext>
            </a:extLst>
          </p:cNvPr>
          <p:cNvSpPr>
            <a:spLocks noGrp="1"/>
          </p:cNvSpPr>
          <p:nvPr>
            <p:ph type="title"/>
          </p:nvPr>
        </p:nvSpPr>
        <p:spPr/>
        <p:txBody>
          <a:bodyPr/>
          <a:lstStyle/>
          <a:p>
            <a:r>
              <a:rPr lang="en-US" dirty="0"/>
              <a:t>Review and resolution of validation issues - 2</a:t>
            </a:r>
          </a:p>
        </p:txBody>
      </p:sp>
    </p:spTree>
    <p:extLst>
      <p:ext uri="{BB962C8B-B14F-4D97-AF65-F5344CB8AC3E}">
        <p14:creationId xmlns:p14="http://schemas.microsoft.com/office/powerpoint/2010/main" val="1984127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D25D7-AA8B-0E78-BECD-3AE01FEAA12E}"/>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04EB127-D9CC-954E-035C-A0DB01372EE9}"/>
              </a:ext>
            </a:extLst>
          </p:cNvPr>
          <p:cNvSpPr>
            <a:spLocks noGrp="1"/>
          </p:cNvSpPr>
          <p:nvPr>
            <p:ph idx="1"/>
          </p:nvPr>
        </p:nvSpPr>
        <p:spPr>
          <a:xfrm>
            <a:off x="943707" y="1025524"/>
            <a:ext cx="10515600" cy="5330826"/>
          </a:xfrm>
        </p:spPr>
        <p:txBody>
          <a:bodyPr>
            <a:normAutofit fontScale="92500" lnSpcReduction="20000"/>
          </a:bodyPr>
          <a:lstStyle/>
          <a:p>
            <a:pPr>
              <a:lnSpc>
                <a:spcPct val="120000"/>
              </a:lnSpc>
            </a:pPr>
            <a:r>
              <a:rPr lang="en-US" sz="1800" dirty="0"/>
              <a:t>Remove Collection B checks from spreadsheet.</a:t>
            </a:r>
          </a:p>
          <a:p>
            <a:pPr>
              <a:lnSpc>
                <a:spcPct val="120000"/>
              </a:lnSpc>
            </a:pPr>
            <a:r>
              <a:rPr lang="en-US" sz="1800" dirty="0"/>
              <a:t>Classification as “Critical”:</a:t>
            </a:r>
          </a:p>
          <a:p>
            <a:pPr lvl="1">
              <a:lnSpc>
                <a:spcPct val="120000"/>
              </a:lnSpc>
            </a:pPr>
            <a:r>
              <a:rPr lang="en-US" sz="1600" dirty="0"/>
              <a:t>Is the entire dataset unusable if </a:t>
            </a:r>
            <a:r>
              <a:rPr lang="en-US" sz="1600" b="1" dirty="0"/>
              <a:t>any one </a:t>
            </a:r>
            <a:r>
              <a:rPr lang="en-US" sz="1600" dirty="0"/>
              <a:t>of the </a:t>
            </a:r>
            <a:r>
              <a:rPr lang="en-US" sz="1600" b="1" dirty="0"/>
              <a:t>features</a:t>
            </a:r>
            <a:r>
              <a:rPr lang="en-US" sz="1600" dirty="0"/>
              <a:t> is mis-formatted or otherwise unreadable?</a:t>
            </a:r>
          </a:p>
          <a:p>
            <a:pPr lvl="1">
              <a:lnSpc>
                <a:spcPct val="120000"/>
              </a:lnSpc>
            </a:pPr>
            <a:r>
              <a:rPr lang="en-US" sz="1600" dirty="0"/>
              <a:t>Is the entire dataset unusable if </a:t>
            </a:r>
            <a:r>
              <a:rPr lang="en-US" sz="1600" b="1" dirty="0"/>
              <a:t>any one </a:t>
            </a:r>
            <a:r>
              <a:rPr lang="en-US" sz="1600" dirty="0"/>
              <a:t>of the </a:t>
            </a:r>
            <a:r>
              <a:rPr lang="en-US" sz="1600" b="1" dirty="0"/>
              <a:t>information types</a:t>
            </a:r>
            <a:r>
              <a:rPr lang="en-US" sz="1600" dirty="0"/>
              <a:t> is mis-formatted or otherwise unreadable?</a:t>
            </a:r>
          </a:p>
          <a:p>
            <a:pPr lvl="1">
              <a:lnSpc>
                <a:spcPct val="120000"/>
              </a:lnSpc>
            </a:pPr>
            <a:r>
              <a:rPr lang="en-US" sz="1600" dirty="0"/>
              <a:t>Are all features and information types equally essential, in every data product?</a:t>
            </a:r>
          </a:p>
          <a:p>
            <a:pPr lvl="1">
              <a:lnSpc>
                <a:spcPct val="120000"/>
              </a:lnSpc>
            </a:pPr>
            <a:r>
              <a:rPr lang="en-US" sz="1600" dirty="0"/>
              <a:t>Provisionally – no provision for assigning level of importance to feature types or information types. Errors classified “C” in generic checks are “C” errors no matter which feature or info type contains the error. </a:t>
            </a:r>
            <a:r>
              <a:rPr lang="en-US" sz="1600" i="1" dirty="0">
                <a:solidFill>
                  <a:srgbClr val="FF0000"/>
                </a:solidFill>
              </a:rPr>
              <a:t>[Final report will recommend action in a future edition of S-158 / S-158:100.]</a:t>
            </a:r>
          </a:p>
          <a:p>
            <a:pPr>
              <a:lnSpc>
                <a:spcPct val="120000"/>
              </a:lnSpc>
            </a:pPr>
            <a:r>
              <a:rPr lang="en-US" sz="1800" dirty="0"/>
              <a:t>Some generic checks mention the PS, but there is no way to cite PS clauses in the generic checks. Generic checks should not reference the PS unless it is impossible for the PS to add restrictions (as for the FC). </a:t>
            </a:r>
            <a:r>
              <a:rPr lang="en-US" sz="1700" i="1" dirty="0">
                <a:solidFill>
                  <a:srgbClr val="FF0000"/>
                </a:solidFill>
              </a:rPr>
              <a:t>[Agreement by validation sub-group TBD]</a:t>
            </a:r>
          </a:p>
          <a:p>
            <a:pPr>
              <a:lnSpc>
                <a:spcPct val="120000"/>
              </a:lnSpc>
            </a:pPr>
            <a:r>
              <a:rPr lang="en-US" sz="1800" dirty="0"/>
              <a:t>Implementers don’t necessarily realize what is a requirement and what isn’t.</a:t>
            </a:r>
          </a:p>
          <a:p>
            <a:pPr lvl="1">
              <a:lnSpc>
                <a:spcPct val="120000"/>
              </a:lnSpc>
            </a:pPr>
            <a:r>
              <a:rPr lang="en-US" sz="1600" dirty="0"/>
              <a:t>“For example ...” is just an example, not a specification.</a:t>
            </a:r>
          </a:p>
          <a:p>
            <a:pPr lvl="1">
              <a:lnSpc>
                <a:spcPct val="120000"/>
              </a:lnSpc>
            </a:pPr>
            <a:r>
              <a:rPr lang="en-US" sz="1600" dirty="0"/>
              <a:t>Implementers overlook requirements in S-100 and product specifications even when stated as “... must ....”</a:t>
            </a:r>
          </a:p>
          <a:p>
            <a:pPr lvl="1">
              <a:lnSpc>
                <a:spcPct val="120000"/>
              </a:lnSpc>
            </a:pPr>
            <a:r>
              <a:rPr lang="en-US" sz="1600" dirty="0"/>
              <a:t>S-100 and product specifications should use a method to unambiguously indicate what is a requirement or recommendation. Cf. recent ISO TC211 standards’ approach to identifying requirements (boxed text + /x/y/z identifier).</a:t>
            </a:r>
          </a:p>
          <a:p>
            <a:pPr lvl="1">
              <a:lnSpc>
                <a:spcPct val="120000"/>
              </a:lnSpc>
            </a:pPr>
            <a:r>
              <a:rPr lang="en-US" sz="1600" i="1" dirty="0">
                <a:solidFill>
                  <a:srgbClr val="FF0000"/>
                </a:solidFill>
              </a:rPr>
              <a:t>Final report will recommend action in future editions of S-100 and S-1xx.</a:t>
            </a:r>
          </a:p>
        </p:txBody>
      </p:sp>
      <p:sp>
        <p:nvSpPr>
          <p:cNvPr id="2" name="Slide Number Placeholder 1">
            <a:extLst>
              <a:ext uri="{FF2B5EF4-FFF2-40B4-BE49-F238E27FC236}">
                <a16:creationId xmlns:a16="http://schemas.microsoft.com/office/drawing/2014/main" id="{FAB18E6D-38B2-A10C-6163-1D735D601D95}"/>
              </a:ext>
            </a:extLst>
          </p:cNvPr>
          <p:cNvSpPr>
            <a:spLocks noGrp="1"/>
          </p:cNvSpPr>
          <p:nvPr>
            <p:ph type="sldNum" sz="quarter" idx="12"/>
          </p:nvPr>
        </p:nvSpPr>
        <p:spPr/>
        <p:txBody>
          <a:bodyPr/>
          <a:lstStyle/>
          <a:p>
            <a:fld id="{46D0E966-1BD1-4C85-866E-DF3AF3395196}" type="slidenum">
              <a:rPr lang="fr-FR" smtClean="0"/>
              <a:t>19</a:t>
            </a:fld>
            <a:endParaRPr lang="fr-FR"/>
          </a:p>
        </p:txBody>
      </p:sp>
      <p:sp>
        <p:nvSpPr>
          <p:cNvPr id="3" name="Title 2">
            <a:extLst>
              <a:ext uri="{FF2B5EF4-FFF2-40B4-BE49-F238E27FC236}">
                <a16:creationId xmlns:a16="http://schemas.microsoft.com/office/drawing/2014/main" id="{FC4BBEDC-1457-0795-33E6-109DDE47DD86}"/>
              </a:ext>
            </a:extLst>
          </p:cNvPr>
          <p:cNvSpPr>
            <a:spLocks noGrp="1"/>
          </p:cNvSpPr>
          <p:nvPr>
            <p:ph type="title"/>
          </p:nvPr>
        </p:nvSpPr>
        <p:spPr/>
        <p:txBody>
          <a:bodyPr/>
          <a:lstStyle/>
          <a:p>
            <a:r>
              <a:rPr lang="en-US" dirty="0"/>
              <a:t>Validation check standardization</a:t>
            </a:r>
          </a:p>
        </p:txBody>
      </p:sp>
    </p:spTree>
    <p:extLst>
      <p:ext uri="{BB962C8B-B14F-4D97-AF65-F5344CB8AC3E}">
        <p14:creationId xmlns:p14="http://schemas.microsoft.com/office/powerpoint/2010/main" val="41047734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28438-005C-9FB9-5D4E-32E72711B14C}"/>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FC90358-2B9C-47DB-ECA3-2EBA1DD815E8}"/>
              </a:ext>
            </a:extLst>
          </p:cNvPr>
          <p:cNvSpPr>
            <a:spLocks noGrp="1"/>
          </p:cNvSpPr>
          <p:nvPr>
            <p:ph idx="1"/>
          </p:nvPr>
        </p:nvSpPr>
        <p:spPr>
          <a:xfrm>
            <a:off x="952671" y="954344"/>
            <a:ext cx="10515600" cy="5402005"/>
          </a:xfrm>
        </p:spPr>
        <p:txBody>
          <a:bodyPr>
            <a:normAutofit fontScale="92500" lnSpcReduction="10000"/>
          </a:bodyPr>
          <a:lstStyle/>
          <a:p>
            <a:pPr>
              <a:lnSpc>
                <a:spcPct val="120000"/>
              </a:lnSpc>
            </a:pPr>
            <a:r>
              <a:rPr lang="en-US" sz="1800" dirty="0"/>
              <a:t>Typical examples where “delegation” </a:t>
            </a:r>
            <a:r>
              <a:rPr lang="en-US" sz="1800" dirty="0">
                <a:solidFill>
                  <a:schemeClr val="accent6">
                    <a:lumMod val="75000"/>
                  </a:schemeClr>
                </a:solidFill>
              </a:rPr>
              <a:t>works</a:t>
            </a:r>
            <a:r>
              <a:rPr lang="en-US" sz="1800" dirty="0"/>
              <a:t> and </a:t>
            </a:r>
            <a:r>
              <a:rPr lang="en-US" sz="1800" dirty="0">
                <a:solidFill>
                  <a:srgbClr val="FF0000"/>
                </a:solidFill>
              </a:rPr>
              <a:t>does not work</a:t>
            </a:r>
            <a:r>
              <a:rPr lang="en-US" sz="1800" dirty="0"/>
              <a:t>:</a:t>
            </a:r>
          </a:p>
          <a:p>
            <a:pPr lvl="1">
              <a:lnSpc>
                <a:spcPct val="120000"/>
              </a:lnSpc>
            </a:pPr>
            <a:r>
              <a:rPr lang="en-US" sz="1400" dirty="0">
                <a:solidFill>
                  <a:srgbClr val="FF0000"/>
                </a:solidFill>
              </a:rPr>
              <a:t>Values of HDF5 data fields in attributes and datasets must conform to the constraints defined by the Product Specification. (100_0189)</a:t>
            </a:r>
          </a:p>
          <a:p>
            <a:pPr lvl="1">
              <a:lnSpc>
                <a:spcPct val="120000"/>
              </a:lnSpc>
            </a:pPr>
            <a:r>
              <a:rPr lang="en-US" sz="1400" dirty="0">
                <a:solidFill>
                  <a:schemeClr val="accent6">
                    <a:lumMod val="75000"/>
                  </a:schemeClr>
                </a:solidFill>
              </a:rPr>
              <a:t>For each IACS-IACD subfield value that is not defined by the product specification's feature catalogue. (100_0103)</a:t>
            </a:r>
          </a:p>
          <a:p>
            <a:pPr lvl="1">
              <a:lnSpc>
                <a:spcPct val="120000"/>
              </a:lnSpc>
            </a:pPr>
            <a:r>
              <a:rPr lang="en-US" sz="1400" dirty="0">
                <a:solidFill>
                  <a:schemeClr val="accent6">
                    <a:lumMod val="75000"/>
                  </a:schemeClr>
                </a:solidFill>
              </a:rPr>
              <a:t>The name of each data group is must be of the form '</a:t>
            </a:r>
            <a:r>
              <a:rPr lang="en-US" sz="1400" dirty="0" err="1">
                <a:solidFill>
                  <a:schemeClr val="accent6">
                    <a:lumMod val="75000"/>
                  </a:schemeClr>
                </a:solidFill>
              </a:rPr>
              <a:t>Group_nnn</a:t>
            </a:r>
            <a:r>
              <a:rPr lang="en-US" sz="1400" dirty="0">
                <a:solidFill>
                  <a:schemeClr val="accent6">
                    <a:lumMod val="75000"/>
                  </a:schemeClr>
                </a:solidFill>
              </a:rPr>
              <a:t>’. (100_0195)</a:t>
            </a:r>
          </a:p>
          <a:p>
            <a:pPr>
              <a:lnSpc>
                <a:spcPct val="120000"/>
              </a:lnSpc>
            </a:pPr>
            <a:r>
              <a:rPr lang="en-US" sz="1800" dirty="0"/>
              <a:t>Comments received:</a:t>
            </a:r>
          </a:p>
          <a:p>
            <a:pPr lvl="1">
              <a:lnSpc>
                <a:spcPct val="120000"/>
              </a:lnSpc>
            </a:pPr>
            <a:r>
              <a:rPr lang="en-US" sz="1400" dirty="0"/>
              <a:t>As a statement of conformance, delegation works. Checks that test S-100 Part 10c container mechanics — presence of </a:t>
            </a:r>
            <a:r>
              <a:rPr lang="en-US" sz="1400" dirty="0" err="1"/>
              <a:t>Group_F</a:t>
            </a:r>
            <a:r>
              <a:rPr lang="en-US" sz="1400" dirty="0"/>
              <a:t>, the </a:t>
            </a:r>
            <a:r>
              <a:rPr lang="en-US" sz="1400" dirty="0" err="1"/>
              <a:t>featureCode</a:t>
            </a:r>
            <a:r>
              <a:rPr lang="en-US" sz="1400" dirty="0"/>
              <a:t> array, feature information compound types, </a:t>
            </a:r>
            <a:r>
              <a:rPr lang="en-US" sz="1400" dirty="0" err="1"/>
              <a:t>Group_NNN</a:t>
            </a:r>
            <a:r>
              <a:rPr lang="en-US" sz="1400" dirty="0"/>
              <a:t> naming — are genuinely S-100 level, and restating them per product mainly creates copies that drift from the original.</a:t>
            </a:r>
          </a:p>
          <a:p>
            <a:pPr lvl="1">
              <a:lnSpc>
                <a:spcPct val="120000"/>
              </a:lnSpc>
            </a:pPr>
            <a:r>
              <a:rPr lang="en-US" sz="1400" dirty="0"/>
              <a:t>As a specification for a validator, delegation fails for value constraints. The load-bearing generic checks are 100_0189 (“Values of HDF5 data fields in attributes and datasets must conform to the constraints defined by the Product Specification”) and 100_0214 (“… where the value does not conform to the constraints specified in Table 10c-10 or the Product Specification …”). Both are true statements and neither is executable, because a validator implementing them needs the product constraints in machine-readable form.</a:t>
            </a:r>
          </a:p>
          <a:p>
            <a:pPr>
              <a:lnSpc>
                <a:spcPct val="120000"/>
              </a:lnSpc>
            </a:pPr>
            <a:r>
              <a:rPr lang="en-US" sz="1800" dirty="0"/>
              <a:t>Proposed solutions (perhaps depending on the S-100 Part?):</a:t>
            </a:r>
          </a:p>
          <a:p>
            <a:pPr lvl="1">
              <a:lnSpc>
                <a:spcPct val="120000"/>
              </a:lnSpc>
            </a:pPr>
            <a:r>
              <a:rPr lang="en-US" sz="1400" dirty="0"/>
              <a:t>Remove checks mentioning PS value constraints or attributes defined in the PS from S-158:100 and make them product-specific checks.</a:t>
            </a:r>
          </a:p>
          <a:p>
            <a:pPr lvl="1">
              <a:lnSpc>
                <a:spcPct val="120000"/>
              </a:lnSpc>
            </a:pPr>
            <a:r>
              <a:rPr lang="en-US" sz="1400" dirty="0"/>
              <a:t>Remove references to PS from S-158:100. S-100 generic checks should reference only S-100. Product-specific checks should reference only the PS. Product-specific checks should be written so as not to duplicate S-100 requirements. The Project Teams should be responsible for avoiding unnecessary redundancy in S-158:1xx</a:t>
            </a:r>
          </a:p>
          <a:p>
            <a:pPr lvl="1">
              <a:lnSpc>
                <a:spcPct val="120000"/>
              </a:lnSpc>
            </a:pPr>
            <a:endParaRPr lang="en-US" sz="1400" dirty="0">
              <a:solidFill>
                <a:schemeClr val="accent6">
                  <a:lumMod val="75000"/>
                </a:schemeClr>
              </a:solidFill>
            </a:endParaRPr>
          </a:p>
          <a:p>
            <a:pPr marL="0" indent="0">
              <a:lnSpc>
                <a:spcPct val="120000"/>
              </a:lnSpc>
              <a:buNone/>
            </a:pPr>
            <a:endParaRPr lang="en-US" sz="1800" dirty="0"/>
          </a:p>
        </p:txBody>
      </p:sp>
      <p:sp>
        <p:nvSpPr>
          <p:cNvPr id="2" name="Slide Number Placeholder 1">
            <a:extLst>
              <a:ext uri="{FF2B5EF4-FFF2-40B4-BE49-F238E27FC236}">
                <a16:creationId xmlns:a16="http://schemas.microsoft.com/office/drawing/2014/main" id="{88439F12-DE23-3DC8-49DD-2327300D93F3}"/>
              </a:ext>
            </a:extLst>
          </p:cNvPr>
          <p:cNvSpPr>
            <a:spLocks noGrp="1"/>
          </p:cNvSpPr>
          <p:nvPr>
            <p:ph type="sldNum" sz="quarter" idx="12"/>
          </p:nvPr>
        </p:nvSpPr>
        <p:spPr/>
        <p:txBody>
          <a:bodyPr/>
          <a:lstStyle/>
          <a:p>
            <a:fld id="{46D0E966-1BD1-4C85-866E-DF3AF3395196}" type="slidenum">
              <a:rPr lang="fr-FR" smtClean="0"/>
              <a:t>20</a:t>
            </a:fld>
            <a:endParaRPr lang="fr-FR"/>
          </a:p>
        </p:txBody>
      </p:sp>
      <p:sp>
        <p:nvSpPr>
          <p:cNvPr id="3" name="Title 2">
            <a:extLst>
              <a:ext uri="{FF2B5EF4-FFF2-40B4-BE49-F238E27FC236}">
                <a16:creationId xmlns:a16="http://schemas.microsoft.com/office/drawing/2014/main" id="{20CFE9F2-BE42-5C95-DA44-7B3C0AA46FAA}"/>
              </a:ext>
            </a:extLst>
          </p:cNvPr>
          <p:cNvSpPr>
            <a:spLocks noGrp="1"/>
          </p:cNvSpPr>
          <p:nvPr>
            <p:ph type="title"/>
          </p:nvPr>
        </p:nvSpPr>
        <p:spPr/>
        <p:txBody>
          <a:bodyPr/>
          <a:lstStyle/>
          <a:p>
            <a:r>
              <a:rPr lang="en-US" dirty="0"/>
              <a:t>Combining S-100 and PS in Generic checks</a:t>
            </a:r>
          </a:p>
        </p:txBody>
      </p:sp>
    </p:spTree>
    <p:extLst>
      <p:ext uri="{BB962C8B-B14F-4D97-AF65-F5344CB8AC3E}">
        <p14:creationId xmlns:p14="http://schemas.microsoft.com/office/powerpoint/2010/main" val="3142509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721C91-B91A-4286-9AFD-3FDDC104D0C0}"/>
              </a:ext>
            </a:extLst>
          </p:cNvPr>
          <p:cNvSpPr>
            <a:spLocks noGrp="1"/>
          </p:cNvSpPr>
          <p:nvPr>
            <p:ph idx="1"/>
          </p:nvPr>
        </p:nvSpPr>
        <p:spPr/>
        <p:txBody>
          <a:bodyPr/>
          <a:lstStyle/>
          <a:p>
            <a:pPr marL="0" indent="0">
              <a:buNone/>
            </a:pPr>
            <a:r>
              <a:rPr lang="da-DK" dirty="0"/>
              <a:t>62 open</a:t>
            </a:r>
            <a:r>
              <a:rPr lang="en-GB" dirty="0"/>
              <a:t> issues in GitHub</a:t>
            </a:r>
          </a:p>
          <a:p>
            <a:pPr marL="0" indent="0">
              <a:buNone/>
            </a:pPr>
            <a:r>
              <a:rPr lang="en-GB" dirty="0"/>
              <a:t>22 ‘Help Wanted’</a:t>
            </a:r>
          </a:p>
          <a:p>
            <a:pPr marL="0" indent="0">
              <a:buNone/>
            </a:pPr>
            <a:r>
              <a:rPr lang="en-GB" dirty="0"/>
              <a:t>2 ‘Another PT requires a response’</a:t>
            </a:r>
          </a:p>
          <a:p>
            <a:pPr marL="0" indent="0">
              <a:buNone/>
            </a:pPr>
            <a:r>
              <a:rPr lang="en-GB" sz="1800" dirty="0">
                <a:hlinkClick r:id="rId2"/>
              </a:rPr>
              <a:t>iho-ohi/S-100-Validation-Checks: S-100 Github repository for Validation Check development.</a:t>
            </a:r>
            <a:endParaRPr lang="en-GB" sz="1800" dirty="0"/>
          </a:p>
          <a:p>
            <a:pPr marL="0" indent="0">
              <a:buNone/>
            </a:pPr>
            <a:r>
              <a:rPr lang="en-GB" dirty="0"/>
              <a:t> </a:t>
            </a:r>
          </a:p>
        </p:txBody>
      </p:sp>
      <p:sp>
        <p:nvSpPr>
          <p:cNvPr id="3" name="Title 2">
            <a:extLst>
              <a:ext uri="{FF2B5EF4-FFF2-40B4-BE49-F238E27FC236}">
                <a16:creationId xmlns:a16="http://schemas.microsoft.com/office/drawing/2014/main" id="{5CBE0691-FBFB-45C6-9547-B08446E8A8BD}"/>
              </a:ext>
            </a:extLst>
          </p:cNvPr>
          <p:cNvSpPr>
            <a:spLocks noGrp="1"/>
          </p:cNvSpPr>
          <p:nvPr>
            <p:ph type="title"/>
          </p:nvPr>
        </p:nvSpPr>
        <p:spPr/>
        <p:txBody>
          <a:bodyPr/>
          <a:lstStyle/>
          <a:p>
            <a:r>
              <a:rPr lang="en-GB" dirty="0"/>
              <a:t>Outstanding issues and topics</a:t>
            </a:r>
            <a:br>
              <a:rPr lang="en-GB" dirty="0"/>
            </a:br>
            <a:endParaRPr lang="en-GB" dirty="0"/>
          </a:p>
        </p:txBody>
      </p:sp>
    </p:spTree>
    <p:extLst>
      <p:ext uri="{BB962C8B-B14F-4D97-AF65-F5344CB8AC3E}">
        <p14:creationId xmlns:p14="http://schemas.microsoft.com/office/powerpoint/2010/main" val="36952923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9125CD-4B94-44E0-9DF0-58984603E4CD}"/>
              </a:ext>
            </a:extLst>
          </p:cNvPr>
          <p:cNvSpPr>
            <a:spLocks noGrp="1"/>
          </p:cNvSpPr>
          <p:nvPr>
            <p:ph idx="1"/>
          </p:nvPr>
        </p:nvSpPr>
        <p:spPr>
          <a:xfrm>
            <a:off x="1034095" y="1479190"/>
            <a:ext cx="10678612" cy="4541165"/>
          </a:xfrm>
        </p:spPr>
        <p:txBody>
          <a:bodyPr>
            <a:noAutofit/>
          </a:bodyPr>
          <a:lstStyle/>
          <a:p>
            <a:pPr marL="457200" lvl="1" indent="0">
              <a:lnSpc>
                <a:spcPct val="107000"/>
              </a:lnSpc>
              <a:spcAft>
                <a:spcPts val="800"/>
              </a:spcAft>
              <a:buNone/>
            </a:pPr>
            <a:endParaRPr lang="en-GB" sz="1600" dirty="0">
              <a:solidFill>
                <a:srgbClr val="000000"/>
              </a:solidFill>
              <a:ea typeface="Calibri" panose="020F0502020204030204" pitchFamily="34" charset="0"/>
            </a:endParaRPr>
          </a:p>
          <a:p>
            <a:pPr marL="0" indent="0">
              <a:lnSpc>
                <a:spcPct val="107000"/>
              </a:lnSpc>
              <a:spcAft>
                <a:spcPts val="800"/>
              </a:spcAft>
              <a:buNone/>
            </a:pPr>
            <a:r>
              <a:rPr lang="en-GB" sz="2400" dirty="0">
                <a:solidFill>
                  <a:srgbClr val="000000"/>
                </a:solidFill>
                <a:ea typeface="Calibri" panose="020F0502020204030204" pitchFamily="34" charset="0"/>
              </a:rPr>
              <a:t>S-100 WG 11, New Zealand –  22-25</a:t>
            </a:r>
            <a:r>
              <a:rPr lang="en-GB" sz="2400" baseline="30000" dirty="0">
                <a:solidFill>
                  <a:srgbClr val="000000"/>
                </a:solidFill>
                <a:ea typeface="Calibri" panose="020F0502020204030204" pitchFamily="34" charset="0"/>
              </a:rPr>
              <a:t>th</a:t>
            </a:r>
            <a:r>
              <a:rPr lang="en-GB" sz="2400" dirty="0">
                <a:solidFill>
                  <a:srgbClr val="000000"/>
                </a:solidFill>
                <a:ea typeface="Calibri" panose="020F0502020204030204" pitchFamily="34" charset="0"/>
              </a:rPr>
              <a:t> September </a:t>
            </a:r>
          </a:p>
          <a:p>
            <a:pPr marL="0" indent="0">
              <a:lnSpc>
                <a:spcPct val="107000"/>
              </a:lnSpc>
              <a:spcAft>
                <a:spcPts val="800"/>
              </a:spcAft>
              <a:buNone/>
            </a:pPr>
            <a:endParaRPr lang="en-GB" sz="2400" dirty="0">
              <a:solidFill>
                <a:srgbClr val="000000"/>
              </a:solidFill>
              <a:ea typeface="Calibri" panose="020F0502020204030204" pitchFamily="34" charset="0"/>
            </a:endParaRPr>
          </a:p>
          <a:p>
            <a:pPr marL="0" indent="0">
              <a:lnSpc>
                <a:spcPct val="107000"/>
              </a:lnSpc>
              <a:spcAft>
                <a:spcPts val="800"/>
              </a:spcAft>
              <a:buNone/>
            </a:pPr>
            <a:r>
              <a:rPr lang="en-GB" sz="2400" dirty="0">
                <a:solidFill>
                  <a:srgbClr val="000000"/>
                </a:solidFill>
                <a:ea typeface="Calibri" panose="020F0502020204030204" pitchFamily="34" charset="0"/>
              </a:rPr>
              <a:t>Next VTC meeting:</a:t>
            </a:r>
          </a:p>
          <a:p>
            <a:pPr marL="0" indent="0">
              <a:lnSpc>
                <a:spcPct val="107000"/>
              </a:lnSpc>
              <a:spcAft>
                <a:spcPts val="800"/>
              </a:spcAft>
              <a:buNone/>
            </a:pPr>
            <a:r>
              <a:rPr lang="da-DK" sz="2400" dirty="0" err="1">
                <a:solidFill>
                  <a:srgbClr val="000000"/>
                </a:solidFill>
                <a:ea typeface="Calibri" panose="020F0502020204030204" pitchFamily="34" charset="0"/>
              </a:rPr>
              <a:t>October</a:t>
            </a:r>
            <a:r>
              <a:rPr lang="da-DK" sz="2400" dirty="0">
                <a:solidFill>
                  <a:srgbClr val="000000"/>
                </a:solidFill>
                <a:ea typeface="Calibri" panose="020F0502020204030204" pitchFamily="34" charset="0"/>
              </a:rPr>
              <a:t> 13th?</a:t>
            </a:r>
          </a:p>
          <a:p>
            <a:pPr marL="0" indent="0">
              <a:lnSpc>
                <a:spcPct val="107000"/>
              </a:lnSpc>
              <a:spcAft>
                <a:spcPts val="800"/>
              </a:spcAft>
              <a:buNone/>
            </a:pPr>
            <a:r>
              <a:rPr lang="da-DK" sz="2400" dirty="0" err="1">
                <a:solidFill>
                  <a:srgbClr val="000000"/>
                </a:solidFill>
                <a:ea typeface="Calibri" panose="020F0502020204030204" pitchFamily="34" charset="0"/>
              </a:rPr>
              <a:t>October</a:t>
            </a:r>
            <a:r>
              <a:rPr lang="da-DK" sz="2400" dirty="0">
                <a:solidFill>
                  <a:srgbClr val="000000"/>
                </a:solidFill>
                <a:ea typeface="Calibri" panose="020F0502020204030204" pitchFamily="34" charset="0"/>
              </a:rPr>
              <a:t> 20th?</a:t>
            </a:r>
            <a:endParaRPr lang="en-GB" sz="2400" dirty="0">
              <a:solidFill>
                <a:srgbClr val="000000"/>
              </a:solidFill>
              <a:ea typeface="Calibri" panose="020F0502020204030204" pitchFamily="34" charset="0"/>
            </a:endParaRPr>
          </a:p>
        </p:txBody>
      </p:sp>
      <p:sp>
        <p:nvSpPr>
          <p:cNvPr id="3" name="Title 2">
            <a:extLst>
              <a:ext uri="{FF2B5EF4-FFF2-40B4-BE49-F238E27FC236}">
                <a16:creationId xmlns:a16="http://schemas.microsoft.com/office/drawing/2014/main" id="{749EE54E-F8A4-410F-966E-CB7363C11B38}"/>
              </a:ext>
            </a:extLst>
          </p:cNvPr>
          <p:cNvSpPr>
            <a:spLocks noGrp="1"/>
          </p:cNvSpPr>
          <p:nvPr>
            <p:ph type="title"/>
          </p:nvPr>
        </p:nvSpPr>
        <p:spPr/>
        <p:txBody>
          <a:bodyPr>
            <a:normAutofit/>
          </a:bodyPr>
          <a:lstStyle/>
          <a:p>
            <a:pPr>
              <a:lnSpc>
                <a:spcPct val="107000"/>
              </a:lnSpc>
              <a:spcAft>
                <a:spcPts val="800"/>
              </a:spcAft>
            </a:pPr>
            <a:r>
              <a:rPr lang="en-GB" dirty="0">
                <a:solidFill>
                  <a:srgbClr val="000000"/>
                </a:solidFill>
                <a:ea typeface="Calibri" panose="020F0502020204030204" pitchFamily="34" charset="0"/>
              </a:rPr>
              <a:t>Next meetings</a:t>
            </a:r>
          </a:p>
        </p:txBody>
      </p:sp>
    </p:spTree>
    <p:extLst>
      <p:ext uri="{BB962C8B-B14F-4D97-AF65-F5344CB8AC3E}">
        <p14:creationId xmlns:p14="http://schemas.microsoft.com/office/powerpoint/2010/main" val="34406669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45DE57-B719-4819-B1AE-BFFE82277B24}"/>
              </a:ext>
            </a:extLst>
          </p:cNvPr>
          <p:cNvSpPr>
            <a:spLocks noGrp="1"/>
          </p:cNvSpPr>
          <p:nvPr>
            <p:ph idx="1"/>
          </p:nvPr>
        </p:nvSpPr>
        <p:spPr>
          <a:xfrm>
            <a:off x="838200" y="1825625"/>
            <a:ext cx="10515600" cy="4351338"/>
          </a:xfrm>
        </p:spPr>
        <p:txBody>
          <a:bodyPr/>
          <a:lstStyle/>
          <a:p>
            <a:pPr marL="0" indent="0">
              <a:buNone/>
            </a:pPr>
            <a:r>
              <a:rPr lang="en-US" dirty="0"/>
              <a:t>				</a:t>
            </a:r>
          </a:p>
          <a:p>
            <a:pPr marL="0" indent="0">
              <a:buNone/>
            </a:pPr>
            <a:endParaRPr lang="en-US" dirty="0"/>
          </a:p>
          <a:p>
            <a:pPr marL="0" indent="0">
              <a:buNone/>
            </a:pPr>
            <a:endParaRPr lang="en-US" dirty="0"/>
          </a:p>
          <a:p>
            <a:pPr marL="0" indent="0">
              <a:buNone/>
            </a:pPr>
            <a:r>
              <a:rPr lang="en-US" dirty="0"/>
              <a:t>				</a:t>
            </a:r>
            <a:r>
              <a:rPr lang="en-US" sz="3200" dirty="0"/>
              <a:t>Any Questions?</a:t>
            </a:r>
            <a:endParaRPr lang="da-DK" sz="3200" dirty="0"/>
          </a:p>
        </p:txBody>
      </p:sp>
    </p:spTree>
    <p:extLst>
      <p:ext uri="{BB962C8B-B14F-4D97-AF65-F5344CB8AC3E}">
        <p14:creationId xmlns:p14="http://schemas.microsoft.com/office/powerpoint/2010/main" val="113324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A7706-938D-C3E5-E7C2-12063F2D3F7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EF1ADD-D083-173D-F069-EBEC50FE3194}"/>
              </a:ext>
            </a:extLst>
          </p:cNvPr>
          <p:cNvSpPr>
            <a:spLocks noGrp="1"/>
          </p:cNvSpPr>
          <p:nvPr>
            <p:ph type="sldNum" sz="quarter" idx="12"/>
          </p:nvPr>
        </p:nvSpPr>
        <p:spPr/>
        <p:txBody>
          <a:bodyPr/>
          <a:lstStyle/>
          <a:p>
            <a:fld id="{46D0E966-1BD1-4C85-866E-DF3AF3395196}" type="slidenum">
              <a:rPr lang="fr-FR" smtClean="0"/>
              <a:t>24</a:t>
            </a:fld>
            <a:endParaRPr lang="fr-FR"/>
          </a:p>
        </p:txBody>
      </p:sp>
      <p:sp>
        <p:nvSpPr>
          <p:cNvPr id="3" name="Title 2">
            <a:extLst>
              <a:ext uri="{FF2B5EF4-FFF2-40B4-BE49-F238E27FC236}">
                <a16:creationId xmlns:a16="http://schemas.microsoft.com/office/drawing/2014/main" id="{52D0B922-80D8-7997-247E-4B87867E725B}"/>
              </a:ext>
            </a:extLst>
          </p:cNvPr>
          <p:cNvSpPr>
            <a:spLocks noGrp="1"/>
          </p:cNvSpPr>
          <p:nvPr>
            <p:ph type="title"/>
          </p:nvPr>
        </p:nvSpPr>
        <p:spPr/>
        <p:txBody>
          <a:bodyPr/>
          <a:lstStyle/>
          <a:p>
            <a:r>
              <a:rPr lang="en-US" dirty="0"/>
              <a:t>Changes arising from S-98 D.C.A. (MAR 2026) - 1</a:t>
            </a:r>
          </a:p>
        </p:txBody>
      </p:sp>
      <p:sp>
        <p:nvSpPr>
          <p:cNvPr id="4" name="Content Placeholder 3">
            <a:extLst>
              <a:ext uri="{FF2B5EF4-FFF2-40B4-BE49-F238E27FC236}">
                <a16:creationId xmlns:a16="http://schemas.microsoft.com/office/drawing/2014/main" id="{4822C3B9-96E9-4803-F508-1B36C67DD387}"/>
              </a:ext>
            </a:extLst>
          </p:cNvPr>
          <p:cNvSpPr>
            <a:spLocks noGrp="1"/>
          </p:cNvSpPr>
          <p:nvPr>
            <p:ph idx="4294967295"/>
          </p:nvPr>
        </p:nvSpPr>
        <p:spPr>
          <a:xfrm>
            <a:off x="1676400" y="1025525"/>
            <a:ext cx="10515600" cy="5330825"/>
          </a:xfrm>
        </p:spPr>
        <p:txBody>
          <a:bodyPr>
            <a:normAutofit/>
          </a:bodyPr>
          <a:lstStyle/>
          <a:p>
            <a:pPr>
              <a:lnSpc>
                <a:spcPct val="120000"/>
              </a:lnSpc>
            </a:pPr>
            <a:endParaRPr lang="en-US" sz="6400" dirty="0"/>
          </a:p>
          <a:p>
            <a:pPr lvl="1">
              <a:lnSpc>
                <a:spcPct val="120000"/>
              </a:lnSpc>
            </a:pPr>
            <a:endParaRPr lang="en-US" sz="2000" dirty="0"/>
          </a:p>
        </p:txBody>
      </p:sp>
      <p:graphicFrame>
        <p:nvGraphicFramePr>
          <p:cNvPr id="5" name="Table 4">
            <a:extLst>
              <a:ext uri="{FF2B5EF4-FFF2-40B4-BE49-F238E27FC236}">
                <a16:creationId xmlns:a16="http://schemas.microsoft.com/office/drawing/2014/main" id="{EA632E5D-971A-969E-4CA0-9DAF365F1EBE}"/>
              </a:ext>
            </a:extLst>
          </p:cNvPr>
          <p:cNvGraphicFramePr>
            <a:graphicFrameLocks noGrp="1"/>
          </p:cNvGraphicFramePr>
          <p:nvPr/>
        </p:nvGraphicFramePr>
        <p:xfrm>
          <a:off x="965200" y="961714"/>
          <a:ext cx="10388601" cy="5252720"/>
        </p:xfrm>
        <a:graphic>
          <a:graphicData uri="http://schemas.openxmlformats.org/drawingml/2006/table">
            <a:tbl>
              <a:tblPr firstRow="1" bandRow="1">
                <a:tableStyleId>{5C22544A-7EE6-4342-B048-85BDC9FD1C3A}</a:tableStyleId>
              </a:tblPr>
              <a:tblGrid>
                <a:gridCol w="1186329">
                  <a:extLst>
                    <a:ext uri="{9D8B030D-6E8A-4147-A177-3AD203B41FA5}">
                      <a16:colId xmlns:a16="http://schemas.microsoft.com/office/drawing/2014/main" val="1759216924"/>
                    </a:ext>
                  </a:extLst>
                </a:gridCol>
                <a:gridCol w="5558118">
                  <a:extLst>
                    <a:ext uri="{9D8B030D-6E8A-4147-A177-3AD203B41FA5}">
                      <a16:colId xmlns:a16="http://schemas.microsoft.com/office/drawing/2014/main" val="3322187922"/>
                    </a:ext>
                  </a:extLst>
                </a:gridCol>
                <a:gridCol w="3644154">
                  <a:extLst>
                    <a:ext uri="{9D8B030D-6E8A-4147-A177-3AD203B41FA5}">
                      <a16:colId xmlns:a16="http://schemas.microsoft.com/office/drawing/2014/main" val="460557316"/>
                    </a:ext>
                  </a:extLst>
                </a:gridCol>
              </a:tblGrid>
              <a:tr h="370840">
                <a:tc>
                  <a:txBody>
                    <a:bodyPr/>
                    <a:lstStyle/>
                    <a:p>
                      <a:r>
                        <a:rPr lang="en-US" dirty="0"/>
                        <a:t>Location</a:t>
                      </a:r>
                    </a:p>
                  </a:txBody>
                  <a:tcPr/>
                </a:tc>
                <a:tc>
                  <a:txBody>
                    <a:bodyPr/>
                    <a:lstStyle/>
                    <a:p>
                      <a:r>
                        <a:rPr lang="en-US" dirty="0"/>
                        <a:t>Summary</a:t>
                      </a:r>
                    </a:p>
                  </a:txBody>
                  <a:tcPr/>
                </a:tc>
                <a:tc>
                  <a:txBody>
                    <a:bodyPr/>
                    <a:lstStyle/>
                    <a:p>
                      <a:r>
                        <a:rPr lang="en-US" dirty="0"/>
                        <a:t>Disposition</a:t>
                      </a:r>
                    </a:p>
                  </a:txBody>
                  <a:tcPr/>
                </a:tc>
                <a:extLst>
                  <a:ext uri="{0D108BD9-81ED-4DB2-BD59-A6C34878D82A}">
                    <a16:rowId xmlns:a16="http://schemas.microsoft.com/office/drawing/2014/main" val="1850344486"/>
                  </a:ext>
                </a:extLst>
              </a:tr>
              <a:tr h="370840">
                <a:tc>
                  <a:txBody>
                    <a:bodyPr/>
                    <a:lstStyle/>
                    <a:p>
                      <a:r>
                        <a:rPr lang="en-US" sz="1600" dirty="0"/>
                        <a:t>3.2</a:t>
                      </a:r>
                    </a:p>
                  </a:txBody>
                  <a:tcPr/>
                </a:tc>
                <a:tc>
                  <a:txBody>
                    <a:bodyPr/>
                    <a:lstStyle/>
                    <a:p>
                      <a:r>
                        <a:rPr lang="en-US" sz="1600" dirty="0"/>
                        <a:t>Polygons in CATALOG.XML must use </a:t>
                      </a:r>
                      <a:r>
                        <a:rPr lang="en-US" sz="1600" dirty="0" err="1"/>
                        <a:t>gex:Polygon</a:t>
                      </a:r>
                      <a:r>
                        <a:rPr lang="en-US" sz="1600" dirty="0"/>
                        <a:t> -&gt; </a:t>
                      </a:r>
                      <a:r>
                        <a:rPr lang="en-US" sz="1600" dirty="0" err="1"/>
                        <a:t>gml:Polygon</a:t>
                      </a:r>
                      <a:r>
                        <a:rPr lang="en-US" sz="1600" dirty="0"/>
                        <a:t> ... </a:t>
                      </a:r>
                      <a:r>
                        <a:rPr lang="en-US" sz="1600" dirty="0" err="1"/>
                        <a:t>LinearRing</a:t>
                      </a:r>
                      <a:r>
                        <a:rPr lang="en-US" sz="1600" dirty="0"/>
                        <a:t> -&gt; </a:t>
                      </a:r>
                      <a:r>
                        <a:rPr lang="en-US" sz="1600" dirty="0" err="1"/>
                        <a:t>posList</a:t>
                      </a:r>
                      <a:r>
                        <a:rPr lang="en-US" sz="1600" dirty="0"/>
                        <a:t> for interior and exterior boundaries</a:t>
                      </a:r>
                    </a:p>
                  </a:txBody>
                  <a:tcPr/>
                </a:tc>
                <a:tc>
                  <a:txBody>
                    <a:bodyPr/>
                    <a:lstStyle/>
                    <a:p>
                      <a:r>
                        <a:rPr lang="en-US" sz="1600" dirty="0"/>
                        <a:t>Covered by Note 1 in S-100 5.2.1 S100_DataCoverage and check 100_0318. Adding an S-98 check would duplicate that check. Add the example in DCA as “implementation note” for 100_0318.</a:t>
                      </a:r>
                    </a:p>
                  </a:txBody>
                  <a:tcPr/>
                </a:tc>
                <a:extLst>
                  <a:ext uri="{0D108BD9-81ED-4DB2-BD59-A6C34878D82A}">
                    <a16:rowId xmlns:a16="http://schemas.microsoft.com/office/drawing/2014/main" val="4112931603"/>
                  </a:ext>
                </a:extLst>
              </a:tr>
              <a:tr h="370840">
                <a:tc>
                  <a:txBody>
                    <a:bodyPr/>
                    <a:lstStyle/>
                    <a:p>
                      <a:r>
                        <a:rPr lang="en-US" sz="1600" dirty="0"/>
                        <a:t>4</a:t>
                      </a:r>
                    </a:p>
                  </a:txBody>
                  <a:tcPr/>
                </a:tc>
                <a:tc>
                  <a:txBody>
                    <a:bodyPr/>
                    <a:lstStyle/>
                    <a:p>
                      <a:r>
                        <a:rPr lang="en-US" sz="1600" dirty="0"/>
                        <a:t>GML schemas must use S100:pointProperty, S100:curveProperty, or S100:surfaceProperty to represent point, curve, or surface geometry</a:t>
                      </a:r>
                    </a:p>
                  </a:txBody>
                  <a:tcPr/>
                </a:tc>
                <a:tc>
                  <a:txBody>
                    <a:bodyPr/>
                    <a:lstStyle/>
                    <a:p>
                      <a:r>
                        <a:rPr lang="en-US" sz="1600" dirty="0"/>
                        <a:t>No action for VCs, requirement is for Product Specifications and enforced by GML schemas in PS packages.</a:t>
                      </a:r>
                    </a:p>
                  </a:txBody>
                  <a:tcPr/>
                </a:tc>
                <a:extLst>
                  <a:ext uri="{0D108BD9-81ED-4DB2-BD59-A6C34878D82A}">
                    <a16:rowId xmlns:a16="http://schemas.microsoft.com/office/drawing/2014/main" val="1695236894"/>
                  </a:ext>
                </a:extLst>
              </a:tr>
              <a:tr h="370840">
                <a:tc>
                  <a:txBody>
                    <a:bodyPr/>
                    <a:lstStyle/>
                    <a:p>
                      <a:r>
                        <a:rPr lang="en-US" sz="1600" dirty="0"/>
                        <a:t>4</a:t>
                      </a:r>
                    </a:p>
                  </a:txBody>
                  <a:tcPr/>
                </a:tc>
                <a:tc>
                  <a:txBody>
                    <a:bodyPr/>
                    <a:lstStyle/>
                    <a:p>
                      <a:r>
                        <a:rPr lang="en-US" sz="1600" i="0" dirty="0"/>
                        <a:t>The only allowable methods for representing geometry in an S-100 ECDIS GML dataset are:</a:t>
                      </a:r>
                    </a:p>
                    <a:p>
                      <a:r>
                        <a:rPr lang="en-US" sz="1600" i="0" dirty="0"/>
                        <a:t>1) Geometry by reference to spatial objects encoded separately from features (“standalone” spatial objects)</a:t>
                      </a:r>
                    </a:p>
                    <a:p>
                      <a:r>
                        <a:rPr lang="en-US" sz="1600" i="0" dirty="0"/>
                        <a:t>2) Inline geometry inside features.</a:t>
                      </a:r>
                    </a:p>
                  </a:txBody>
                  <a:tcPr/>
                </a:tc>
                <a:tc>
                  <a:txBody>
                    <a:bodyPr/>
                    <a:lstStyle/>
                    <a:p>
                      <a:r>
                        <a:rPr lang="en-US" sz="1600" i="0" dirty="0"/>
                        <a:t>New VC to detect by-reference link to geometry encoded inside a feature (as opposed to a separate spatial object), since the language does not allow that variation. </a:t>
                      </a:r>
                    </a:p>
                  </a:txBody>
                  <a:tcPr/>
                </a:tc>
                <a:extLst>
                  <a:ext uri="{0D108BD9-81ED-4DB2-BD59-A6C34878D82A}">
                    <a16:rowId xmlns:a16="http://schemas.microsoft.com/office/drawing/2014/main" val="2494120333"/>
                  </a:ext>
                </a:extLst>
              </a:tr>
              <a:tr h="370840">
                <a:tc>
                  <a:txBody>
                    <a:bodyPr/>
                    <a:lstStyle/>
                    <a:p>
                      <a:r>
                        <a:rPr lang="en-US" sz="1600" dirty="0"/>
                        <a:t>4.2.1, 4.3.1</a:t>
                      </a:r>
                    </a:p>
                  </a:txBody>
                  <a:tcPr/>
                </a:tc>
                <a:tc>
                  <a:txBody>
                    <a:bodyPr/>
                    <a:lstStyle/>
                    <a:p>
                      <a:r>
                        <a:rPr lang="en-US" sz="1600" dirty="0"/>
                        <a:t>Point definition</a:t>
                      </a:r>
                    </a:p>
                  </a:txBody>
                  <a:tcPr/>
                </a:tc>
                <a:tc>
                  <a:txBody>
                    <a:bodyPr/>
                    <a:lstStyle/>
                    <a:p>
                      <a:r>
                        <a:rPr lang="en-US" sz="1600" dirty="0"/>
                        <a:t>Enforced by GML profile, no VC action</a:t>
                      </a:r>
                    </a:p>
                  </a:txBody>
                  <a:tcPr/>
                </a:tc>
                <a:extLst>
                  <a:ext uri="{0D108BD9-81ED-4DB2-BD59-A6C34878D82A}">
                    <a16:rowId xmlns:a16="http://schemas.microsoft.com/office/drawing/2014/main" val="8884085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4.2.2</a:t>
                      </a:r>
                    </a:p>
                  </a:txBody>
                  <a:tcPr/>
                </a:tc>
                <a:tc>
                  <a:txBody>
                    <a:bodyPr/>
                    <a:lstStyle/>
                    <a:p>
                      <a:r>
                        <a:rPr lang="en-US" sz="1600" i="0" dirty="0"/>
                        <a:t>Curve definition:</a:t>
                      </a:r>
                    </a:p>
                    <a:p>
                      <a:pPr marL="285750" indent="-285750">
                        <a:buFont typeface="Arial" panose="020B0604020202020204" pitchFamily="34" charset="0"/>
                        <a:buChar char="•"/>
                      </a:pPr>
                      <a:r>
                        <a:rPr lang="en-US" sz="1600" i="0" dirty="0"/>
                        <a:t>Single </a:t>
                      </a:r>
                      <a:r>
                        <a:rPr lang="en-US" sz="1600" i="0" dirty="0" err="1"/>
                        <a:t>LineStringSegment</a:t>
                      </a:r>
                      <a:r>
                        <a:rPr lang="en-US" sz="1600" i="0" dirty="0"/>
                        <a:t> with &gt;=2 coordinate pairs</a:t>
                      </a:r>
                    </a:p>
                    <a:p>
                      <a:pPr marL="285750" indent="-285750">
                        <a:buFont typeface="Arial" panose="020B0604020202020204" pitchFamily="34" charset="0"/>
                        <a:buChar char="•"/>
                      </a:pPr>
                      <a:r>
                        <a:rPr lang="en-US" sz="1600" i="0" dirty="0"/>
                        <a:t>Single arc by </a:t>
                      </a:r>
                      <a:r>
                        <a:rPr lang="en-US" sz="1600" i="0" dirty="0" err="1"/>
                        <a:t>centre</a:t>
                      </a:r>
                      <a:r>
                        <a:rPr lang="en-US" sz="1600" i="0" dirty="0"/>
                        <a:t> point</a:t>
                      </a:r>
                    </a:p>
                    <a:p>
                      <a:pPr marL="285750" indent="-285750">
                        <a:buFont typeface="Arial" panose="020B0604020202020204" pitchFamily="34" charset="0"/>
                        <a:buChar char="•"/>
                      </a:pPr>
                      <a:r>
                        <a:rPr lang="en-US" sz="1600" i="0" dirty="0"/>
                        <a:t>Single circle by </a:t>
                      </a:r>
                      <a:r>
                        <a:rPr lang="en-US" sz="1600" i="0" dirty="0" err="1"/>
                        <a:t>centre</a:t>
                      </a:r>
                      <a:r>
                        <a:rPr lang="en-US" sz="1600" i="0" dirty="0"/>
                        <a:t> point</a:t>
                      </a:r>
                    </a:p>
                  </a:txBody>
                  <a:tcPr/>
                </a:tc>
                <a:tc>
                  <a:txBody>
                    <a:bodyPr/>
                    <a:lstStyle/>
                    <a:p>
                      <a:r>
                        <a:rPr lang="en-US" sz="1600" dirty="0"/>
                        <a:t>New VCs to restrict number of segments to 1 and subtype to line string, arc by center point, and circle by center point.</a:t>
                      </a:r>
                    </a:p>
                  </a:txBody>
                  <a:tcPr/>
                </a:tc>
                <a:extLst>
                  <a:ext uri="{0D108BD9-81ED-4DB2-BD59-A6C34878D82A}">
                    <a16:rowId xmlns:a16="http://schemas.microsoft.com/office/drawing/2014/main" val="10758460"/>
                  </a:ext>
                </a:extLst>
              </a:tr>
            </a:tbl>
          </a:graphicData>
        </a:graphic>
      </p:graphicFrame>
    </p:spTree>
    <p:extLst>
      <p:ext uri="{BB962C8B-B14F-4D97-AF65-F5344CB8AC3E}">
        <p14:creationId xmlns:p14="http://schemas.microsoft.com/office/powerpoint/2010/main" val="21402036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13A07-C6F8-8E62-E5D6-726CF660A43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54754E-5D16-B586-24A3-E70CBABDBAE7}"/>
              </a:ext>
            </a:extLst>
          </p:cNvPr>
          <p:cNvSpPr>
            <a:spLocks noGrp="1"/>
          </p:cNvSpPr>
          <p:nvPr>
            <p:ph type="sldNum" sz="quarter" idx="12"/>
          </p:nvPr>
        </p:nvSpPr>
        <p:spPr/>
        <p:txBody>
          <a:bodyPr/>
          <a:lstStyle/>
          <a:p>
            <a:fld id="{46D0E966-1BD1-4C85-866E-DF3AF3395196}" type="slidenum">
              <a:rPr lang="fr-FR" smtClean="0"/>
              <a:t>25</a:t>
            </a:fld>
            <a:endParaRPr lang="fr-FR"/>
          </a:p>
        </p:txBody>
      </p:sp>
      <p:sp>
        <p:nvSpPr>
          <p:cNvPr id="3" name="Title 2">
            <a:extLst>
              <a:ext uri="{FF2B5EF4-FFF2-40B4-BE49-F238E27FC236}">
                <a16:creationId xmlns:a16="http://schemas.microsoft.com/office/drawing/2014/main" id="{FF834097-D95C-8055-A19E-BE9FB6265AFE}"/>
              </a:ext>
            </a:extLst>
          </p:cNvPr>
          <p:cNvSpPr>
            <a:spLocks noGrp="1"/>
          </p:cNvSpPr>
          <p:nvPr>
            <p:ph type="title"/>
          </p:nvPr>
        </p:nvSpPr>
        <p:spPr/>
        <p:txBody>
          <a:bodyPr/>
          <a:lstStyle/>
          <a:p>
            <a:r>
              <a:rPr lang="en-US" dirty="0"/>
              <a:t>Changes arising from S-98 D.C.A. (MAR 2026) - 2</a:t>
            </a:r>
          </a:p>
        </p:txBody>
      </p:sp>
      <p:sp>
        <p:nvSpPr>
          <p:cNvPr id="4" name="Content Placeholder 3">
            <a:extLst>
              <a:ext uri="{FF2B5EF4-FFF2-40B4-BE49-F238E27FC236}">
                <a16:creationId xmlns:a16="http://schemas.microsoft.com/office/drawing/2014/main" id="{FA04BB0A-8533-8102-1B59-960E4CD04164}"/>
              </a:ext>
            </a:extLst>
          </p:cNvPr>
          <p:cNvSpPr>
            <a:spLocks noGrp="1"/>
          </p:cNvSpPr>
          <p:nvPr>
            <p:ph idx="4294967295"/>
          </p:nvPr>
        </p:nvSpPr>
        <p:spPr>
          <a:xfrm>
            <a:off x="1676400" y="1025525"/>
            <a:ext cx="10515600" cy="5330825"/>
          </a:xfrm>
        </p:spPr>
        <p:txBody>
          <a:bodyPr>
            <a:normAutofit/>
          </a:bodyPr>
          <a:lstStyle/>
          <a:p>
            <a:pPr>
              <a:lnSpc>
                <a:spcPct val="120000"/>
              </a:lnSpc>
            </a:pPr>
            <a:endParaRPr lang="en-US" sz="6400" dirty="0"/>
          </a:p>
          <a:p>
            <a:pPr lvl="1">
              <a:lnSpc>
                <a:spcPct val="120000"/>
              </a:lnSpc>
            </a:pPr>
            <a:endParaRPr lang="en-US" sz="2000" dirty="0"/>
          </a:p>
        </p:txBody>
      </p:sp>
      <p:graphicFrame>
        <p:nvGraphicFramePr>
          <p:cNvPr id="5" name="Table 4">
            <a:extLst>
              <a:ext uri="{FF2B5EF4-FFF2-40B4-BE49-F238E27FC236}">
                <a16:creationId xmlns:a16="http://schemas.microsoft.com/office/drawing/2014/main" id="{88CDB8B7-2647-FFE7-B98F-35C6E149E98D}"/>
              </a:ext>
            </a:extLst>
          </p:cNvPr>
          <p:cNvGraphicFramePr>
            <a:graphicFrameLocks noGrp="1"/>
          </p:cNvGraphicFramePr>
          <p:nvPr/>
        </p:nvGraphicFramePr>
        <p:xfrm>
          <a:off x="965200" y="961714"/>
          <a:ext cx="10388601" cy="5461000"/>
        </p:xfrm>
        <a:graphic>
          <a:graphicData uri="http://schemas.openxmlformats.org/drawingml/2006/table">
            <a:tbl>
              <a:tblPr firstRow="1" bandRow="1">
                <a:tableStyleId>{5C22544A-7EE6-4342-B048-85BDC9FD1C3A}</a:tableStyleId>
              </a:tblPr>
              <a:tblGrid>
                <a:gridCol w="1186329">
                  <a:extLst>
                    <a:ext uri="{9D8B030D-6E8A-4147-A177-3AD203B41FA5}">
                      <a16:colId xmlns:a16="http://schemas.microsoft.com/office/drawing/2014/main" val="1759216924"/>
                    </a:ext>
                  </a:extLst>
                </a:gridCol>
                <a:gridCol w="5800165">
                  <a:extLst>
                    <a:ext uri="{9D8B030D-6E8A-4147-A177-3AD203B41FA5}">
                      <a16:colId xmlns:a16="http://schemas.microsoft.com/office/drawing/2014/main" val="3322187922"/>
                    </a:ext>
                  </a:extLst>
                </a:gridCol>
                <a:gridCol w="3402107">
                  <a:extLst>
                    <a:ext uri="{9D8B030D-6E8A-4147-A177-3AD203B41FA5}">
                      <a16:colId xmlns:a16="http://schemas.microsoft.com/office/drawing/2014/main" val="460557316"/>
                    </a:ext>
                  </a:extLst>
                </a:gridCol>
              </a:tblGrid>
              <a:tr h="370840">
                <a:tc>
                  <a:txBody>
                    <a:bodyPr/>
                    <a:lstStyle/>
                    <a:p>
                      <a:r>
                        <a:rPr lang="en-US" dirty="0"/>
                        <a:t>Location</a:t>
                      </a:r>
                    </a:p>
                  </a:txBody>
                  <a:tcPr/>
                </a:tc>
                <a:tc>
                  <a:txBody>
                    <a:bodyPr/>
                    <a:lstStyle/>
                    <a:p>
                      <a:r>
                        <a:rPr lang="en-US" dirty="0"/>
                        <a:t>Summary</a:t>
                      </a:r>
                    </a:p>
                  </a:txBody>
                  <a:tcPr/>
                </a:tc>
                <a:tc>
                  <a:txBody>
                    <a:bodyPr/>
                    <a:lstStyle/>
                    <a:p>
                      <a:r>
                        <a:rPr lang="en-US" dirty="0"/>
                        <a:t>Disposition</a:t>
                      </a:r>
                    </a:p>
                  </a:txBody>
                  <a:tcPr/>
                </a:tc>
                <a:extLst>
                  <a:ext uri="{0D108BD9-81ED-4DB2-BD59-A6C34878D82A}">
                    <a16:rowId xmlns:a16="http://schemas.microsoft.com/office/drawing/2014/main" val="185034448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4.2.3</a:t>
                      </a:r>
                    </a:p>
                  </a:txBody>
                  <a:tcPr/>
                </a:tc>
                <a:tc>
                  <a:txBody>
                    <a:bodyPr/>
                    <a:lstStyle/>
                    <a:p>
                      <a:r>
                        <a:rPr lang="en-US" sz="1600" dirty="0"/>
                        <a:t>Surface definition:</a:t>
                      </a:r>
                    </a:p>
                    <a:p>
                      <a:r>
                        <a:rPr lang="en-US" sz="1600" dirty="0"/>
                        <a:t>single </a:t>
                      </a:r>
                      <a:r>
                        <a:rPr lang="en-US" sz="1600" dirty="0" err="1"/>
                        <a:t>PolygonPatch</a:t>
                      </a:r>
                      <a:r>
                        <a:rPr lang="en-US" sz="1600" dirty="0"/>
                        <a:t> with a single exterior element and optional (i.e. 0 or more ) interior elements. Each  exterior or optional interior is a Linear Ring with &gt;=4 coordinate pairs expressed as a single space </a:t>
                      </a:r>
                    </a:p>
                    <a:p>
                      <a:r>
                        <a:rPr lang="en-US" sz="1600" dirty="0"/>
                        <a:t>separated </a:t>
                      </a:r>
                      <a:r>
                        <a:rPr lang="en-US" sz="1600" dirty="0" err="1"/>
                        <a:t>posList</a:t>
                      </a:r>
                      <a:endParaRPr lang="en-US" sz="1600" dirty="0"/>
                    </a:p>
                  </a:txBody>
                  <a:tcPr/>
                </a:tc>
                <a:tc>
                  <a:txBody>
                    <a:bodyPr/>
                    <a:lstStyle/>
                    <a:p>
                      <a:r>
                        <a:rPr lang="en-US" sz="1600" dirty="0"/>
                        <a:t>New VC to restrict ring to only </a:t>
                      </a:r>
                      <a:r>
                        <a:rPr lang="en-US" sz="1600" dirty="0" err="1"/>
                        <a:t>LinearRing</a:t>
                      </a:r>
                      <a:r>
                        <a:rPr lang="en-US" sz="1600" dirty="0"/>
                        <a:t>, classification W (since DCA does not explicitly prohibit Ring).</a:t>
                      </a:r>
                    </a:p>
                  </a:txBody>
                  <a:tcPr/>
                </a:tc>
                <a:extLst>
                  <a:ext uri="{0D108BD9-81ED-4DB2-BD59-A6C34878D82A}">
                    <a16:rowId xmlns:a16="http://schemas.microsoft.com/office/drawing/2014/main" val="674446448"/>
                  </a:ext>
                </a:extLst>
              </a:tr>
              <a:tr h="370840">
                <a:tc>
                  <a:txBody>
                    <a:bodyPr/>
                    <a:lstStyle/>
                    <a:p>
                      <a:r>
                        <a:rPr lang="en-US" sz="1600" dirty="0"/>
                        <a:t>4.x</a:t>
                      </a:r>
                    </a:p>
                  </a:txBody>
                  <a:tcPr/>
                </a:tc>
                <a:tc>
                  <a:txBody>
                    <a:bodyPr/>
                    <a:lstStyle/>
                    <a:p>
                      <a:r>
                        <a:rPr lang="en-US" sz="1600" dirty="0"/>
                        <a:t>S-100 10b-11.7 mandates the http URI convention. The S-98 DCA mandates EPSG 4326 while repeating the S-100 requirement.</a:t>
                      </a:r>
                    </a:p>
                    <a:p>
                      <a:r>
                        <a:rPr lang="en-US" sz="1600" dirty="0"/>
                        <a:t>This would prohibit UTM.</a:t>
                      </a:r>
                    </a:p>
                    <a:p>
                      <a:endParaRPr lang="en-US" sz="1600" dirty="0"/>
                    </a:p>
                  </a:txBody>
                  <a:tcPr/>
                </a:tc>
                <a:tc>
                  <a:txBody>
                    <a:bodyPr/>
                    <a:lstStyle/>
                    <a:p>
                      <a:r>
                        <a:rPr lang="en-US" sz="1600" dirty="0"/>
                        <a:t>New S-98 VC to check that the SRS is EPSG 4326. Classification W since status of UTM is unclear.</a:t>
                      </a:r>
                    </a:p>
                  </a:txBody>
                  <a:tcPr/>
                </a:tc>
                <a:extLst>
                  <a:ext uri="{0D108BD9-81ED-4DB2-BD59-A6C34878D82A}">
                    <a16:rowId xmlns:a16="http://schemas.microsoft.com/office/drawing/2014/main" val="4112931603"/>
                  </a:ext>
                </a:extLst>
              </a:tr>
              <a:tr h="370840">
                <a:tc>
                  <a:txBody>
                    <a:bodyPr/>
                    <a:lstStyle/>
                    <a:p>
                      <a:r>
                        <a:rPr lang="en-US" sz="1600" dirty="0"/>
                        <a:t>4.x</a:t>
                      </a:r>
                    </a:p>
                  </a:txBody>
                  <a:tcPr/>
                </a:tc>
                <a:tc>
                  <a:txBody>
                    <a:bodyPr/>
                    <a:lstStyle/>
                    <a:p>
                      <a:r>
                        <a:rPr lang="en-US" sz="1600" dirty="0"/>
                        <a:t>Coordinate order must be latitude followed by longitude.</a:t>
                      </a:r>
                    </a:p>
                    <a:p>
                      <a:r>
                        <a:rPr lang="en-US" sz="1600" dirty="0"/>
                        <a:t>(No consideration of UTM.)</a:t>
                      </a:r>
                    </a:p>
                  </a:txBody>
                  <a:tcPr/>
                </a:tc>
                <a:tc>
                  <a:txBody>
                    <a:bodyPr/>
                    <a:lstStyle/>
                    <a:p>
                      <a:r>
                        <a:rPr lang="en-US" sz="1600" dirty="0"/>
                        <a:t>See #143 10b-11.7, not clear a reliable purely executable VC can be defined.</a:t>
                      </a:r>
                    </a:p>
                  </a:txBody>
                  <a:tcPr/>
                </a:tc>
                <a:extLst>
                  <a:ext uri="{0D108BD9-81ED-4DB2-BD59-A6C34878D82A}">
                    <a16:rowId xmlns:a16="http://schemas.microsoft.com/office/drawing/2014/main" val="1695236894"/>
                  </a:ext>
                </a:extLst>
              </a:tr>
              <a:tr h="370840">
                <a:tc>
                  <a:txBody>
                    <a:bodyPr/>
                    <a:lstStyle/>
                    <a:p>
                      <a:r>
                        <a:rPr lang="en-US" sz="1600" dirty="0"/>
                        <a:t>4.x</a:t>
                      </a:r>
                    </a:p>
                  </a:txBody>
                  <a:tcPr/>
                </a:tc>
                <a:tc>
                  <a:txBody>
                    <a:bodyPr/>
                    <a:lstStyle/>
                    <a:p>
                      <a:r>
                        <a:rPr lang="en-US" sz="1600" i="0" dirty="0"/>
                        <a:t>Coordinates encoded in </a:t>
                      </a:r>
                      <a:r>
                        <a:rPr lang="en-US" sz="1600" i="0" dirty="0" err="1"/>
                        <a:t>posList</a:t>
                      </a:r>
                      <a:r>
                        <a:rPr lang="en-US" sz="1600" i="0" dirty="0"/>
                        <a:t> must </a:t>
                      </a:r>
                      <a:r>
                        <a:rPr lang="en-US" sz="1600" i="0"/>
                        <a:t>have no </a:t>
                      </a:r>
                      <a:r>
                        <a:rPr lang="en-US" sz="1600" i="0" dirty="0"/>
                        <a:t>leading or trailing whitespace or newlines.</a:t>
                      </a:r>
                    </a:p>
                    <a:p>
                      <a:r>
                        <a:rPr lang="en-US" sz="1600" i="0" dirty="0"/>
                        <a:t>(Why are newlines prohibited in </a:t>
                      </a:r>
                      <a:r>
                        <a:rPr lang="en-US" sz="1600" i="0" dirty="0" err="1"/>
                        <a:t>posList</a:t>
                      </a:r>
                      <a:r>
                        <a:rPr lang="en-US" sz="1600" i="0" dirty="0"/>
                        <a:t>? Whitespace must be used to separate coordinates and newlines are whitespace. XML and GML are OK with newlines in </a:t>
                      </a:r>
                      <a:r>
                        <a:rPr lang="en-US" sz="1600" i="0" dirty="0" err="1"/>
                        <a:t>posList</a:t>
                      </a:r>
                      <a:r>
                        <a:rPr lang="en-US" sz="1600" i="0" dirty="0"/>
                        <a:t> strings.)</a:t>
                      </a:r>
                    </a:p>
                  </a:txBody>
                  <a:tcPr/>
                </a:tc>
                <a:tc>
                  <a:txBody>
                    <a:bodyPr/>
                    <a:lstStyle/>
                    <a:p>
                      <a:r>
                        <a:rPr lang="en-US" sz="1600" i="0" dirty="0"/>
                        <a:t>New VC. This requirement is not an XML or GML requirement and forces examination of every </a:t>
                      </a:r>
                      <a:r>
                        <a:rPr lang="en-US" sz="1600" i="0" dirty="0" err="1"/>
                        <a:t>posList</a:t>
                      </a:r>
                      <a:r>
                        <a:rPr lang="en-US" sz="1600" i="0" dirty="0"/>
                        <a:t> string value, sometimes ~ 10^4 characters.</a:t>
                      </a:r>
                    </a:p>
                  </a:txBody>
                  <a:tcPr/>
                </a:tc>
                <a:extLst>
                  <a:ext uri="{0D108BD9-81ED-4DB2-BD59-A6C34878D82A}">
                    <a16:rowId xmlns:a16="http://schemas.microsoft.com/office/drawing/2014/main" val="2494120333"/>
                  </a:ext>
                </a:extLst>
              </a:tr>
              <a:tr h="370840">
                <a:tc>
                  <a:txBody>
                    <a:bodyPr/>
                    <a:lstStyle/>
                    <a:p>
                      <a:r>
                        <a:rPr lang="en-US" sz="1600" dirty="0"/>
                        <a:t>4.2.1, 4.2.2, 4.2.3</a:t>
                      </a:r>
                    </a:p>
                  </a:txBody>
                  <a:tcPr/>
                </a:tc>
                <a:tc>
                  <a:txBody>
                    <a:bodyPr/>
                    <a:lstStyle/>
                    <a:p>
                      <a:r>
                        <a:rPr lang="en-US" sz="1600" dirty="0"/>
                        <a:t>Geometry-by-reference must not point to a spatial object that is itself by-reference. Inferred from 4.2.1/2/3.</a:t>
                      </a:r>
                    </a:p>
                  </a:txBody>
                  <a:tcPr/>
                </a:tc>
                <a:tc>
                  <a:txBody>
                    <a:bodyPr/>
                    <a:lstStyle/>
                    <a:p>
                      <a:r>
                        <a:rPr lang="en-US" sz="1600" dirty="0"/>
                        <a:t>TBD, separate VC for this is redundant if all references must be to standalone spatial objects with inline coordinates.</a:t>
                      </a:r>
                    </a:p>
                  </a:txBody>
                  <a:tcPr/>
                </a:tc>
                <a:extLst>
                  <a:ext uri="{0D108BD9-81ED-4DB2-BD59-A6C34878D82A}">
                    <a16:rowId xmlns:a16="http://schemas.microsoft.com/office/drawing/2014/main" val="888408502"/>
                  </a:ext>
                </a:extLst>
              </a:tr>
            </a:tbl>
          </a:graphicData>
        </a:graphic>
      </p:graphicFrame>
    </p:spTree>
    <p:extLst>
      <p:ext uri="{BB962C8B-B14F-4D97-AF65-F5344CB8AC3E}">
        <p14:creationId xmlns:p14="http://schemas.microsoft.com/office/powerpoint/2010/main" val="30832137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C6574-10E2-BF1D-F986-58A8F283AF4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723D9B-CDA9-C382-328F-764DE82EE1C9}"/>
              </a:ext>
            </a:extLst>
          </p:cNvPr>
          <p:cNvSpPr>
            <a:spLocks noGrp="1"/>
          </p:cNvSpPr>
          <p:nvPr>
            <p:ph type="sldNum" sz="quarter" idx="12"/>
          </p:nvPr>
        </p:nvSpPr>
        <p:spPr/>
        <p:txBody>
          <a:bodyPr/>
          <a:lstStyle/>
          <a:p>
            <a:fld id="{46D0E966-1BD1-4C85-866E-DF3AF3395196}" type="slidenum">
              <a:rPr lang="fr-FR" smtClean="0"/>
              <a:t>26</a:t>
            </a:fld>
            <a:endParaRPr lang="fr-FR"/>
          </a:p>
        </p:txBody>
      </p:sp>
      <p:sp>
        <p:nvSpPr>
          <p:cNvPr id="3" name="Title 2">
            <a:extLst>
              <a:ext uri="{FF2B5EF4-FFF2-40B4-BE49-F238E27FC236}">
                <a16:creationId xmlns:a16="http://schemas.microsoft.com/office/drawing/2014/main" id="{D37202AA-348E-738F-2E2E-39927E869C9D}"/>
              </a:ext>
            </a:extLst>
          </p:cNvPr>
          <p:cNvSpPr>
            <a:spLocks noGrp="1"/>
          </p:cNvSpPr>
          <p:nvPr>
            <p:ph type="title"/>
          </p:nvPr>
        </p:nvSpPr>
        <p:spPr/>
        <p:txBody>
          <a:bodyPr/>
          <a:lstStyle/>
          <a:p>
            <a:r>
              <a:rPr lang="en-US" dirty="0"/>
              <a:t>Changes arising from S-98 D.C.A. (MAR 2026) - 3</a:t>
            </a:r>
          </a:p>
        </p:txBody>
      </p:sp>
      <p:sp>
        <p:nvSpPr>
          <p:cNvPr id="4" name="Content Placeholder 3">
            <a:extLst>
              <a:ext uri="{FF2B5EF4-FFF2-40B4-BE49-F238E27FC236}">
                <a16:creationId xmlns:a16="http://schemas.microsoft.com/office/drawing/2014/main" id="{AA65CC90-4D6B-9A84-1B0B-8AA3F1072139}"/>
              </a:ext>
            </a:extLst>
          </p:cNvPr>
          <p:cNvSpPr>
            <a:spLocks noGrp="1"/>
          </p:cNvSpPr>
          <p:nvPr>
            <p:ph idx="4294967295"/>
          </p:nvPr>
        </p:nvSpPr>
        <p:spPr>
          <a:xfrm>
            <a:off x="1676400" y="1025525"/>
            <a:ext cx="10515600" cy="5330825"/>
          </a:xfrm>
        </p:spPr>
        <p:txBody>
          <a:bodyPr>
            <a:normAutofit/>
          </a:bodyPr>
          <a:lstStyle/>
          <a:p>
            <a:pPr>
              <a:lnSpc>
                <a:spcPct val="120000"/>
              </a:lnSpc>
            </a:pPr>
            <a:endParaRPr lang="en-US" sz="6400" dirty="0"/>
          </a:p>
          <a:p>
            <a:pPr lvl="1">
              <a:lnSpc>
                <a:spcPct val="120000"/>
              </a:lnSpc>
            </a:pPr>
            <a:endParaRPr lang="en-US" sz="2000" dirty="0"/>
          </a:p>
        </p:txBody>
      </p:sp>
      <p:graphicFrame>
        <p:nvGraphicFramePr>
          <p:cNvPr id="5" name="Table 4">
            <a:extLst>
              <a:ext uri="{FF2B5EF4-FFF2-40B4-BE49-F238E27FC236}">
                <a16:creationId xmlns:a16="http://schemas.microsoft.com/office/drawing/2014/main" id="{FD62174F-142B-9899-2CCC-D60CD5A28176}"/>
              </a:ext>
            </a:extLst>
          </p:cNvPr>
          <p:cNvGraphicFramePr>
            <a:graphicFrameLocks noGrp="1"/>
          </p:cNvGraphicFramePr>
          <p:nvPr/>
        </p:nvGraphicFramePr>
        <p:xfrm>
          <a:off x="965200" y="961714"/>
          <a:ext cx="10240561" cy="4394200"/>
        </p:xfrm>
        <a:graphic>
          <a:graphicData uri="http://schemas.openxmlformats.org/drawingml/2006/table">
            <a:tbl>
              <a:tblPr firstRow="1" bandRow="1">
                <a:tableStyleId>{5C22544A-7EE6-4342-B048-85BDC9FD1C3A}</a:tableStyleId>
              </a:tblPr>
              <a:tblGrid>
                <a:gridCol w="1038289">
                  <a:extLst>
                    <a:ext uri="{9D8B030D-6E8A-4147-A177-3AD203B41FA5}">
                      <a16:colId xmlns:a16="http://schemas.microsoft.com/office/drawing/2014/main" val="1759216924"/>
                    </a:ext>
                  </a:extLst>
                </a:gridCol>
                <a:gridCol w="5800165">
                  <a:extLst>
                    <a:ext uri="{9D8B030D-6E8A-4147-A177-3AD203B41FA5}">
                      <a16:colId xmlns:a16="http://schemas.microsoft.com/office/drawing/2014/main" val="3322187922"/>
                    </a:ext>
                  </a:extLst>
                </a:gridCol>
                <a:gridCol w="3402107">
                  <a:extLst>
                    <a:ext uri="{9D8B030D-6E8A-4147-A177-3AD203B41FA5}">
                      <a16:colId xmlns:a16="http://schemas.microsoft.com/office/drawing/2014/main" val="460557316"/>
                    </a:ext>
                  </a:extLst>
                </a:gridCol>
              </a:tblGrid>
              <a:tr h="370840">
                <a:tc>
                  <a:txBody>
                    <a:bodyPr/>
                    <a:lstStyle/>
                    <a:p>
                      <a:r>
                        <a:rPr lang="en-US" dirty="0"/>
                        <a:t>Location</a:t>
                      </a:r>
                    </a:p>
                  </a:txBody>
                  <a:tcPr/>
                </a:tc>
                <a:tc>
                  <a:txBody>
                    <a:bodyPr/>
                    <a:lstStyle/>
                    <a:p>
                      <a:r>
                        <a:rPr lang="en-US" dirty="0"/>
                        <a:t>Summary</a:t>
                      </a:r>
                    </a:p>
                  </a:txBody>
                  <a:tcPr/>
                </a:tc>
                <a:tc>
                  <a:txBody>
                    <a:bodyPr/>
                    <a:lstStyle/>
                    <a:p>
                      <a:r>
                        <a:rPr lang="en-US" dirty="0"/>
                        <a:t>Disposition</a:t>
                      </a:r>
                    </a:p>
                  </a:txBody>
                  <a:tcPr/>
                </a:tc>
                <a:extLst>
                  <a:ext uri="{0D108BD9-81ED-4DB2-BD59-A6C34878D82A}">
                    <a16:rowId xmlns:a16="http://schemas.microsoft.com/office/drawing/2014/main" val="185034448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5</a:t>
                      </a:r>
                    </a:p>
                  </a:txBody>
                  <a:tcPr/>
                </a:tc>
                <a:tc>
                  <a:txBody>
                    <a:bodyPr/>
                    <a:lstStyle/>
                    <a:p>
                      <a:r>
                        <a:rPr lang="en-US" sz="1600" dirty="0"/>
                        <a:t>Enhanced Safety Contour data constraints: Mostly about application processing. Actual data constraints:</a:t>
                      </a:r>
                    </a:p>
                    <a:p>
                      <a:r>
                        <a:rPr lang="en-US" sz="1600" dirty="0"/>
                        <a:t>S-102 data “not expected to overlap, but in case of overlap (etc., etc.)”</a:t>
                      </a:r>
                    </a:p>
                    <a:p>
                      <a:r>
                        <a:rPr lang="en-US" sz="1600" dirty="0"/>
                        <a:t>Only rectangular grids</a:t>
                      </a:r>
                    </a:p>
                  </a:txBody>
                  <a:tcPr/>
                </a:tc>
                <a:tc>
                  <a:txBody>
                    <a:bodyPr/>
                    <a:lstStyle/>
                    <a:p>
                      <a:r>
                        <a:rPr lang="en-US" sz="1600" dirty="0"/>
                        <a:t>New VC would be redundant since there is an S-98 check for overlap (98_3001) and S-102 edition 3 allows only rectangular grids.</a:t>
                      </a:r>
                    </a:p>
                  </a:txBody>
                  <a:tcPr/>
                </a:tc>
                <a:extLst>
                  <a:ext uri="{0D108BD9-81ED-4DB2-BD59-A6C34878D82A}">
                    <a16:rowId xmlns:a16="http://schemas.microsoft.com/office/drawing/2014/main" val="674446448"/>
                  </a:ext>
                </a:extLst>
              </a:tr>
              <a:tr h="370840">
                <a:tc>
                  <a:txBody>
                    <a:bodyPr/>
                    <a:lstStyle/>
                    <a:p>
                      <a:r>
                        <a:rPr lang="en-US" sz="1600" dirty="0"/>
                        <a:t>5</a:t>
                      </a:r>
                    </a:p>
                  </a:txBody>
                  <a:tcPr/>
                </a:tc>
                <a:tc>
                  <a:txBody>
                    <a:bodyPr/>
                    <a:lstStyle/>
                    <a:p>
                      <a:r>
                        <a:rPr lang="en-US" sz="1600" dirty="0"/>
                        <a:t>Water Level Adjustment data constraints: Mostly about application processing. Actual data constraints</a:t>
                      </a:r>
                    </a:p>
                    <a:p>
                      <a:r>
                        <a:rPr lang="en-US" sz="1600" dirty="0"/>
                        <a:t>“S-104 datasets are not expected to spatially overlap within the same scale range, but in case of an overlap (etc., etc.)”</a:t>
                      </a:r>
                    </a:p>
                    <a:p>
                      <a:r>
                        <a:rPr lang="en-US" sz="1600" dirty="0"/>
                        <a:t>Use same vertical datum as S-102,</a:t>
                      </a:r>
                    </a:p>
                  </a:txBody>
                  <a:tcPr/>
                </a:tc>
                <a:tc>
                  <a:txBody>
                    <a:bodyPr/>
                    <a:lstStyle/>
                    <a:p>
                      <a:r>
                        <a:rPr lang="en-US" sz="1600" dirty="0"/>
                        <a:t>New VC would be redundant since there are S-98 checks for overlap (98_3001) and vertical datum compatibility (98_7001 &amp; 98_7002).</a:t>
                      </a:r>
                    </a:p>
                  </a:txBody>
                  <a:tcPr/>
                </a:tc>
                <a:extLst>
                  <a:ext uri="{0D108BD9-81ED-4DB2-BD59-A6C34878D82A}">
                    <a16:rowId xmlns:a16="http://schemas.microsoft.com/office/drawing/2014/main" val="4112931603"/>
                  </a:ext>
                </a:extLst>
              </a:tr>
              <a:tr h="370840">
                <a:tc>
                  <a:txBody>
                    <a:bodyPr/>
                    <a:lstStyle/>
                    <a:p>
                      <a:r>
                        <a:rPr lang="en-US" sz="1600" dirty="0"/>
                        <a:t>6</a:t>
                      </a:r>
                    </a:p>
                  </a:txBody>
                  <a:tcPr/>
                </a:tc>
                <a:tc>
                  <a:txBody>
                    <a:bodyPr/>
                    <a:lstStyle/>
                    <a:p>
                      <a:r>
                        <a:rPr lang="en-US" sz="1600" dirty="0"/>
                        <a:t>Digital signatures are mandatory for any data imported into the ECDIS, whether official or not.</a:t>
                      </a:r>
                    </a:p>
                  </a:txBody>
                  <a:tcPr/>
                </a:tc>
                <a:tc>
                  <a:txBody>
                    <a:bodyPr/>
                    <a:lstStyle/>
                    <a:p>
                      <a:r>
                        <a:rPr lang="en-US" sz="1600" dirty="0"/>
                        <a:t>Duplicative of 100_0275, 100_0276.</a:t>
                      </a:r>
                    </a:p>
                  </a:txBody>
                  <a:tcPr/>
                </a:tc>
                <a:extLst>
                  <a:ext uri="{0D108BD9-81ED-4DB2-BD59-A6C34878D82A}">
                    <a16:rowId xmlns:a16="http://schemas.microsoft.com/office/drawing/2014/main" val="1695236894"/>
                  </a:ext>
                </a:extLst>
              </a:tr>
              <a:tr h="370840">
                <a:tc>
                  <a:txBody>
                    <a:bodyPr/>
                    <a:lstStyle/>
                    <a:p>
                      <a:r>
                        <a:rPr lang="en-US" sz="1600" dirty="0"/>
                        <a:t>6</a:t>
                      </a:r>
                    </a:p>
                  </a:txBody>
                  <a:tcPr/>
                </a:tc>
                <a:tc>
                  <a:txBody>
                    <a:bodyPr/>
                    <a:lstStyle/>
                    <a:p>
                      <a:r>
                        <a:rPr lang="en-US" sz="1600" i="0" dirty="0"/>
                        <a:t>Existence and values of mandatory fields within every authenticating certificate: C, ST, O, CN.</a:t>
                      </a:r>
                    </a:p>
                  </a:txBody>
                  <a:tcPr/>
                </a:tc>
                <a:tc>
                  <a:txBody>
                    <a:bodyPr/>
                    <a:lstStyle/>
                    <a:p>
                      <a:r>
                        <a:rPr lang="en-US" sz="1600" i="0" dirty="0"/>
                        <a:t>New S-98 check for existence and values of mandatory fields in authenticating certificate.</a:t>
                      </a:r>
                    </a:p>
                  </a:txBody>
                  <a:tcPr/>
                </a:tc>
                <a:extLst>
                  <a:ext uri="{0D108BD9-81ED-4DB2-BD59-A6C34878D82A}">
                    <a16:rowId xmlns:a16="http://schemas.microsoft.com/office/drawing/2014/main" val="2494120333"/>
                  </a:ext>
                </a:extLst>
              </a:tr>
            </a:tbl>
          </a:graphicData>
        </a:graphic>
      </p:graphicFrame>
    </p:spTree>
    <p:extLst>
      <p:ext uri="{BB962C8B-B14F-4D97-AF65-F5344CB8AC3E}">
        <p14:creationId xmlns:p14="http://schemas.microsoft.com/office/powerpoint/2010/main" val="32030294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BDA01C-5963-E2B9-CFEE-D3D905E84520}"/>
              </a:ext>
            </a:extLst>
          </p:cNvPr>
          <p:cNvSpPr>
            <a:spLocks noGrp="1"/>
          </p:cNvSpPr>
          <p:nvPr>
            <p:ph type="sldNum" sz="quarter" idx="12"/>
          </p:nvPr>
        </p:nvSpPr>
        <p:spPr/>
        <p:txBody>
          <a:bodyPr/>
          <a:lstStyle/>
          <a:p>
            <a:fld id="{46D0E966-1BD1-4C85-866E-DF3AF3395196}" type="slidenum">
              <a:rPr lang="fr-FR" smtClean="0"/>
              <a:t>27</a:t>
            </a:fld>
            <a:endParaRPr lang="fr-FR"/>
          </a:p>
        </p:txBody>
      </p:sp>
      <p:sp>
        <p:nvSpPr>
          <p:cNvPr id="3" name="Title 2">
            <a:extLst>
              <a:ext uri="{FF2B5EF4-FFF2-40B4-BE49-F238E27FC236}">
                <a16:creationId xmlns:a16="http://schemas.microsoft.com/office/drawing/2014/main" id="{05DFAD50-A031-A0F7-DBD2-65DEA17AF64B}"/>
              </a:ext>
            </a:extLst>
          </p:cNvPr>
          <p:cNvSpPr>
            <a:spLocks noGrp="1"/>
          </p:cNvSpPr>
          <p:nvPr>
            <p:ph type="title"/>
          </p:nvPr>
        </p:nvSpPr>
        <p:spPr/>
        <p:txBody>
          <a:bodyPr/>
          <a:lstStyle/>
          <a:p>
            <a:r>
              <a:rPr lang="en-US" dirty="0"/>
              <a:t>Data constraints Annex clause 6</a:t>
            </a:r>
          </a:p>
        </p:txBody>
      </p:sp>
      <p:pic>
        <p:nvPicPr>
          <p:cNvPr id="5" name="Picture 4">
            <a:extLst>
              <a:ext uri="{FF2B5EF4-FFF2-40B4-BE49-F238E27FC236}">
                <a16:creationId xmlns:a16="http://schemas.microsoft.com/office/drawing/2014/main" id="{139FDFB2-7B00-7533-D507-BF20865EAC32}"/>
              </a:ext>
            </a:extLst>
          </p:cNvPr>
          <p:cNvPicPr>
            <a:picLocks noChangeAspect="1"/>
          </p:cNvPicPr>
          <p:nvPr/>
        </p:nvPicPr>
        <p:blipFill>
          <a:blip r:embed="rId2"/>
          <a:stretch>
            <a:fillRect/>
          </a:stretch>
        </p:blipFill>
        <p:spPr>
          <a:xfrm>
            <a:off x="940493" y="955052"/>
            <a:ext cx="5349791" cy="4818219"/>
          </a:xfrm>
          <a:prstGeom prst="rect">
            <a:avLst/>
          </a:prstGeom>
        </p:spPr>
      </p:pic>
      <p:pic>
        <p:nvPicPr>
          <p:cNvPr id="7" name="Picture 6">
            <a:extLst>
              <a:ext uri="{FF2B5EF4-FFF2-40B4-BE49-F238E27FC236}">
                <a16:creationId xmlns:a16="http://schemas.microsoft.com/office/drawing/2014/main" id="{9CB20F38-0D82-8385-FA89-8B697C56952E}"/>
              </a:ext>
            </a:extLst>
          </p:cNvPr>
          <p:cNvPicPr>
            <a:picLocks noChangeAspect="1"/>
          </p:cNvPicPr>
          <p:nvPr/>
        </p:nvPicPr>
        <p:blipFill>
          <a:blip r:embed="rId3"/>
          <a:stretch>
            <a:fillRect/>
          </a:stretch>
        </p:blipFill>
        <p:spPr>
          <a:xfrm>
            <a:off x="6323527" y="955052"/>
            <a:ext cx="5030273" cy="888464"/>
          </a:xfrm>
          <a:prstGeom prst="rect">
            <a:avLst/>
          </a:prstGeom>
        </p:spPr>
      </p:pic>
    </p:spTree>
    <p:extLst>
      <p:ext uri="{BB962C8B-B14F-4D97-AF65-F5344CB8AC3E}">
        <p14:creationId xmlns:p14="http://schemas.microsoft.com/office/powerpoint/2010/main" val="4746857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5430A-9D13-62AD-65DA-D84DA31C630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C88934-49C5-55C6-39DF-F77C57FC55CA}"/>
              </a:ext>
            </a:extLst>
          </p:cNvPr>
          <p:cNvSpPr>
            <a:spLocks noGrp="1"/>
          </p:cNvSpPr>
          <p:nvPr>
            <p:ph type="sldNum" sz="quarter" idx="12"/>
          </p:nvPr>
        </p:nvSpPr>
        <p:spPr/>
        <p:txBody>
          <a:bodyPr/>
          <a:lstStyle/>
          <a:p>
            <a:fld id="{46D0E966-1BD1-4C85-866E-DF3AF3395196}" type="slidenum">
              <a:rPr lang="fr-FR" smtClean="0"/>
              <a:t>28</a:t>
            </a:fld>
            <a:endParaRPr lang="fr-FR"/>
          </a:p>
        </p:txBody>
      </p:sp>
      <p:sp>
        <p:nvSpPr>
          <p:cNvPr id="3" name="Title 2">
            <a:extLst>
              <a:ext uri="{FF2B5EF4-FFF2-40B4-BE49-F238E27FC236}">
                <a16:creationId xmlns:a16="http://schemas.microsoft.com/office/drawing/2014/main" id="{C637AAEC-6D2F-1136-EC57-CD57DA2367A3}"/>
              </a:ext>
            </a:extLst>
          </p:cNvPr>
          <p:cNvSpPr>
            <a:spLocks noGrp="1"/>
          </p:cNvSpPr>
          <p:nvPr>
            <p:ph type="title"/>
          </p:nvPr>
        </p:nvSpPr>
        <p:spPr/>
        <p:txBody>
          <a:bodyPr/>
          <a:lstStyle/>
          <a:p>
            <a:r>
              <a:rPr lang="en-US" dirty="0"/>
              <a:t>Changes arising from S-98 D.C.A. (MAR 2026) - 4</a:t>
            </a:r>
          </a:p>
        </p:txBody>
      </p:sp>
      <p:sp>
        <p:nvSpPr>
          <p:cNvPr id="4" name="Content Placeholder 3">
            <a:extLst>
              <a:ext uri="{FF2B5EF4-FFF2-40B4-BE49-F238E27FC236}">
                <a16:creationId xmlns:a16="http://schemas.microsoft.com/office/drawing/2014/main" id="{748001E3-8AEF-8DB2-2779-42B25D2E4BAB}"/>
              </a:ext>
            </a:extLst>
          </p:cNvPr>
          <p:cNvSpPr>
            <a:spLocks noGrp="1"/>
          </p:cNvSpPr>
          <p:nvPr>
            <p:ph idx="4294967295"/>
          </p:nvPr>
        </p:nvSpPr>
        <p:spPr>
          <a:xfrm>
            <a:off x="1676400" y="1025525"/>
            <a:ext cx="10515600" cy="5330825"/>
          </a:xfrm>
        </p:spPr>
        <p:txBody>
          <a:bodyPr>
            <a:normAutofit/>
          </a:bodyPr>
          <a:lstStyle/>
          <a:p>
            <a:pPr>
              <a:lnSpc>
                <a:spcPct val="120000"/>
              </a:lnSpc>
            </a:pPr>
            <a:endParaRPr lang="en-US" sz="6400" dirty="0"/>
          </a:p>
          <a:p>
            <a:pPr lvl="1">
              <a:lnSpc>
                <a:spcPct val="120000"/>
              </a:lnSpc>
            </a:pPr>
            <a:endParaRPr lang="en-US" sz="2000" dirty="0"/>
          </a:p>
        </p:txBody>
      </p:sp>
      <p:graphicFrame>
        <p:nvGraphicFramePr>
          <p:cNvPr id="5" name="Table 4">
            <a:extLst>
              <a:ext uri="{FF2B5EF4-FFF2-40B4-BE49-F238E27FC236}">
                <a16:creationId xmlns:a16="http://schemas.microsoft.com/office/drawing/2014/main" id="{3761CDCF-9E77-9B7B-422A-2712F82DD958}"/>
              </a:ext>
            </a:extLst>
          </p:cNvPr>
          <p:cNvGraphicFramePr>
            <a:graphicFrameLocks noGrp="1"/>
          </p:cNvGraphicFramePr>
          <p:nvPr/>
        </p:nvGraphicFramePr>
        <p:xfrm>
          <a:off x="965200" y="961714"/>
          <a:ext cx="10240561" cy="4927600"/>
        </p:xfrm>
        <a:graphic>
          <a:graphicData uri="http://schemas.openxmlformats.org/drawingml/2006/table">
            <a:tbl>
              <a:tblPr firstRow="1" bandRow="1">
                <a:tableStyleId>{5C22544A-7EE6-4342-B048-85BDC9FD1C3A}</a:tableStyleId>
              </a:tblPr>
              <a:tblGrid>
                <a:gridCol w="1038289">
                  <a:extLst>
                    <a:ext uri="{9D8B030D-6E8A-4147-A177-3AD203B41FA5}">
                      <a16:colId xmlns:a16="http://schemas.microsoft.com/office/drawing/2014/main" val="1759216924"/>
                    </a:ext>
                  </a:extLst>
                </a:gridCol>
                <a:gridCol w="5553758">
                  <a:extLst>
                    <a:ext uri="{9D8B030D-6E8A-4147-A177-3AD203B41FA5}">
                      <a16:colId xmlns:a16="http://schemas.microsoft.com/office/drawing/2014/main" val="3322187922"/>
                    </a:ext>
                  </a:extLst>
                </a:gridCol>
                <a:gridCol w="3648514">
                  <a:extLst>
                    <a:ext uri="{9D8B030D-6E8A-4147-A177-3AD203B41FA5}">
                      <a16:colId xmlns:a16="http://schemas.microsoft.com/office/drawing/2014/main" val="460557316"/>
                    </a:ext>
                  </a:extLst>
                </a:gridCol>
              </a:tblGrid>
              <a:tr h="370840">
                <a:tc>
                  <a:txBody>
                    <a:bodyPr/>
                    <a:lstStyle/>
                    <a:p>
                      <a:r>
                        <a:rPr lang="en-US" dirty="0"/>
                        <a:t>Location</a:t>
                      </a:r>
                    </a:p>
                  </a:txBody>
                  <a:tcPr/>
                </a:tc>
                <a:tc>
                  <a:txBody>
                    <a:bodyPr/>
                    <a:lstStyle/>
                    <a:p>
                      <a:r>
                        <a:rPr lang="en-US" dirty="0"/>
                        <a:t>Summary</a:t>
                      </a:r>
                    </a:p>
                  </a:txBody>
                  <a:tcPr/>
                </a:tc>
                <a:tc>
                  <a:txBody>
                    <a:bodyPr/>
                    <a:lstStyle/>
                    <a:p>
                      <a:r>
                        <a:rPr lang="en-US" dirty="0"/>
                        <a:t>Disposition</a:t>
                      </a:r>
                    </a:p>
                  </a:txBody>
                  <a:tcPr/>
                </a:tc>
                <a:extLst>
                  <a:ext uri="{0D108BD9-81ED-4DB2-BD59-A6C34878D82A}">
                    <a16:rowId xmlns:a16="http://schemas.microsoft.com/office/drawing/2014/main" val="185034448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7</a:t>
                      </a:r>
                    </a:p>
                  </a:txBody>
                  <a:tcPr/>
                </a:tc>
                <a:tc>
                  <a:txBody>
                    <a:bodyPr/>
                    <a:lstStyle/>
                    <a:p>
                      <a:r>
                        <a:rPr lang="en-US" sz="1600" dirty="0"/>
                        <a:t>Exchange sets delivered to ECDIS must only contain:</a:t>
                      </a:r>
                    </a:p>
                    <a:p>
                      <a:pPr marL="285750" indent="-285750">
                        <a:buFont typeface="Arial" panose="020B0604020202020204" pitchFamily="34" charset="0"/>
                        <a:buChar char="•"/>
                      </a:pPr>
                      <a:r>
                        <a:rPr lang="en-US" sz="1600" dirty="0"/>
                        <a:t>S-100 datasets, any required dataset support files, S-100 catalogues (feature and portrayal catalogues) </a:t>
                      </a:r>
                    </a:p>
                    <a:p>
                      <a:pPr marL="285750" indent="-285750">
                        <a:buFont typeface="Arial" panose="020B0604020202020204" pitchFamily="34" charset="0"/>
                        <a:buChar char="•"/>
                      </a:pPr>
                      <a:r>
                        <a:rPr lang="en-US" sz="1600" dirty="0"/>
                        <a:t>language packs, referred to as “system support files”</a:t>
                      </a:r>
                    </a:p>
                    <a:p>
                      <a:r>
                        <a:rPr lang="en-US" sz="1600" dirty="0"/>
                        <a:t>Notes: (1) Excludes ISO metadata files.</a:t>
                      </a:r>
                    </a:p>
                    <a:p>
                      <a:r>
                        <a:rPr lang="en-US" sz="1600" dirty="0"/>
                        <a:t>(2) Supporting resources such as language and enumeration dictionaries must be included under “system support files”.</a:t>
                      </a:r>
                    </a:p>
                    <a:p>
                      <a:r>
                        <a:rPr lang="en-US" sz="1600" dirty="0"/>
                        <a:t>(3) Language prohibits mixed S-57/S-1xx datasets.</a:t>
                      </a:r>
                    </a:p>
                  </a:txBody>
                  <a:tcPr/>
                </a:tc>
                <a:tc>
                  <a:txBody>
                    <a:bodyPr/>
                    <a:lstStyle/>
                    <a:p>
                      <a:r>
                        <a:rPr lang="en-US" sz="1600" dirty="0"/>
                        <a:t>New S-98 check or checks.</a:t>
                      </a:r>
                    </a:p>
                    <a:p>
                      <a:r>
                        <a:rPr lang="en-US" sz="1600" dirty="0"/>
                        <a:t>100_0279, 100_0280 </a:t>
                      </a:r>
                      <a:r>
                        <a:rPr lang="en-US" sz="1600" u="sng" dirty="0"/>
                        <a:t>partially</a:t>
                      </a:r>
                      <a:r>
                        <a:rPr lang="en-US" sz="1600" dirty="0"/>
                        <a:t> relevant</a:t>
                      </a:r>
                    </a:p>
                  </a:txBody>
                  <a:tcPr/>
                </a:tc>
                <a:extLst>
                  <a:ext uri="{0D108BD9-81ED-4DB2-BD59-A6C34878D82A}">
                    <a16:rowId xmlns:a16="http://schemas.microsoft.com/office/drawing/2014/main" val="674446448"/>
                  </a:ext>
                </a:extLst>
              </a:tr>
              <a:tr h="370840">
                <a:tc>
                  <a:txBody>
                    <a:bodyPr/>
                    <a:lstStyle/>
                    <a:p>
                      <a:r>
                        <a:rPr lang="en-US" sz="1600" dirty="0"/>
                        <a:t>7.1</a:t>
                      </a:r>
                    </a:p>
                  </a:txBody>
                  <a:tcPr/>
                </a:tc>
                <a:tc>
                  <a:txBody>
                    <a:bodyPr/>
                    <a:lstStyle/>
                    <a:p>
                      <a:r>
                        <a:rPr lang="en-US" sz="1600" dirty="0"/>
                        <a:t>Management of automatic updates to Dataset Support files</a:t>
                      </a:r>
                    </a:p>
                  </a:txBody>
                  <a:tcPr/>
                </a:tc>
                <a:tc>
                  <a:txBody>
                    <a:bodyPr/>
                    <a:lstStyle/>
                    <a:p>
                      <a:r>
                        <a:rPr lang="en-US" sz="1600" dirty="0"/>
                        <a:t>No validation-related requirement stated</a:t>
                      </a:r>
                    </a:p>
                  </a:txBody>
                  <a:tcPr/>
                </a:tc>
                <a:extLst>
                  <a:ext uri="{0D108BD9-81ED-4DB2-BD59-A6C34878D82A}">
                    <a16:rowId xmlns:a16="http://schemas.microsoft.com/office/drawing/2014/main" val="4112931603"/>
                  </a:ext>
                </a:extLst>
              </a:tr>
              <a:tr h="370840">
                <a:tc>
                  <a:txBody>
                    <a:bodyPr/>
                    <a:lstStyle/>
                    <a:p>
                      <a:r>
                        <a:rPr lang="en-US" sz="1600" dirty="0"/>
                        <a:t>7.2</a:t>
                      </a:r>
                    </a:p>
                  </a:txBody>
                  <a:tcPr/>
                </a:tc>
                <a:tc>
                  <a:txBody>
                    <a:bodyPr/>
                    <a:lstStyle/>
                    <a:p>
                      <a:r>
                        <a:rPr lang="en-US" sz="1600" dirty="0"/>
                        <a:t>File-less cancellation:</a:t>
                      </a:r>
                    </a:p>
                    <a:p>
                      <a:r>
                        <a:rPr lang="en-US" sz="1600" dirty="0"/>
                        <a:t>“Additionally a cancellation signature, a signature of the original Data producer signature must be present and valid.”</a:t>
                      </a:r>
                    </a:p>
                  </a:txBody>
                  <a:tcPr/>
                </a:tc>
                <a:tc>
                  <a:txBody>
                    <a:bodyPr/>
                    <a:lstStyle/>
                    <a:p>
                      <a:r>
                        <a:rPr lang="en-US" sz="1600" dirty="0"/>
                        <a:t>New VC requiring cancellation signature in addition to original data producer signature. </a:t>
                      </a:r>
                    </a:p>
                  </a:txBody>
                  <a:tcPr/>
                </a:tc>
                <a:extLst>
                  <a:ext uri="{0D108BD9-81ED-4DB2-BD59-A6C34878D82A}">
                    <a16:rowId xmlns:a16="http://schemas.microsoft.com/office/drawing/2014/main" val="1695236894"/>
                  </a:ext>
                </a:extLst>
              </a:tr>
              <a:tr h="370840">
                <a:tc>
                  <a:txBody>
                    <a:bodyPr/>
                    <a:lstStyle/>
                    <a:p>
                      <a:r>
                        <a:rPr lang="en-US" sz="1600" dirty="0"/>
                        <a:t>8.1</a:t>
                      </a:r>
                    </a:p>
                  </a:txBody>
                  <a:tcPr/>
                </a:tc>
                <a:tc>
                  <a:txBody>
                    <a:bodyPr/>
                    <a:lstStyle/>
                    <a:p>
                      <a:r>
                        <a:rPr lang="en-US" sz="1600" i="0" dirty="0"/>
                        <a:t>S-102 &amp; S-104 data must be regular grid</a:t>
                      </a:r>
                    </a:p>
                    <a:p>
                      <a:r>
                        <a:rPr lang="en-US" sz="1600" i="0" dirty="0"/>
                        <a:t>S-111 data must be regular or irregular grid</a:t>
                      </a:r>
                    </a:p>
                  </a:txBody>
                  <a:tcPr/>
                </a:tc>
                <a:tc>
                  <a:txBody>
                    <a:bodyPr/>
                    <a:lstStyle/>
                    <a:p>
                      <a:r>
                        <a:rPr lang="en-US" sz="1600" i="0" dirty="0"/>
                        <a:t>2 new S-98 validation checks</a:t>
                      </a:r>
                    </a:p>
                  </a:txBody>
                  <a:tcPr/>
                </a:tc>
                <a:extLst>
                  <a:ext uri="{0D108BD9-81ED-4DB2-BD59-A6C34878D82A}">
                    <a16:rowId xmlns:a16="http://schemas.microsoft.com/office/drawing/2014/main" val="2494120333"/>
                  </a:ext>
                </a:extLst>
              </a:tr>
              <a:tr h="370840">
                <a:tc>
                  <a:txBody>
                    <a:bodyPr/>
                    <a:lstStyle/>
                    <a:p>
                      <a:r>
                        <a:rPr lang="en-US" sz="1600" dirty="0"/>
                        <a:t>9</a:t>
                      </a:r>
                    </a:p>
                  </a:txBody>
                  <a:tcPr/>
                </a:tc>
                <a:tc>
                  <a:txBody>
                    <a:bodyPr/>
                    <a:lstStyle/>
                    <a:p>
                      <a:r>
                        <a:rPr lang="en-US" sz="1600" i="0" dirty="0"/>
                        <a:t>Compatibility of feature and portrayal catalogues</a:t>
                      </a:r>
                    </a:p>
                  </a:txBody>
                  <a:tcPr/>
                </a:tc>
                <a:tc>
                  <a:txBody>
                    <a:bodyPr/>
                    <a:lstStyle/>
                    <a:p>
                      <a:r>
                        <a:rPr lang="en-US" sz="1600" i="0" dirty="0"/>
                        <a:t>No effect on validation</a:t>
                      </a:r>
                    </a:p>
                  </a:txBody>
                  <a:tcPr/>
                </a:tc>
                <a:extLst>
                  <a:ext uri="{0D108BD9-81ED-4DB2-BD59-A6C34878D82A}">
                    <a16:rowId xmlns:a16="http://schemas.microsoft.com/office/drawing/2014/main" val="911474966"/>
                  </a:ext>
                </a:extLst>
              </a:tr>
              <a:tr h="370840">
                <a:tc>
                  <a:txBody>
                    <a:bodyPr/>
                    <a:lstStyle/>
                    <a:p>
                      <a:r>
                        <a:rPr lang="en-US" sz="1600" dirty="0"/>
                        <a:t>9</a:t>
                      </a:r>
                    </a:p>
                  </a:txBody>
                  <a:tcPr/>
                </a:tc>
                <a:tc>
                  <a:txBody>
                    <a:bodyPr/>
                    <a:lstStyle/>
                    <a:p>
                      <a:r>
                        <a:rPr lang="en-US" sz="1600" i="0" dirty="0"/>
                        <a:t>Form of product specification edition number</a:t>
                      </a:r>
                    </a:p>
                  </a:txBody>
                  <a:tcPr/>
                </a:tc>
                <a:tc>
                  <a:txBody>
                    <a:bodyPr/>
                    <a:lstStyle/>
                    <a:p>
                      <a:r>
                        <a:rPr lang="en-US" sz="1600" i="0" dirty="0"/>
                        <a:t>New S-98 check</a:t>
                      </a:r>
                    </a:p>
                  </a:txBody>
                  <a:tcPr/>
                </a:tc>
                <a:extLst>
                  <a:ext uri="{0D108BD9-81ED-4DB2-BD59-A6C34878D82A}">
                    <a16:rowId xmlns:a16="http://schemas.microsoft.com/office/drawing/2014/main" val="3224174522"/>
                  </a:ext>
                </a:extLst>
              </a:tr>
            </a:tbl>
          </a:graphicData>
        </a:graphic>
      </p:graphicFrame>
    </p:spTree>
    <p:extLst>
      <p:ext uri="{BB962C8B-B14F-4D97-AF65-F5344CB8AC3E}">
        <p14:creationId xmlns:p14="http://schemas.microsoft.com/office/powerpoint/2010/main" val="14104452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BE66F-A13A-6CAF-F744-5EDC7B2685C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F6B0BE-1E76-DC75-AB10-722328E5EF43}"/>
              </a:ext>
            </a:extLst>
          </p:cNvPr>
          <p:cNvSpPr>
            <a:spLocks noGrp="1"/>
          </p:cNvSpPr>
          <p:nvPr>
            <p:ph type="sldNum" sz="quarter" idx="12"/>
          </p:nvPr>
        </p:nvSpPr>
        <p:spPr/>
        <p:txBody>
          <a:bodyPr/>
          <a:lstStyle/>
          <a:p>
            <a:fld id="{46D0E966-1BD1-4C85-866E-DF3AF3395196}" type="slidenum">
              <a:rPr lang="fr-FR" smtClean="0"/>
              <a:t>29</a:t>
            </a:fld>
            <a:endParaRPr lang="fr-FR"/>
          </a:p>
        </p:txBody>
      </p:sp>
      <p:sp>
        <p:nvSpPr>
          <p:cNvPr id="3" name="Title 2">
            <a:extLst>
              <a:ext uri="{FF2B5EF4-FFF2-40B4-BE49-F238E27FC236}">
                <a16:creationId xmlns:a16="http://schemas.microsoft.com/office/drawing/2014/main" id="{ACBC9193-3171-2483-534B-7EF446184B7E}"/>
              </a:ext>
            </a:extLst>
          </p:cNvPr>
          <p:cNvSpPr>
            <a:spLocks noGrp="1"/>
          </p:cNvSpPr>
          <p:nvPr>
            <p:ph type="title"/>
          </p:nvPr>
        </p:nvSpPr>
        <p:spPr/>
        <p:txBody>
          <a:bodyPr/>
          <a:lstStyle/>
          <a:p>
            <a:r>
              <a:rPr lang="en-US" dirty="0"/>
              <a:t>Changes arising from S-98 D.C.A. (MAR 2026) - 5</a:t>
            </a:r>
          </a:p>
        </p:txBody>
      </p:sp>
      <p:sp>
        <p:nvSpPr>
          <p:cNvPr id="4" name="Content Placeholder 3">
            <a:extLst>
              <a:ext uri="{FF2B5EF4-FFF2-40B4-BE49-F238E27FC236}">
                <a16:creationId xmlns:a16="http://schemas.microsoft.com/office/drawing/2014/main" id="{26C597D6-EC00-3B32-9B40-4CF934949212}"/>
              </a:ext>
            </a:extLst>
          </p:cNvPr>
          <p:cNvSpPr>
            <a:spLocks noGrp="1"/>
          </p:cNvSpPr>
          <p:nvPr>
            <p:ph idx="4294967295"/>
          </p:nvPr>
        </p:nvSpPr>
        <p:spPr>
          <a:xfrm>
            <a:off x="1676400" y="1025525"/>
            <a:ext cx="10515600" cy="5330825"/>
          </a:xfrm>
        </p:spPr>
        <p:txBody>
          <a:bodyPr>
            <a:normAutofit/>
          </a:bodyPr>
          <a:lstStyle/>
          <a:p>
            <a:pPr>
              <a:lnSpc>
                <a:spcPct val="120000"/>
              </a:lnSpc>
            </a:pPr>
            <a:endParaRPr lang="en-US" sz="6400" dirty="0"/>
          </a:p>
          <a:p>
            <a:pPr lvl="1">
              <a:lnSpc>
                <a:spcPct val="120000"/>
              </a:lnSpc>
            </a:pPr>
            <a:endParaRPr lang="en-US" sz="2000" dirty="0"/>
          </a:p>
        </p:txBody>
      </p:sp>
      <p:graphicFrame>
        <p:nvGraphicFramePr>
          <p:cNvPr id="5" name="Table 4">
            <a:extLst>
              <a:ext uri="{FF2B5EF4-FFF2-40B4-BE49-F238E27FC236}">
                <a16:creationId xmlns:a16="http://schemas.microsoft.com/office/drawing/2014/main" id="{649B6905-4A3B-16C3-7F8D-DAB3E1FA7807}"/>
              </a:ext>
            </a:extLst>
          </p:cNvPr>
          <p:cNvGraphicFramePr>
            <a:graphicFrameLocks noGrp="1"/>
          </p:cNvGraphicFramePr>
          <p:nvPr/>
        </p:nvGraphicFramePr>
        <p:xfrm>
          <a:off x="965200" y="961714"/>
          <a:ext cx="10240561" cy="4892040"/>
        </p:xfrm>
        <a:graphic>
          <a:graphicData uri="http://schemas.openxmlformats.org/drawingml/2006/table">
            <a:tbl>
              <a:tblPr firstRow="1" bandRow="1">
                <a:tableStyleId>{5C22544A-7EE6-4342-B048-85BDC9FD1C3A}</a:tableStyleId>
              </a:tblPr>
              <a:tblGrid>
                <a:gridCol w="1038289">
                  <a:extLst>
                    <a:ext uri="{9D8B030D-6E8A-4147-A177-3AD203B41FA5}">
                      <a16:colId xmlns:a16="http://schemas.microsoft.com/office/drawing/2014/main" val="1759216924"/>
                    </a:ext>
                  </a:extLst>
                </a:gridCol>
                <a:gridCol w="5553758">
                  <a:extLst>
                    <a:ext uri="{9D8B030D-6E8A-4147-A177-3AD203B41FA5}">
                      <a16:colId xmlns:a16="http://schemas.microsoft.com/office/drawing/2014/main" val="3322187922"/>
                    </a:ext>
                  </a:extLst>
                </a:gridCol>
                <a:gridCol w="3648514">
                  <a:extLst>
                    <a:ext uri="{9D8B030D-6E8A-4147-A177-3AD203B41FA5}">
                      <a16:colId xmlns:a16="http://schemas.microsoft.com/office/drawing/2014/main" val="460557316"/>
                    </a:ext>
                  </a:extLst>
                </a:gridCol>
              </a:tblGrid>
              <a:tr h="370840">
                <a:tc>
                  <a:txBody>
                    <a:bodyPr/>
                    <a:lstStyle/>
                    <a:p>
                      <a:r>
                        <a:rPr lang="en-US" dirty="0"/>
                        <a:t>Location</a:t>
                      </a:r>
                    </a:p>
                  </a:txBody>
                  <a:tcPr/>
                </a:tc>
                <a:tc>
                  <a:txBody>
                    <a:bodyPr/>
                    <a:lstStyle/>
                    <a:p>
                      <a:r>
                        <a:rPr lang="en-US" dirty="0"/>
                        <a:t>Summary</a:t>
                      </a:r>
                    </a:p>
                  </a:txBody>
                  <a:tcPr/>
                </a:tc>
                <a:tc>
                  <a:txBody>
                    <a:bodyPr/>
                    <a:lstStyle/>
                    <a:p>
                      <a:r>
                        <a:rPr lang="en-US" dirty="0"/>
                        <a:t>Disposition</a:t>
                      </a:r>
                    </a:p>
                  </a:txBody>
                  <a:tcPr/>
                </a:tc>
                <a:extLst>
                  <a:ext uri="{0D108BD9-81ED-4DB2-BD59-A6C34878D82A}">
                    <a16:rowId xmlns:a16="http://schemas.microsoft.com/office/drawing/2014/main" val="1850344486"/>
                  </a:ext>
                </a:extLst>
              </a:tr>
              <a:tr h="370840">
                <a:tc>
                  <a:txBody>
                    <a:bodyPr/>
                    <a:lstStyle/>
                    <a:p>
                      <a:r>
                        <a:rPr lang="en-US" sz="1600" dirty="0"/>
                        <a:t>9.1</a:t>
                      </a:r>
                    </a:p>
                  </a:txBody>
                  <a:tcPr/>
                </a:tc>
                <a:tc>
                  <a:txBody>
                    <a:bodyPr/>
                    <a:lstStyle/>
                    <a:p>
                      <a:r>
                        <a:rPr lang="en-US" sz="1600" i="0" dirty="0"/>
                        <a:t>Portrayal and feature catalogue compatibility</a:t>
                      </a:r>
                    </a:p>
                  </a:txBody>
                  <a:tcPr/>
                </a:tc>
                <a:tc>
                  <a:txBody>
                    <a:bodyPr/>
                    <a:lstStyle/>
                    <a:p>
                      <a:r>
                        <a:rPr lang="en-US" sz="1600" i="0" dirty="0"/>
                        <a:t>No dataset/exchange set validation-related requirement.</a:t>
                      </a:r>
                    </a:p>
                  </a:txBody>
                  <a:tcPr/>
                </a:tc>
                <a:extLst>
                  <a:ext uri="{0D108BD9-81ED-4DB2-BD59-A6C34878D82A}">
                    <a16:rowId xmlns:a16="http://schemas.microsoft.com/office/drawing/2014/main" val="674446448"/>
                  </a:ext>
                </a:extLst>
              </a:tr>
              <a:tr h="370840">
                <a:tc>
                  <a:txBody>
                    <a:bodyPr/>
                    <a:lstStyle/>
                    <a:p>
                      <a:r>
                        <a:rPr lang="en-US" sz="1600" dirty="0"/>
                        <a:t>9.2</a:t>
                      </a:r>
                    </a:p>
                  </a:txBody>
                  <a:tcPr/>
                </a:tc>
                <a:tc>
                  <a:txBody>
                    <a:bodyPr/>
                    <a:lstStyle/>
                    <a:p>
                      <a:r>
                        <a:rPr lang="en-US" sz="1600" i="0" dirty="0"/>
                        <a:t>Construction of feature and portrayal catalogues</a:t>
                      </a:r>
                    </a:p>
                  </a:txBody>
                  <a:tcPr/>
                </a:tc>
                <a:tc>
                  <a:txBody>
                    <a:bodyPr/>
                    <a:lstStyle/>
                    <a:p>
                      <a:r>
                        <a:rPr lang="en-US" sz="1600" dirty="0"/>
                        <a:t>No dataset/exchange set validation requirement. Requirements pertaining to context parameters in PC are a PS requirement and must be checked by PS developers.</a:t>
                      </a:r>
                    </a:p>
                  </a:txBody>
                  <a:tcPr/>
                </a:tc>
                <a:extLst>
                  <a:ext uri="{0D108BD9-81ED-4DB2-BD59-A6C34878D82A}">
                    <a16:rowId xmlns:a16="http://schemas.microsoft.com/office/drawing/2014/main" val="4112931603"/>
                  </a:ext>
                </a:extLst>
              </a:tr>
              <a:tr h="370840">
                <a:tc>
                  <a:txBody>
                    <a:bodyPr/>
                    <a:lstStyle/>
                    <a:p>
                      <a:r>
                        <a:rPr lang="en-US" sz="1600" dirty="0"/>
                        <a:t>10</a:t>
                      </a:r>
                    </a:p>
                  </a:txBody>
                  <a:tcPr/>
                </a:tc>
                <a:tc>
                  <a:txBody>
                    <a:bodyPr/>
                    <a:lstStyle/>
                    <a:p>
                      <a:r>
                        <a:rPr lang="en-US" sz="1600" dirty="0"/>
                        <a:t>Dual-fuel mode</a:t>
                      </a:r>
                    </a:p>
                  </a:txBody>
                  <a:tcPr/>
                </a:tc>
                <a:tc>
                  <a:txBody>
                    <a:bodyPr/>
                    <a:lstStyle/>
                    <a:p>
                      <a:r>
                        <a:rPr lang="en-US" sz="1600" dirty="0"/>
                        <a:t>No validation-related requirement.</a:t>
                      </a:r>
                    </a:p>
                  </a:txBody>
                  <a:tcPr/>
                </a:tc>
                <a:extLst>
                  <a:ext uri="{0D108BD9-81ED-4DB2-BD59-A6C34878D82A}">
                    <a16:rowId xmlns:a16="http://schemas.microsoft.com/office/drawing/2014/main" val="1695236894"/>
                  </a:ext>
                </a:extLst>
              </a:tr>
              <a:tr h="370840">
                <a:tc>
                  <a:txBody>
                    <a:bodyPr/>
                    <a:lstStyle/>
                    <a:p>
                      <a:r>
                        <a:rPr lang="en-US" sz="1600" dirty="0"/>
                        <a:t>11</a:t>
                      </a:r>
                    </a:p>
                  </a:txBody>
                  <a:tcPr/>
                </a:tc>
                <a:tc>
                  <a:txBody>
                    <a:bodyPr/>
                    <a:lstStyle/>
                    <a:p>
                      <a:r>
                        <a:rPr lang="en-US" sz="1600" i="0" dirty="0"/>
                        <a:t>Data overlaps</a:t>
                      </a:r>
                    </a:p>
                  </a:txBody>
                  <a:tcPr/>
                </a:tc>
                <a:tc>
                  <a:txBody>
                    <a:bodyPr/>
                    <a:lstStyle/>
                    <a:p>
                      <a:r>
                        <a:rPr lang="en-US" sz="1600" i="0" dirty="0"/>
                        <a:t>No validation-related requirement.</a:t>
                      </a:r>
                    </a:p>
                  </a:txBody>
                  <a:tcPr/>
                </a:tc>
                <a:extLst>
                  <a:ext uri="{0D108BD9-81ED-4DB2-BD59-A6C34878D82A}">
                    <a16:rowId xmlns:a16="http://schemas.microsoft.com/office/drawing/2014/main" val="2494120333"/>
                  </a:ext>
                </a:extLst>
              </a:tr>
              <a:tr h="370840">
                <a:tc>
                  <a:txBody>
                    <a:bodyPr/>
                    <a:lstStyle/>
                    <a:p>
                      <a:r>
                        <a:rPr lang="en-US" sz="1600" dirty="0"/>
                        <a:t>12</a:t>
                      </a:r>
                    </a:p>
                  </a:txBody>
                  <a:tcPr/>
                </a:tc>
                <a:tc>
                  <a:txBody>
                    <a:bodyPr/>
                    <a:lstStyle/>
                    <a:p>
                      <a:r>
                        <a:rPr lang="en-US" sz="1600" i="0" dirty="0"/>
                        <a:t>S-101 Scale boundaries must be included in datasets</a:t>
                      </a:r>
                    </a:p>
                  </a:txBody>
                  <a:tcPr/>
                </a:tc>
                <a:tc>
                  <a:txBody>
                    <a:bodyPr/>
                    <a:lstStyle/>
                    <a:p>
                      <a:r>
                        <a:rPr lang="en-US" sz="1600" i="0" dirty="0"/>
                        <a:t>HDF5 datasets don’t have </a:t>
                      </a:r>
                      <a:r>
                        <a:rPr lang="en-US" sz="1600" i="0" dirty="0" err="1"/>
                        <a:t>DataCoverage</a:t>
                      </a:r>
                      <a:r>
                        <a:rPr lang="en-US" sz="1600" i="0" dirty="0"/>
                        <a:t> features.</a:t>
                      </a:r>
                    </a:p>
                    <a:p>
                      <a:r>
                        <a:rPr lang="en-US" sz="1600" i="0" dirty="0"/>
                        <a:t>For vector data products, including scale boundaries in datasets (presumably via </a:t>
                      </a:r>
                      <a:r>
                        <a:rPr lang="en-US" sz="1600" i="0" dirty="0" err="1"/>
                        <a:t>DataCoverage</a:t>
                      </a:r>
                      <a:r>
                        <a:rPr lang="en-US" sz="1600" i="0" dirty="0"/>
                        <a:t>) is a PS requirement.</a:t>
                      </a:r>
                    </a:p>
                  </a:txBody>
                  <a:tcPr/>
                </a:tc>
                <a:extLst>
                  <a:ext uri="{0D108BD9-81ED-4DB2-BD59-A6C34878D82A}">
                    <a16:rowId xmlns:a16="http://schemas.microsoft.com/office/drawing/2014/main" val="3224174522"/>
                  </a:ext>
                </a:extLst>
              </a:tr>
              <a:tr h="370840">
                <a:tc>
                  <a:txBody>
                    <a:bodyPr/>
                    <a:lstStyle/>
                    <a:p>
                      <a:r>
                        <a:rPr lang="en-US" sz="1600" dirty="0"/>
                        <a:t>12</a:t>
                      </a:r>
                    </a:p>
                  </a:txBody>
                  <a:tcPr/>
                </a:tc>
                <a:tc>
                  <a:txBody>
                    <a:bodyPr/>
                    <a:lstStyle/>
                    <a:p>
                      <a:r>
                        <a:rPr lang="en-US" sz="1600" i="0" dirty="0"/>
                        <a:t>These (scale values) must also match those values contained in the CATALOG.XML.</a:t>
                      </a:r>
                    </a:p>
                  </a:txBody>
                  <a:tcPr/>
                </a:tc>
                <a:tc>
                  <a:txBody>
                    <a:bodyPr/>
                    <a:lstStyle/>
                    <a:p>
                      <a:r>
                        <a:rPr lang="en-US" sz="1600" i="0" dirty="0"/>
                        <a:t>May be redundant with S-158:1xx checks.</a:t>
                      </a:r>
                    </a:p>
                  </a:txBody>
                  <a:tcPr/>
                </a:tc>
                <a:extLst>
                  <a:ext uri="{0D108BD9-81ED-4DB2-BD59-A6C34878D82A}">
                    <a16:rowId xmlns:a16="http://schemas.microsoft.com/office/drawing/2014/main" val="764360822"/>
                  </a:ext>
                </a:extLst>
              </a:tr>
            </a:tbl>
          </a:graphicData>
        </a:graphic>
      </p:graphicFrame>
    </p:spTree>
    <p:extLst>
      <p:ext uri="{BB962C8B-B14F-4D97-AF65-F5344CB8AC3E}">
        <p14:creationId xmlns:p14="http://schemas.microsoft.com/office/powerpoint/2010/main" val="19098831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B5B37-CC5C-2600-5DA6-E41E482D7C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5A7512-C728-7133-368F-37AADAE94E20}"/>
              </a:ext>
            </a:extLst>
          </p:cNvPr>
          <p:cNvSpPr>
            <a:spLocks noGrp="1"/>
          </p:cNvSpPr>
          <p:nvPr>
            <p:ph type="sldNum" sz="quarter" idx="12"/>
          </p:nvPr>
        </p:nvSpPr>
        <p:spPr/>
        <p:txBody>
          <a:bodyPr/>
          <a:lstStyle/>
          <a:p>
            <a:fld id="{46D0E966-1BD1-4C85-866E-DF3AF3395196}" type="slidenum">
              <a:rPr lang="fr-FR" smtClean="0"/>
              <a:t>30</a:t>
            </a:fld>
            <a:endParaRPr lang="fr-FR"/>
          </a:p>
        </p:txBody>
      </p:sp>
      <p:sp>
        <p:nvSpPr>
          <p:cNvPr id="3" name="Title 2">
            <a:extLst>
              <a:ext uri="{FF2B5EF4-FFF2-40B4-BE49-F238E27FC236}">
                <a16:creationId xmlns:a16="http://schemas.microsoft.com/office/drawing/2014/main" id="{9B50F627-44C1-8B37-9953-66D2347014E9}"/>
              </a:ext>
            </a:extLst>
          </p:cNvPr>
          <p:cNvSpPr>
            <a:spLocks noGrp="1"/>
          </p:cNvSpPr>
          <p:nvPr>
            <p:ph type="title"/>
          </p:nvPr>
        </p:nvSpPr>
        <p:spPr/>
        <p:txBody>
          <a:bodyPr/>
          <a:lstStyle/>
          <a:p>
            <a:r>
              <a:rPr lang="en-US" dirty="0"/>
              <a:t>Changes arising from S-98 D.C.A. (MAR 2026) - 6</a:t>
            </a:r>
          </a:p>
        </p:txBody>
      </p:sp>
      <p:sp>
        <p:nvSpPr>
          <p:cNvPr id="4" name="Content Placeholder 3">
            <a:extLst>
              <a:ext uri="{FF2B5EF4-FFF2-40B4-BE49-F238E27FC236}">
                <a16:creationId xmlns:a16="http://schemas.microsoft.com/office/drawing/2014/main" id="{014CCD34-AA49-EA9F-7ED0-FBB7BE4F43F3}"/>
              </a:ext>
            </a:extLst>
          </p:cNvPr>
          <p:cNvSpPr>
            <a:spLocks noGrp="1"/>
          </p:cNvSpPr>
          <p:nvPr>
            <p:ph idx="4294967295"/>
          </p:nvPr>
        </p:nvSpPr>
        <p:spPr>
          <a:xfrm>
            <a:off x="1676400" y="1025525"/>
            <a:ext cx="10515600" cy="5330825"/>
          </a:xfrm>
        </p:spPr>
        <p:txBody>
          <a:bodyPr>
            <a:normAutofit/>
          </a:bodyPr>
          <a:lstStyle/>
          <a:p>
            <a:pPr>
              <a:lnSpc>
                <a:spcPct val="120000"/>
              </a:lnSpc>
            </a:pPr>
            <a:endParaRPr lang="en-US" sz="6400" dirty="0"/>
          </a:p>
          <a:p>
            <a:pPr lvl="1">
              <a:lnSpc>
                <a:spcPct val="120000"/>
              </a:lnSpc>
            </a:pPr>
            <a:endParaRPr lang="en-US" sz="2000" dirty="0"/>
          </a:p>
        </p:txBody>
      </p:sp>
      <p:graphicFrame>
        <p:nvGraphicFramePr>
          <p:cNvPr id="5" name="Table 4">
            <a:extLst>
              <a:ext uri="{FF2B5EF4-FFF2-40B4-BE49-F238E27FC236}">
                <a16:creationId xmlns:a16="http://schemas.microsoft.com/office/drawing/2014/main" id="{37BB93F0-6849-AD7C-A4CA-664EBA8337EF}"/>
              </a:ext>
            </a:extLst>
          </p:cNvPr>
          <p:cNvGraphicFramePr>
            <a:graphicFrameLocks noGrp="1"/>
          </p:cNvGraphicFramePr>
          <p:nvPr/>
        </p:nvGraphicFramePr>
        <p:xfrm>
          <a:off x="965200" y="961714"/>
          <a:ext cx="10240561" cy="5339080"/>
        </p:xfrm>
        <a:graphic>
          <a:graphicData uri="http://schemas.openxmlformats.org/drawingml/2006/table">
            <a:tbl>
              <a:tblPr firstRow="1" bandRow="1">
                <a:tableStyleId>{5C22544A-7EE6-4342-B048-85BDC9FD1C3A}</a:tableStyleId>
              </a:tblPr>
              <a:tblGrid>
                <a:gridCol w="1038289">
                  <a:extLst>
                    <a:ext uri="{9D8B030D-6E8A-4147-A177-3AD203B41FA5}">
                      <a16:colId xmlns:a16="http://schemas.microsoft.com/office/drawing/2014/main" val="1759216924"/>
                    </a:ext>
                  </a:extLst>
                </a:gridCol>
                <a:gridCol w="5553758">
                  <a:extLst>
                    <a:ext uri="{9D8B030D-6E8A-4147-A177-3AD203B41FA5}">
                      <a16:colId xmlns:a16="http://schemas.microsoft.com/office/drawing/2014/main" val="3322187922"/>
                    </a:ext>
                  </a:extLst>
                </a:gridCol>
                <a:gridCol w="3648514">
                  <a:extLst>
                    <a:ext uri="{9D8B030D-6E8A-4147-A177-3AD203B41FA5}">
                      <a16:colId xmlns:a16="http://schemas.microsoft.com/office/drawing/2014/main" val="460557316"/>
                    </a:ext>
                  </a:extLst>
                </a:gridCol>
              </a:tblGrid>
              <a:tr h="370840">
                <a:tc>
                  <a:txBody>
                    <a:bodyPr/>
                    <a:lstStyle/>
                    <a:p>
                      <a:r>
                        <a:rPr lang="en-US" dirty="0"/>
                        <a:t>Location</a:t>
                      </a:r>
                    </a:p>
                  </a:txBody>
                  <a:tcPr/>
                </a:tc>
                <a:tc>
                  <a:txBody>
                    <a:bodyPr/>
                    <a:lstStyle/>
                    <a:p>
                      <a:r>
                        <a:rPr lang="en-US" dirty="0"/>
                        <a:t>Summary</a:t>
                      </a:r>
                    </a:p>
                  </a:txBody>
                  <a:tcPr/>
                </a:tc>
                <a:tc>
                  <a:txBody>
                    <a:bodyPr/>
                    <a:lstStyle/>
                    <a:p>
                      <a:r>
                        <a:rPr lang="en-US" dirty="0"/>
                        <a:t>Disposition</a:t>
                      </a:r>
                    </a:p>
                  </a:txBody>
                  <a:tcPr/>
                </a:tc>
                <a:extLst>
                  <a:ext uri="{0D108BD9-81ED-4DB2-BD59-A6C34878D82A}">
                    <a16:rowId xmlns:a16="http://schemas.microsoft.com/office/drawing/2014/main" val="1850344486"/>
                  </a:ext>
                </a:extLst>
              </a:tr>
              <a:tr h="370840">
                <a:tc>
                  <a:txBody>
                    <a:bodyPr/>
                    <a:lstStyle/>
                    <a:p>
                      <a:r>
                        <a:rPr lang="en-US" sz="1600" dirty="0"/>
                        <a:t>12</a:t>
                      </a:r>
                    </a:p>
                  </a:txBody>
                  <a:tcPr/>
                </a:tc>
                <a:tc>
                  <a:txBody>
                    <a:bodyPr/>
                    <a:lstStyle/>
                    <a:p>
                      <a:r>
                        <a:rPr lang="en-US" sz="1600" i="0" dirty="0"/>
                        <a:t>All datasets within exchange sets must define </a:t>
                      </a:r>
                      <a:r>
                        <a:rPr lang="en-US" sz="1600" i="0" dirty="0" err="1"/>
                        <a:t>minimumDisplayScale</a:t>
                      </a:r>
                      <a:r>
                        <a:rPr lang="en-US" sz="1600" i="0" dirty="0"/>
                        <a:t>, </a:t>
                      </a:r>
                      <a:r>
                        <a:rPr lang="en-US" sz="1600" i="0" dirty="0" err="1"/>
                        <a:t>optimumDisplayScale</a:t>
                      </a:r>
                      <a:r>
                        <a:rPr lang="en-US" sz="1600" i="0" dirty="0"/>
                        <a:t> and </a:t>
                      </a:r>
                      <a:r>
                        <a:rPr lang="en-US" sz="1600" i="0" dirty="0" err="1"/>
                        <a:t>maximumDisplayScale</a:t>
                      </a:r>
                      <a:endParaRPr lang="en-US" sz="1600" i="0" dirty="0"/>
                    </a:p>
                  </a:txBody>
                  <a:tcPr/>
                </a:tc>
                <a:tc>
                  <a:txBody>
                    <a:bodyPr/>
                    <a:lstStyle/>
                    <a:p>
                      <a:r>
                        <a:rPr lang="en-US" sz="1600" i="0" dirty="0"/>
                        <a:t>Contradicts S-101, where </a:t>
                      </a:r>
                      <a:r>
                        <a:rPr lang="en-US" sz="1600" i="0" dirty="0" err="1"/>
                        <a:t>minimumDisplayScale</a:t>
                      </a:r>
                      <a:r>
                        <a:rPr lang="en-US" sz="1600" i="0" dirty="0"/>
                        <a:t> is allowed to take the value NULL.</a:t>
                      </a:r>
                    </a:p>
                    <a:p>
                      <a:r>
                        <a:rPr lang="en-US" sz="1600" i="0" dirty="0"/>
                        <a:t>Note also that HDF5 datasets don’t have </a:t>
                      </a:r>
                      <a:r>
                        <a:rPr lang="en-US" sz="1600" i="0" dirty="0" err="1"/>
                        <a:t>DataCoverage</a:t>
                      </a:r>
                      <a:r>
                        <a:rPr lang="en-US" sz="1600" i="0" dirty="0"/>
                        <a:t> and cannot define min/max/optimum scales </a:t>
                      </a:r>
                      <a:r>
                        <a:rPr lang="en-US" sz="1600" i="0" u="sng" dirty="0"/>
                        <a:t>in the dataset</a:t>
                      </a:r>
                      <a:r>
                        <a:rPr lang="en-US" sz="1600" i="0" dirty="0"/>
                        <a:t>.</a:t>
                      </a:r>
                    </a:p>
                    <a:p>
                      <a:r>
                        <a:rPr lang="en-US" sz="1600" i="0" dirty="0"/>
                        <a:t>Will interpret requirement as pertaining to discovery metadata and allow omission of </a:t>
                      </a:r>
                      <a:r>
                        <a:rPr lang="en-US" sz="1600" i="0" dirty="0" err="1"/>
                        <a:t>minimumDisplayScale</a:t>
                      </a:r>
                      <a:r>
                        <a:rPr lang="en-US" sz="1600" i="0" dirty="0"/>
                        <a:t> (schema does not allow NULL since it is an optional attribute).</a:t>
                      </a:r>
                    </a:p>
                    <a:p>
                      <a:r>
                        <a:rPr lang="en-US" sz="1600" i="0" dirty="0"/>
                        <a:t>New VC comparing scales in discovery metadata to scales in </a:t>
                      </a:r>
                      <a:r>
                        <a:rPr lang="en-US" sz="1600" i="0" dirty="0" err="1"/>
                        <a:t>DataCoverage</a:t>
                      </a:r>
                      <a:r>
                        <a:rPr lang="en-US" sz="1600" i="0" dirty="0"/>
                        <a:t> (if present).</a:t>
                      </a:r>
                    </a:p>
                    <a:p>
                      <a:r>
                        <a:rPr lang="en-US" sz="1600" i="0" dirty="0"/>
                        <a:t>New VC requiring maximum &amp; optimum display scales in discovery metadata at all times.</a:t>
                      </a:r>
                    </a:p>
                    <a:p>
                      <a:r>
                        <a:rPr lang="en-US" sz="1600" i="0" dirty="0"/>
                        <a:t>New VC requiring minimum display scale in metadata if and only if encoded in a </a:t>
                      </a:r>
                      <a:r>
                        <a:rPr lang="en-US" sz="1600" i="0" dirty="0" err="1"/>
                        <a:t>DataCoverage</a:t>
                      </a:r>
                      <a:r>
                        <a:rPr lang="en-US" sz="1600" i="0" dirty="0"/>
                        <a:t>.</a:t>
                      </a:r>
                    </a:p>
                  </a:txBody>
                  <a:tcPr/>
                </a:tc>
                <a:extLst>
                  <a:ext uri="{0D108BD9-81ED-4DB2-BD59-A6C34878D82A}">
                    <a16:rowId xmlns:a16="http://schemas.microsoft.com/office/drawing/2014/main" val="674446448"/>
                  </a:ext>
                </a:extLst>
              </a:tr>
            </a:tbl>
          </a:graphicData>
        </a:graphic>
      </p:graphicFrame>
    </p:spTree>
    <p:extLst>
      <p:ext uri="{BB962C8B-B14F-4D97-AF65-F5344CB8AC3E}">
        <p14:creationId xmlns:p14="http://schemas.microsoft.com/office/powerpoint/2010/main" val="18552409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FEFD8-DB24-1E31-D278-D4F844737F4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AAE947-3265-5EE5-69A1-4BA358F48D56}"/>
              </a:ext>
            </a:extLst>
          </p:cNvPr>
          <p:cNvSpPr>
            <a:spLocks noGrp="1"/>
          </p:cNvSpPr>
          <p:nvPr>
            <p:ph type="sldNum" sz="quarter" idx="12"/>
          </p:nvPr>
        </p:nvSpPr>
        <p:spPr/>
        <p:txBody>
          <a:bodyPr/>
          <a:lstStyle/>
          <a:p>
            <a:fld id="{46D0E966-1BD1-4C85-866E-DF3AF3395196}" type="slidenum">
              <a:rPr lang="fr-FR" smtClean="0"/>
              <a:t>31</a:t>
            </a:fld>
            <a:endParaRPr lang="fr-FR"/>
          </a:p>
        </p:txBody>
      </p:sp>
      <p:sp>
        <p:nvSpPr>
          <p:cNvPr id="3" name="Title 2">
            <a:extLst>
              <a:ext uri="{FF2B5EF4-FFF2-40B4-BE49-F238E27FC236}">
                <a16:creationId xmlns:a16="http://schemas.microsoft.com/office/drawing/2014/main" id="{FC3F3813-9A6E-6890-D107-F086DBACD774}"/>
              </a:ext>
            </a:extLst>
          </p:cNvPr>
          <p:cNvSpPr>
            <a:spLocks noGrp="1"/>
          </p:cNvSpPr>
          <p:nvPr>
            <p:ph type="title"/>
          </p:nvPr>
        </p:nvSpPr>
        <p:spPr/>
        <p:txBody>
          <a:bodyPr/>
          <a:lstStyle/>
          <a:p>
            <a:r>
              <a:rPr lang="en-US" dirty="0"/>
              <a:t>Changes arising from S-98 D.C.A. (MAR 2026) - 7</a:t>
            </a:r>
          </a:p>
        </p:txBody>
      </p:sp>
      <p:sp>
        <p:nvSpPr>
          <p:cNvPr id="4" name="Content Placeholder 3">
            <a:extLst>
              <a:ext uri="{FF2B5EF4-FFF2-40B4-BE49-F238E27FC236}">
                <a16:creationId xmlns:a16="http://schemas.microsoft.com/office/drawing/2014/main" id="{B77A717C-9D9E-23FA-660C-6AB4BD558295}"/>
              </a:ext>
            </a:extLst>
          </p:cNvPr>
          <p:cNvSpPr>
            <a:spLocks noGrp="1"/>
          </p:cNvSpPr>
          <p:nvPr>
            <p:ph idx="4294967295"/>
          </p:nvPr>
        </p:nvSpPr>
        <p:spPr>
          <a:xfrm>
            <a:off x="1676400" y="1025525"/>
            <a:ext cx="10515600" cy="5330825"/>
          </a:xfrm>
        </p:spPr>
        <p:txBody>
          <a:bodyPr>
            <a:normAutofit/>
          </a:bodyPr>
          <a:lstStyle/>
          <a:p>
            <a:pPr>
              <a:lnSpc>
                <a:spcPct val="120000"/>
              </a:lnSpc>
            </a:pPr>
            <a:endParaRPr lang="en-US" sz="6400" dirty="0"/>
          </a:p>
          <a:p>
            <a:pPr lvl="1">
              <a:lnSpc>
                <a:spcPct val="120000"/>
              </a:lnSpc>
            </a:pPr>
            <a:endParaRPr lang="en-US" sz="2000" dirty="0"/>
          </a:p>
        </p:txBody>
      </p:sp>
      <p:graphicFrame>
        <p:nvGraphicFramePr>
          <p:cNvPr id="5" name="Table 4">
            <a:extLst>
              <a:ext uri="{FF2B5EF4-FFF2-40B4-BE49-F238E27FC236}">
                <a16:creationId xmlns:a16="http://schemas.microsoft.com/office/drawing/2014/main" id="{636112EB-88EF-05D0-C369-F18E94C6CE11}"/>
              </a:ext>
            </a:extLst>
          </p:cNvPr>
          <p:cNvGraphicFramePr>
            <a:graphicFrameLocks noGrp="1"/>
          </p:cNvGraphicFramePr>
          <p:nvPr/>
        </p:nvGraphicFramePr>
        <p:xfrm>
          <a:off x="965200" y="961714"/>
          <a:ext cx="10240561" cy="4485640"/>
        </p:xfrm>
        <a:graphic>
          <a:graphicData uri="http://schemas.openxmlformats.org/drawingml/2006/table">
            <a:tbl>
              <a:tblPr firstRow="1" bandRow="1">
                <a:tableStyleId>{5C22544A-7EE6-4342-B048-85BDC9FD1C3A}</a:tableStyleId>
              </a:tblPr>
              <a:tblGrid>
                <a:gridCol w="1038289">
                  <a:extLst>
                    <a:ext uri="{9D8B030D-6E8A-4147-A177-3AD203B41FA5}">
                      <a16:colId xmlns:a16="http://schemas.microsoft.com/office/drawing/2014/main" val="1759216924"/>
                    </a:ext>
                  </a:extLst>
                </a:gridCol>
                <a:gridCol w="5553758">
                  <a:extLst>
                    <a:ext uri="{9D8B030D-6E8A-4147-A177-3AD203B41FA5}">
                      <a16:colId xmlns:a16="http://schemas.microsoft.com/office/drawing/2014/main" val="3322187922"/>
                    </a:ext>
                  </a:extLst>
                </a:gridCol>
                <a:gridCol w="3648514">
                  <a:extLst>
                    <a:ext uri="{9D8B030D-6E8A-4147-A177-3AD203B41FA5}">
                      <a16:colId xmlns:a16="http://schemas.microsoft.com/office/drawing/2014/main" val="460557316"/>
                    </a:ext>
                  </a:extLst>
                </a:gridCol>
              </a:tblGrid>
              <a:tr h="370840">
                <a:tc>
                  <a:txBody>
                    <a:bodyPr/>
                    <a:lstStyle/>
                    <a:p>
                      <a:r>
                        <a:rPr lang="en-US" dirty="0"/>
                        <a:t>Location</a:t>
                      </a:r>
                    </a:p>
                  </a:txBody>
                  <a:tcPr/>
                </a:tc>
                <a:tc>
                  <a:txBody>
                    <a:bodyPr/>
                    <a:lstStyle/>
                    <a:p>
                      <a:r>
                        <a:rPr lang="en-US" dirty="0"/>
                        <a:t>Summary</a:t>
                      </a:r>
                    </a:p>
                  </a:txBody>
                  <a:tcPr/>
                </a:tc>
                <a:tc>
                  <a:txBody>
                    <a:bodyPr/>
                    <a:lstStyle/>
                    <a:p>
                      <a:r>
                        <a:rPr lang="en-US" dirty="0"/>
                        <a:t>Disposition</a:t>
                      </a:r>
                    </a:p>
                  </a:txBody>
                  <a:tcPr/>
                </a:tc>
                <a:extLst>
                  <a:ext uri="{0D108BD9-81ED-4DB2-BD59-A6C34878D82A}">
                    <a16:rowId xmlns:a16="http://schemas.microsoft.com/office/drawing/2014/main" val="1850344486"/>
                  </a:ext>
                </a:extLst>
              </a:tr>
              <a:tr h="370840">
                <a:tc>
                  <a:txBody>
                    <a:bodyPr/>
                    <a:lstStyle/>
                    <a:p>
                      <a:r>
                        <a:rPr lang="en-US" sz="1600" dirty="0"/>
                        <a:t>12</a:t>
                      </a:r>
                    </a:p>
                  </a:txBody>
                  <a:tcPr/>
                </a:tc>
                <a:tc>
                  <a:txBody>
                    <a:bodyPr/>
                    <a:lstStyle/>
                    <a:p>
                      <a:r>
                        <a:rPr lang="en-US" sz="1600" i="0" dirty="0" err="1"/>
                        <a:t>NotForNavigation</a:t>
                      </a:r>
                      <a:r>
                        <a:rPr lang="en-US" sz="1600" i="0" dirty="0"/>
                        <a:t> may be included in CATALOG.XML but is ignored by S100 ECDIS. If it is required to indicate data for testing purposes then a specific Producer code should be used. Dataset Titles may also be used to indicate this for product specifications supporting titles.</a:t>
                      </a:r>
                    </a:p>
                  </a:txBody>
                  <a:tcPr/>
                </a:tc>
                <a:tc>
                  <a:txBody>
                    <a:bodyPr/>
                    <a:lstStyle/>
                    <a:p>
                      <a:r>
                        <a:rPr lang="en-US" sz="1600" i="0" dirty="0"/>
                        <a:t>Don’t see how a validation check can be written for this paragraph.</a:t>
                      </a:r>
                    </a:p>
                    <a:p>
                      <a:r>
                        <a:rPr lang="en-US" sz="1600" i="0" dirty="0"/>
                        <a:t>Why should ECDIS ignore </a:t>
                      </a:r>
                      <a:r>
                        <a:rPr lang="en-US" sz="1600" i="0" dirty="0" err="1"/>
                        <a:t>NotForNavigation</a:t>
                      </a:r>
                      <a:r>
                        <a:rPr lang="en-US" sz="1600" i="0" dirty="0"/>
                        <a:t>=true? Without this permissive statement a check would be possible.</a:t>
                      </a:r>
                    </a:p>
                  </a:txBody>
                  <a:tcPr/>
                </a:tc>
                <a:extLst>
                  <a:ext uri="{0D108BD9-81ED-4DB2-BD59-A6C34878D82A}">
                    <a16:rowId xmlns:a16="http://schemas.microsoft.com/office/drawing/2014/main" val="674446448"/>
                  </a:ext>
                </a:extLst>
              </a:tr>
              <a:tr h="370840">
                <a:tc>
                  <a:txBody>
                    <a:bodyPr/>
                    <a:lstStyle/>
                    <a:p>
                      <a:r>
                        <a:rPr lang="en-US" sz="1600" dirty="0"/>
                        <a:t>12</a:t>
                      </a:r>
                    </a:p>
                  </a:txBody>
                  <a:tcPr/>
                </a:tc>
                <a:tc>
                  <a:txBody>
                    <a:bodyPr/>
                    <a:lstStyle/>
                    <a:p>
                      <a:r>
                        <a:rPr lang="en-US" sz="1600" i="0" dirty="0"/>
                        <a:t>Catalogues may only be signed by the Scheme Administrator  using the scheme administrator MRN</a:t>
                      </a:r>
                    </a:p>
                  </a:txBody>
                  <a:tcPr/>
                </a:tc>
                <a:tc>
                  <a:txBody>
                    <a:bodyPr/>
                    <a:lstStyle/>
                    <a:p>
                      <a:r>
                        <a:rPr lang="en-US" sz="1600" dirty="0"/>
                        <a:t>New validation check?</a:t>
                      </a:r>
                    </a:p>
                  </a:txBody>
                  <a:tcPr/>
                </a:tc>
                <a:extLst>
                  <a:ext uri="{0D108BD9-81ED-4DB2-BD59-A6C34878D82A}">
                    <a16:rowId xmlns:a16="http://schemas.microsoft.com/office/drawing/2014/main" val="4112931603"/>
                  </a:ext>
                </a:extLst>
              </a:tr>
              <a:tr h="370840">
                <a:tc>
                  <a:txBody>
                    <a:bodyPr/>
                    <a:lstStyle/>
                    <a:p>
                      <a:r>
                        <a:rPr lang="en-US" sz="1600" dirty="0"/>
                        <a:t>13</a:t>
                      </a:r>
                    </a:p>
                  </a:txBody>
                  <a:tcPr/>
                </a:tc>
                <a:tc>
                  <a:txBody>
                    <a:bodyPr/>
                    <a:lstStyle/>
                    <a:p>
                      <a:r>
                        <a:rPr lang="en-US" sz="1600" dirty="0"/>
                        <a:t>Scales in S-100 data – ENC scale – must use one of fixed set of values</a:t>
                      </a:r>
                    </a:p>
                  </a:txBody>
                  <a:tcPr/>
                </a:tc>
                <a:tc>
                  <a:txBody>
                    <a:bodyPr/>
                    <a:lstStyle/>
                    <a:p>
                      <a:r>
                        <a:rPr lang="en-US" sz="1600" dirty="0"/>
                        <a:t>New S-98 validation check?</a:t>
                      </a:r>
                    </a:p>
                    <a:p>
                      <a:r>
                        <a:rPr lang="en-US" sz="1600" dirty="0"/>
                        <a:t>Note that NULL cannot be encoded in discovery metadata scale attributes.</a:t>
                      </a:r>
                    </a:p>
                  </a:txBody>
                  <a:tcPr/>
                </a:tc>
                <a:extLst>
                  <a:ext uri="{0D108BD9-81ED-4DB2-BD59-A6C34878D82A}">
                    <a16:rowId xmlns:a16="http://schemas.microsoft.com/office/drawing/2014/main" val="1695236894"/>
                  </a:ext>
                </a:extLst>
              </a:tr>
              <a:tr h="370840">
                <a:tc>
                  <a:txBody>
                    <a:bodyPr/>
                    <a:lstStyle/>
                    <a:p>
                      <a:r>
                        <a:rPr lang="en-US" sz="1600" dirty="0"/>
                        <a:t>14</a:t>
                      </a:r>
                    </a:p>
                  </a:txBody>
                  <a:tcPr/>
                </a:tc>
                <a:tc>
                  <a:txBody>
                    <a:bodyPr/>
                    <a:lstStyle/>
                    <a:p>
                      <a:r>
                        <a:rPr lang="en-US" sz="1600" i="0" dirty="0"/>
                        <a:t>For S-102 and S-104 datasets, ECDIS supports gridded data in DCF 2 format only.</a:t>
                      </a:r>
                    </a:p>
                  </a:txBody>
                  <a:tcPr/>
                </a:tc>
                <a:tc>
                  <a:txBody>
                    <a:bodyPr/>
                    <a:lstStyle/>
                    <a:p>
                      <a:r>
                        <a:rPr lang="en-US" sz="1600" i="0" dirty="0"/>
                        <a:t>Duplicates 8.1</a:t>
                      </a:r>
                    </a:p>
                  </a:txBody>
                  <a:tcPr/>
                </a:tc>
                <a:extLst>
                  <a:ext uri="{0D108BD9-81ED-4DB2-BD59-A6C34878D82A}">
                    <a16:rowId xmlns:a16="http://schemas.microsoft.com/office/drawing/2014/main" val="2494120333"/>
                  </a:ext>
                </a:extLst>
              </a:tr>
              <a:tr h="370840">
                <a:tc>
                  <a:txBody>
                    <a:bodyPr/>
                    <a:lstStyle/>
                    <a:p>
                      <a:r>
                        <a:rPr lang="en-US" sz="1600" dirty="0"/>
                        <a:t>14</a:t>
                      </a:r>
                    </a:p>
                  </a:txBody>
                  <a:tcPr/>
                </a:tc>
                <a:tc>
                  <a:txBody>
                    <a:bodyPr/>
                    <a:lstStyle/>
                    <a:p>
                      <a:r>
                        <a:rPr lang="en-US" sz="1600" i="0" dirty="0"/>
                        <a:t>For S-111 datasets, ECDIS supports gridded data in DCF 2 or DCF 3 format only</a:t>
                      </a:r>
                    </a:p>
                  </a:txBody>
                  <a:tcPr/>
                </a:tc>
                <a:tc>
                  <a:txBody>
                    <a:bodyPr/>
                    <a:lstStyle/>
                    <a:p>
                      <a:r>
                        <a:rPr lang="en-US" sz="1600" i="0" dirty="0"/>
                        <a:t>Duplicates 8.1</a:t>
                      </a:r>
                    </a:p>
                  </a:txBody>
                  <a:tcPr/>
                </a:tc>
                <a:extLst>
                  <a:ext uri="{0D108BD9-81ED-4DB2-BD59-A6C34878D82A}">
                    <a16:rowId xmlns:a16="http://schemas.microsoft.com/office/drawing/2014/main" val="3224174522"/>
                  </a:ext>
                </a:extLst>
              </a:tr>
            </a:tbl>
          </a:graphicData>
        </a:graphic>
      </p:graphicFrame>
    </p:spTree>
    <p:extLst>
      <p:ext uri="{BB962C8B-B14F-4D97-AF65-F5344CB8AC3E}">
        <p14:creationId xmlns:p14="http://schemas.microsoft.com/office/powerpoint/2010/main" val="14183933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6519C-969B-7E7D-774B-FD0012CDF46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627721-AA84-0C54-803C-9F98153A819A}"/>
              </a:ext>
            </a:extLst>
          </p:cNvPr>
          <p:cNvSpPr>
            <a:spLocks noGrp="1"/>
          </p:cNvSpPr>
          <p:nvPr>
            <p:ph type="sldNum" sz="quarter" idx="12"/>
          </p:nvPr>
        </p:nvSpPr>
        <p:spPr/>
        <p:txBody>
          <a:bodyPr/>
          <a:lstStyle/>
          <a:p>
            <a:fld id="{46D0E966-1BD1-4C85-866E-DF3AF3395196}" type="slidenum">
              <a:rPr lang="fr-FR" smtClean="0"/>
              <a:t>32</a:t>
            </a:fld>
            <a:endParaRPr lang="fr-FR"/>
          </a:p>
        </p:txBody>
      </p:sp>
      <p:sp>
        <p:nvSpPr>
          <p:cNvPr id="3" name="Title 2">
            <a:extLst>
              <a:ext uri="{FF2B5EF4-FFF2-40B4-BE49-F238E27FC236}">
                <a16:creationId xmlns:a16="http://schemas.microsoft.com/office/drawing/2014/main" id="{FA198339-FCD4-1728-BB38-E1128309E595}"/>
              </a:ext>
            </a:extLst>
          </p:cNvPr>
          <p:cNvSpPr>
            <a:spLocks noGrp="1"/>
          </p:cNvSpPr>
          <p:nvPr>
            <p:ph type="title"/>
          </p:nvPr>
        </p:nvSpPr>
        <p:spPr/>
        <p:txBody>
          <a:bodyPr/>
          <a:lstStyle/>
          <a:p>
            <a:r>
              <a:rPr lang="en-US" dirty="0"/>
              <a:t>Changes arising from S-98 D.C.A. (MAR 2026) - 8</a:t>
            </a:r>
          </a:p>
        </p:txBody>
      </p:sp>
      <p:sp>
        <p:nvSpPr>
          <p:cNvPr id="4" name="Content Placeholder 3">
            <a:extLst>
              <a:ext uri="{FF2B5EF4-FFF2-40B4-BE49-F238E27FC236}">
                <a16:creationId xmlns:a16="http://schemas.microsoft.com/office/drawing/2014/main" id="{CE11B775-6516-E953-B4AF-FD5D4C880CC3}"/>
              </a:ext>
            </a:extLst>
          </p:cNvPr>
          <p:cNvSpPr>
            <a:spLocks noGrp="1"/>
          </p:cNvSpPr>
          <p:nvPr>
            <p:ph idx="4294967295"/>
          </p:nvPr>
        </p:nvSpPr>
        <p:spPr>
          <a:xfrm>
            <a:off x="1676400" y="1025525"/>
            <a:ext cx="10515600" cy="5330825"/>
          </a:xfrm>
        </p:spPr>
        <p:txBody>
          <a:bodyPr>
            <a:normAutofit/>
          </a:bodyPr>
          <a:lstStyle/>
          <a:p>
            <a:pPr>
              <a:lnSpc>
                <a:spcPct val="120000"/>
              </a:lnSpc>
            </a:pPr>
            <a:endParaRPr lang="en-US" sz="6400" dirty="0"/>
          </a:p>
          <a:p>
            <a:pPr lvl="1">
              <a:lnSpc>
                <a:spcPct val="120000"/>
              </a:lnSpc>
            </a:pPr>
            <a:endParaRPr lang="en-US" sz="2000" dirty="0"/>
          </a:p>
        </p:txBody>
      </p:sp>
      <p:graphicFrame>
        <p:nvGraphicFramePr>
          <p:cNvPr id="5" name="Table 4">
            <a:extLst>
              <a:ext uri="{FF2B5EF4-FFF2-40B4-BE49-F238E27FC236}">
                <a16:creationId xmlns:a16="http://schemas.microsoft.com/office/drawing/2014/main" id="{D79F499B-2DC6-703C-3E6D-9FCEF31AAF37}"/>
              </a:ext>
            </a:extLst>
          </p:cNvPr>
          <p:cNvGraphicFramePr>
            <a:graphicFrameLocks noGrp="1"/>
          </p:cNvGraphicFramePr>
          <p:nvPr/>
        </p:nvGraphicFramePr>
        <p:xfrm>
          <a:off x="965200" y="961714"/>
          <a:ext cx="10240561" cy="3571240"/>
        </p:xfrm>
        <a:graphic>
          <a:graphicData uri="http://schemas.openxmlformats.org/drawingml/2006/table">
            <a:tbl>
              <a:tblPr firstRow="1" bandRow="1">
                <a:tableStyleId>{5C22544A-7EE6-4342-B048-85BDC9FD1C3A}</a:tableStyleId>
              </a:tblPr>
              <a:tblGrid>
                <a:gridCol w="1038289">
                  <a:extLst>
                    <a:ext uri="{9D8B030D-6E8A-4147-A177-3AD203B41FA5}">
                      <a16:colId xmlns:a16="http://schemas.microsoft.com/office/drawing/2014/main" val="1759216924"/>
                    </a:ext>
                  </a:extLst>
                </a:gridCol>
                <a:gridCol w="5553758">
                  <a:extLst>
                    <a:ext uri="{9D8B030D-6E8A-4147-A177-3AD203B41FA5}">
                      <a16:colId xmlns:a16="http://schemas.microsoft.com/office/drawing/2014/main" val="3322187922"/>
                    </a:ext>
                  </a:extLst>
                </a:gridCol>
                <a:gridCol w="3648514">
                  <a:extLst>
                    <a:ext uri="{9D8B030D-6E8A-4147-A177-3AD203B41FA5}">
                      <a16:colId xmlns:a16="http://schemas.microsoft.com/office/drawing/2014/main" val="460557316"/>
                    </a:ext>
                  </a:extLst>
                </a:gridCol>
              </a:tblGrid>
              <a:tr h="370840">
                <a:tc>
                  <a:txBody>
                    <a:bodyPr/>
                    <a:lstStyle/>
                    <a:p>
                      <a:r>
                        <a:rPr lang="en-US" dirty="0"/>
                        <a:t>Location</a:t>
                      </a:r>
                    </a:p>
                  </a:txBody>
                  <a:tcPr/>
                </a:tc>
                <a:tc>
                  <a:txBody>
                    <a:bodyPr/>
                    <a:lstStyle/>
                    <a:p>
                      <a:r>
                        <a:rPr lang="en-US" dirty="0"/>
                        <a:t>Summary</a:t>
                      </a:r>
                    </a:p>
                  </a:txBody>
                  <a:tcPr/>
                </a:tc>
                <a:tc>
                  <a:txBody>
                    <a:bodyPr/>
                    <a:lstStyle/>
                    <a:p>
                      <a:r>
                        <a:rPr lang="en-US" dirty="0"/>
                        <a:t>Disposition</a:t>
                      </a:r>
                    </a:p>
                  </a:txBody>
                  <a:tcPr/>
                </a:tc>
                <a:extLst>
                  <a:ext uri="{0D108BD9-81ED-4DB2-BD59-A6C34878D82A}">
                    <a16:rowId xmlns:a16="http://schemas.microsoft.com/office/drawing/2014/main" val="1850344486"/>
                  </a:ext>
                </a:extLst>
              </a:tr>
              <a:tr h="370840">
                <a:tc>
                  <a:txBody>
                    <a:bodyPr/>
                    <a:lstStyle/>
                    <a:p>
                      <a:r>
                        <a:rPr lang="en-US" sz="1600" dirty="0"/>
                        <a:t>14</a:t>
                      </a:r>
                    </a:p>
                  </a:txBody>
                  <a:tcPr/>
                </a:tc>
                <a:tc>
                  <a:txBody>
                    <a:bodyPr/>
                    <a:lstStyle/>
                    <a:p>
                      <a:r>
                        <a:rPr lang="en-US" sz="1600" i="0" dirty="0"/>
                        <a:t>S-101, S-104 and S-102 Horizontal Datums must be the same in areas of overlapping coverage.</a:t>
                      </a:r>
                    </a:p>
                  </a:txBody>
                  <a:tcPr/>
                </a:tc>
                <a:tc>
                  <a:txBody>
                    <a:bodyPr/>
                    <a:lstStyle/>
                    <a:p>
                      <a:r>
                        <a:rPr lang="en-US" sz="1600" i="0" dirty="0"/>
                        <a:t>Covered by 98_1001</a:t>
                      </a:r>
                    </a:p>
                  </a:txBody>
                  <a:tcPr/>
                </a:tc>
                <a:extLst>
                  <a:ext uri="{0D108BD9-81ED-4DB2-BD59-A6C34878D82A}">
                    <a16:rowId xmlns:a16="http://schemas.microsoft.com/office/drawing/2014/main" val="764360822"/>
                  </a:ext>
                </a:extLst>
              </a:tr>
              <a:tr h="370840">
                <a:tc>
                  <a:txBody>
                    <a:bodyPr/>
                    <a:lstStyle/>
                    <a:p>
                      <a:r>
                        <a:rPr lang="en-US" sz="1600" dirty="0"/>
                        <a:t>14</a:t>
                      </a:r>
                    </a:p>
                  </a:txBody>
                  <a:tcPr/>
                </a:tc>
                <a:tc>
                  <a:txBody>
                    <a:bodyPr/>
                    <a:lstStyle/>
                    <a:p>
                      <a:r>
                        <a:rPr lang="en-US" sz="1600" i="0" dirty="0"/>
                        <a:t>S-101, S-102 and S-104 Vertical Datums must be the same in areas of overlapping coverage.</a:t>
                      </a:r>
                    </a:p>
                  </a:txBody>
                  <a:tcPr/>
                </a:tc>
                <a:tc>
                  <a:txBody>
                    <a:bodyPr/>
                    <a:lstStyle/>
                    <a:p>
                      <a:r>
                        <a:rPr lang="en-US" sz="1600" i="0" dirty="0"/>
                        <a:t>Covered by 98_7001 and 98_7002, which compare S-102 &amp; S-104 to S-101.</a:t>
                      </a:r>
                    </a:p>
                    <a:p>
                      <a:r>
                        <a:rPr lang="en-US" sz="1600" i="0" dirty="0"/>
                        <a:t>Add new check which works in absence of S-101 data?</a:t>
                      </a:r>
                    </a:p>
                  </a:txBody>
                  <a:tcPr/>
                </a:tc>
                <a:extLst>
                  <a:ext uri="{0D108BD9-81ED-4DB2-BD59-A6C34878D82A}">
                    <a16:rowId xmlns:a16="http://schemas.microsoft.com/office/drawing/2014/main" val="1608528571"/>
                  </a:ext>
                </a:extLst>
              </a:tr>
              <a:tr h="370840">
                <a:tc>
                  <a:txBody>
                    <a:bodyPr/>
                    <a:lstStyle/>
                    <a:p>
                      <a:r>
                        <a:rPr lang="en-US" sz="1600" dirty="0"/>
                        <a:t>14</a:t>
                      </a:r>
                    </a:p>
                  </a:txBody>
                  <a:tcPr/>
                </a:tc>
                <a:tc>
                  <a:txBody>
                    <a:bodyPr/>
                    <a:lstStyle/>
                    <a:p>
                      <a:r>
                        <a:rPr lang="en-US" sz="1600" i="0" dirty="0"/>
                        <a:t>All depth measurements must be positive down. </a:t>
                      </a:r>
                    </a:p>
                  </a:txBody>
                  <a:tcPr/>
                </a:tc>
                <a:tc>
                  <a:txBody>
                    <a:bodyPr/>
                    <a:lstStyle/>
                    <a:p>
                      <a:r>
                        <a:rPr lang="en-US" sz="1600" i="0" dirty="0"/>
                        <a:t>New check for axis direction of vertical axis, if specified in dataset. (Should be in S-158:1xx checks instead of S-98 checks.)</a:t>
                      </a:r>
                    </a:p>
                    <a:p>
                      <a:r>
                        <a:rPr lang="en-US" sz="1600" i="0" dirty="0"/>
                        <a:t>Values cannot be reliably checked, though heuristic checks are possible for excessive –</a:t>
                      </a:r>
                      <a:r>
                        <a:rPr lang="en-US" sz="1600" i="0" dirty="0" err="1"/>
                        <a:t>ve</a:t>
                      </a:r>
                      <a:r>
                        <a:rPr lang="en-US" sz="1600" i="0" dirty="0"/>
                        <a:t> depth values.</a:t>
                      </a:r>
                    </a:p>
                  </a:txBody>
                  <a:tcPr/>
                </a:tc>
                <a:extLst>
                  <a:ext uri="{0D108BD9-81ED-4DB2-BD59-A6C34878D82A}">
                    <a16:rowId xmlns:a16="http://schemas.microsoft.com/office/drawing/2014/main" val="2851667294"/>
                  </a:ext>
                </a:extLst>
              </a:tr>
            </a:tbl>
          </a:graphicData>
        </a:graphic>
      </p:graphicFrame>
    </p:spTree>
    <p:extLst>
      <p:ext uri="{BB962C8B-B14F-4D97-AF65-F5344CB8AC3E}">
        <p14:creationId xmlns:p14="http://schemas.microsoft.com/office/powerpoint/2010/main" val="27654189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30353-6B95-F40E-4EA9-DE0B76BA9CED}"/>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F7ACEB7-985A-535B-DB4A-CD0F49DECF21}"/>
              </a:ext>
            </a:extLst>
          </p:cNvPr>
          <p:cNvSpPr>
            <a:spLocks noGrp="1"/>
          </p:cNvSpPr>
          <p:nvPr>
            <p:ph idx="1"/>
          </p:nvPr>
        </p:nvSpPr>
        <p:spPr/>
        <p:txBody>
          <a:bodyPr>
            <a:normAutofit/>
          </a:bodyPr>
          <a:lstStyle/>
          <a:p>
            <a:pPr>
              <a:lnSpc>
                <a:spcPct val="120000"/>
              </a:lnSpc>
            </a:pPr>
            <a:endParaRPr lang="en-US" sz="6400" dirty="0"/>
          </a:p>
          <a:p>
            <a:pPr lvl="1">
              <a:lnSpc>
                <a:spcPct val="120000"/>
              </a:lnSpc>
            </a:pPr>
            <a:endParaRPr lang="en-US" sz="2000" dirty="0"/>
          </a:p>
        </p:txBody>
      </p:sp>
      <p:sp>
        <p:nvSpPr>
          <p:cNvPr id="2" name="Slide Number Placeholder 1">
            <a:extLst>
              <a:ext uri="{FF2B5EF4-FFF2-40B4-BE49-F238E27FC236}">
                <a16:creationId xmlns:a16="http://schemas.microsoft.com/office/drawing/2014/main" id="{07D461E3-4A3C-44CB-BC68-9A58E5AC29DF}"/>
              </a:ext>
            </a:extLst>
          </p:cNvPr>
          <p:cNvSpPr>
            <a:spLocks noGrp="1"/>
          </p:cNvSpPr>
          <p:nvPr>
            <p:ph type="sldNum" sz="quarter" idx="12"/>
          </p:nvPr>
        </p:nvSpPr>
        <p:spPr/>
        <p:txBody>
          <a:bodyPr/>
          <a:lstStyle/>
          <a:p>
            <a:fld id="{46D0E966-1BD1-4C85-866E-DF3AF3395196}" type="slidenum">
              <a:rPr lang="fr-FR" smtClean="0"/>
              <a:t>33</a:t>
            </a:fld>
            <a:endParaRPr lang="fr-FR"/>
          </a:p>
        </p:txBody>
      </p:sp>
      <p:sp>
        <p:nvSpPr>
          <p:cNvPr id="3" name="Title 2">
            <a:extLst>
              <a:ext uri="{FF2B5EF4-FFF2-40B4-BE49-F238E27FC236}">
                <a16:creationId xmlns:a16="http://schemas.microsoft.com/office/drawing/2014/main" id="{B28E9982-B8E3-A67C-2788-771DE47F56DD}"/>
              </a:ext>
            </a:extLst>
          </p:cNvPr>
          <p:cNvSpPr>
            <a:spLocks noGrp="1"/>
          </p:cNvSpPr>
          <p:nvPr>
            <p:ph type="title"/>
          </p:nvPr>
        </p:nvSpPr>
        <p:spPr/>
        <p:txBody>
          <a:bodyPr/>
          <a:lstStyle/>
          <a:p>
            <a:r>
              <a:rPr lang="en-US" dirty="0"/>
              <a:t>Changes arising from S-58 edition 9 and S-158:101</a:t>
            </a:r>
          </a:p>
        </p:txBody>
      </p:sp>
      <p:graphicFrame>
        <p:nvGraphicFramePr>
          <p:cNvPr id="6" name="Table 5">
            <a:extLst>
              <a:ext uri="{FF2B5EF4-FFF2-40B4-BE49-F238E27FC236}">
                <a16:creationId xmlns:a16="http://schemas.microsoft.com/office/drawing/2014/main" id="{048CCF9F-D843-DA93-762A-25B21558AF51}"/>
              </a:ext>
            </a:extLst>
          </p:cNvPr>
          <p:cNvGraphicFramePr>
            <a:graphicFrameLocks noGrp="1"/>
          </p:cNvGraphicFramePr>
          <p:nvPr/>
        </p:nvGraphicFramePr>
        <p:xfrm>
          <a:off x="965200" y="961714"/>
          <a:ext cx="10240561" cy="1483360"/>
        </p:xfrm>
        <a:graphic>
          <a:graphicData uri="http://schemas.openxmlformats.org/drawingml/2006/table">
            <a:tbl>
              <a:tblPr firstRow="1" bandRow="1">
                <a:tableStyleId>{5C22544A-7EE6-4342-B048-85BDC9FD1C3A}</a:tableStyleId>
              </a:tblPr>
              <a:tblGrid>
                <a:gridCol w="1038289">
                  <a:extLst>
                    <a:ext uri="{9D8B030D-6E8A-4147-A177-3AD203B41FA5}">
                      <a16:colId xmlns:a16="http://schemas.microsoft.com/office/drawing/2014/main" val="1759216924"/>
                    </a:ext>
                  </a:extLst>
                </a:gridCol>
                <a:gridCol w="5553758">
                  <a:extLst>
                    <a:ext uri="{9D8B030D-6E8A-4147-A177-3AD203B41FA5}">
                      <a16:colId xmlns:a16="http://schemas.microsoft.com/office/drawing/2014/main" val="3322187922"/>
                    </a:ext>
                  </a:extLst>
                </a:gridCol>
                <a:gridCol w="3648514">
                  <a:extLst>
                    <a:ext uri="{9D8B030D-6E8A-4147-A177-3AD203B41FA5}">
                      <a16:colId xmlns:a16="http://schemas.microsoft.com/office/drawing/2014/main" val="460557316"/>
                    </a:ext>
                  </a:extLst>
                </a:gridCol>
              </a:tblGrid>
              <a:tr h="370840">
                <a:tc>
                  <a:txBody>
                    <a:bodyPr/>
                    <a:lstStyle/>
                    <a:p>
                      <a:r>
                        <a:rPr lang="en-US" dirty="0"/>
                        <a:t>Location</a:t>
                      </a:r>
                    </a:p>
                  </a:txBody>
                  <a:tcPr/>
                </a:tc>
                <a:tc>
                  <a:txBody>
                    <a:bodyPr/>
                    <a:lstStyle/>
                    <a:p>
                      <a:r>
                        <a:rPr lang="en-US" dirty="0"/>
                        <a:t>Summary</a:t>
                      </a:r>
                    </a:p>
                  </a:txBody>
                  <a:tcPr/>
                </a:tc>
                <a:tc>
                  <a:txBody>
                    <a:bodyPr/>
                    <a:lstStyle/>
                    <a:p>
                      <a:r>
                        <a:rPr lang="en-US" dirty="0"/>
                        <a:t>Disposition</a:t>
                      </a:r>
                    </a:p>
                  </a:txBody>
                  <a:tcPr/>
                </a:tc>
                <a:extLst>
                  <a:ext uri="{0D108BD9-81ED-4DB2-BD59-A6C34878D82A}">
                    <a16:rowId xmlns:a16="http://schemas.microsoft.com/office/drawing/2014/main" val="1850344486"/>
                  </a:ext>
                </a:extLst>
              </a:tr>
              <a:tr h="370840">
                <a:tc>
                  <a:txBody>
                    <a:bodyPr/>
                    <a:lstStyle/>
                    <a:p>
                      <a:endParaRPr lang="en-US" sz="1600" dirty="0"/>
                    </a:p>
                  </a:txBody>
                  <a:tcPr/>
                </a:tc>
                <a:tc>
                  <a:txBody>
                    <a:bodyPr/>
                    <a:lstStyle/>
                    <a:p>
                      <a:r>
                        <a:rPr lang="en-US" sz="1600" i="0" dirty="0"/>
                        <a:t>In progress</a:t>
                      </a:r>
                    </a:p>
                  </a:txBody>
                  <a:tcPr/>
                </a:tc>
                <a:tc>
                  <a:txBody>
                    <a:bodyPr/>
                    <a:lstStyle/>
                    <a:p>
                      <a:endParaRPr lang="en-US" sz="1600" i="0" dirty="0"/>
                    </a:p>
                  </a:txBody>
                  <a:tcPr/>
                </a:tc>
                <a:extLst>
                  <a:ext uri="{0D108BD9-81ED-4DB2-BD59-A6C34878D82A}">
                    <a16:rowId xmlns:a16="http://schemas.microsoft.com/office/drawing/2014/main" val="764360822"/>
                  </a:ext>
                </a:extLst>
              </a:tr>
              <a:tr h="370840">
                <a:tc>
                  <a:txBody>
                    <a:bodyPr/>
                    <a:lstStyle/>
                    <a:p>
                      <a:endParaRPr lang="en-US" sz="1600" dirty="0"/>
                    </a:p>
                  </a:txBody>
                  <a:tcPr/>
                </a:tc>
                <a:tc>
                  <a:txBody>
                    <a:bodyPr/>
                    <a:lstStyle/>
                    <a:p>
                      <a:endParaRPr lang="en-US" sz="1600" i="0" dirty="0"/>
                    </a:p>
                  </a:txBody>
                  <a:tcPr/>
                </a:tc>
                <a:tc>
                  <a:txBody>
                    <a:bodyPr/>
                    <a:lstStyle/>
                    <a:p>
                      <a:endParaRPr lang="en-US" sz="1600" i="0" dirty="0"/>
                    </a:p>
                  </a:txBody>
                  <a:tcPr/>
                </a:tc>
                <a:extLst>
                  <a:ext uri="{0D108BD9-81ED-4DB2-BD59-A6C34878D82A}">
                    <a16:rowId xmlns:a16="http://schemas.microsoft.com/office/drawing/2014/main" val="1608528571"/>
                  </a:ext>
                </a:extLst>
              </a:tr>
              <a:tr h="370840">
                <a:tc>
                  <a:txBody>
                    <a:bodyPr/>
                    <a:lstStyle/>
                    <a:p>
                      <a:endParaRPr lang="en-US" sz="1600" dirty="0"/>
                    </a:p>
                  </a:txBody>
                  <a:tcPr/>
                </a:tc>
                <a:tc>
                  <a:txBody>
                    <a:bodyPr/>
                    <a:lstStyle/>
                    <a:p>
                      <a:endParaRPr lang="en-US" sz="1600" i="0" dirty="0"/>
                    </a:p>
                  </a:txBody>
                  <a:tcPr/>
                </a:tc>
                <a:tc>
                  <a:txBody>
                    <a:bodyPr/>
                    <a:lstStyle/>
                    <a:p>
                      <a:endParaRPr lang="en-US" sz="1600" i="0" dirty="0"/>
                    </a:p>
                  </a:txBody>
                  <a:tcPr/>
                </a:tc>
                <a:extLst>
                  <a:ext uri="{0D108BD9-81ED-4DB2-BD59-A6C34878D82A}">
                    <a16:rowId xmlns:a16="http://schemas.microsoft.com/office/drawing/2014/main" val="2851667294"/>
                  </a:ext>
                </a:extLst>
              </a:tr>
            </a:tbl>
          </a:graphicData>
        </a:graphic>
      </p:graphicFrame>
    </p:spTree>
    <p:extLst>
      <p:ext uri="{BB962C8B-B14F-4D97-AF65-F5344CB8AC3E}">
        <p14:creationId xmlns:p14="http://schemas.microsoft.com/office/powerpoint/2010/main" val="3446795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D25D7-AA8B-0E78-BECD-3AE01FEAA12E}"/>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04EB127-D9CC-954E-035C-A0DB01372EE9}"/>
              </a:ext>
            </a:extLst>
          </p:cNvPr>
          <p:cNvSpPr>
            <a:spLocks noGrp="1"/>
          </p:cNvSpPr>
          <p:nvPr>
            <p:ph idx="1"/>
          </p:nvPr>
        </p:nvSpPr>
        <p:spPr>
          <a:xfrm>
            <a:off x="943707" y="1025524"/>
            <a:ext cx="10515600" cy="5330826"/>
          </a:xfrm>
        </p:spPr>
        <p:txBody>
          <a:bodyPr>
            <a:normAutofit fontScale="92500" lnSpcReduction="20000"/>
          </a:bodyPr>
          <a:lstStyle/>
          <a:p>
            <a:pPr>
              <a:lnSpc>
                <a:spcPct val="120000"/>
              </a:lnSpc>
            </a:pPr>
            <a:r>
              <a:rPr lang="en-US" sz="1800" dirty="0"/>
              <a:t>Remove Collection B checks from spreadsheet.</a:t>
            </a:r>
          </a:p>
          <a:p>
            <a:pPr>
              <a:lnSpc>
                <a:spcPct val="120000"/>
              </a:lnSpc>
            </a:pPr>
            <a:r>
              <a:rPr lang="en-US" sz="1800" dirty="0"/>
              <a:t>Classification as “Critical”:</a:t>
            </a:r>
          </a:p>
          <a:p>
            <a:pPr lvl="1">
              <a:lnSpc>
                <a:spcPct val="120000"/>
              </a:lnSpc>
            </a:pPr>
            <a:r>
              <a:rPr lang="en-US" sz="1600" dirty="0"/>
              <a:t>Is the entire dataset unusable if </a:t>
            </a:r>
            <a:r>
              <a:rPr lang="en-US" sz="1600" b="1" dirty="0"/>
              <a:t>any one </a:t>
            </a:r>
            <a:r>
              <a:rPr lang="en-US" sz="1600" dirty="0"/>
              <a:t>of the </a:t>
            </a:r>
            <a:r>
              <a:rPr lang="en-US" sz="1600" b="1" dirty="0"/>
              <a:t>features</a:t>
            </a:r>
            <a:r>
              <a:rPr lang="en-US" sz="1600" dirty="0"/>
              <a:t> is mis-formatted or otherwise unreadable?</a:t>
            </a:r>
          </a:p>
          <a:p>
            <a:pPr lvl="1">
              <a:lnSpc>
                <a:spcPct val="120000"/>
              </a:lnSpc>
            </a:pPr>
            <a:r>
              <a:rPr lang="en-US" sz="1600" dirty="0"/>
              <a:t>Is the entire dataset unusable if </a:t>
            </a:r>
            <a:r>
              <a:rPr lang="en-US" sz="1600" b="1" dirty="0"/>
              <a:t>any one </a:t>
            </a:r>
            <a:r>
              <a:rPr lang="en-US" sz="1600" dirty="0"/>
              <a:t>of the </a:t>
            </a:r>
            <a:r>
              <a:rPr lang="en-US" sz="1600" b="1" dirty="0"/>
              <a:t>information types</a:t>
            </a:r>
            <a:r>
              <a:rPr lang="en-US" sz="1600" dirty="0"/>
              <a:t> is mis-formatted or otherwise unreadable?</a:t>
            </a:r>
          </a:p>
          <a:p>
            <a:pPr lvl="1">
              <a:lnSpc>
                <a:spcPct val="120000"/>
              </a:lnSpc>
            </a:pPr>
            <a:r>
              <a:rPr lang="en-US" sz="1600" dirty="0"/>
              <a:t>Are all features and information types equally essential, in every data product?</a:t>
            </a:r>
          </a:p>
          <a:p>
            <a:pPr lvl="1">
              <a:lnSpc>
                <a:spcPct val="120000"/>
              </a:lnSpc>
            </a:pPr>
            <a:r>
              <a:rPr lang="en-US" sz="1600" dirty="0"/>
              <a:t>Provisionally – no provision for assigning level of importance to feature types or information types. Errors classified “C” in generic checks are “C” errors no matter which feature or info type contains the error. </a:t>
            </a:r>
            <a:r>
              <a:rPr lang="en-US" sz="1600" i="1" dirty="0">
                <a:solidFill>
                  <a:srgbClr val="FF0000"/>
                </a:solidFill>
              </a:rPr>
              <a:t>[Final report will recommend action in a future edition of S-158 / S-158:100.]</a:t>
            </a:r>
          </a:p>
          <a:p>
            <a:pPr>
              <a:lnSpc>
                <a:spcPct val="120000"/>
              </a:lnSpc>
            </a:pPr>
            <a:r>
              <a:rPr lang="en-US" sz="1800" dirty="0"/>
              <a:t>Some generic checks mention the PS, but there is no way to cite PS clauses in the generic checks. Generic checks should not reference the PS unless it is impossible for the PS to add restrictions (as for the FC). </a:t>
            </a:r>
            <a:r>
              <a:rPr lang="en-US" sz="1800" i="1" dirty="0">
                <a:solidFill>
                  <a:srgbClr val="FF0000"/>
                </a:solidFill>
              </a:rPr>
              <a:t>[Agreement by validation sub-group TBD]</a:t>
            </a:r>
          </a:p>
          <a:p>
            <a:pPr>
              <a:lnSpc>
                <a:spcPct val="120000"/>
              </a:lnSpc>
            </a:pPr>
            <a:r>
              <a:rPr lang="en-US" sz="1800" dirty="0"/>
              <a:t>Implementers don’t necessarily realize what is a requirement and what isn’t.</a:t>
            </a:r>
          </a:p>
          <a:p>
            <a:pPr lvl="1">
              <a:lnSpc>
                <a:spcPct val="120000"/>
              </a:lnSpc>
            </a:pPr>
            <a:r>
              <a:rPr lang="en-US" sz="1600" dirty="0"/>
              <a:t>“For example ...” is just an example, not a specification.</a:t>
            </a:r>
          </a:p>
          <a:p>
            <a:pPr lvl="1">
              <a:lnSpc>
                <a:spcPct val="120000"/>
              </a:lnSpc>
            </a:pPr>
            <a:r>
              <a:rPr lang="en-US" sz="1600" dirty="0"/>
              <a:t>Implementers overlook requirements in S-100 and product specifications even when stated as “... must ....”</a:t>
            </a:r>
          </a:p>
          <a:p>
            <a:pPr lvl="1">
              <a:lnSpc>
                <a:spcPct val="120000"/>
              </a:lnSpc>
            </a:pPr>
            <a:r>
              <a:rPr lang="en-US" sz="1600" dirty="0"/>
              <a:t>S-100 and product specifications should use a method to unambiguously indicate what is a requirement or recommendation. Cf. recent ISO TC211 standards’ approach to identifying requirements (boxed text + /x/y/z identifier).</a:t>
            </a:r>
          </a:p>
          <a:p>
            <a:pPr lvl="1">
              <a:lnSpc>
                <a:spcPct val="120000"/>
              </a:lnSpc>
            </a:pPr>
            <a:r>
              <a:rPr lang="en-US" sz="1600" i="1" dirty="0">
                <a:solidFill>
                  <a:srgbClr val="FF0000"/>
                </a:solidFill>
              </a:rPr>
              <a:t>Final report will recommend action in future editions of S-100 and S-1xx.</a:t>
            </a:r>
          </a:p>
        </p:txBody>
      </p:sp>
      <p:sp>
        <p:nvSpPr>
          <p:cNvPr id="2" name="Slide Number Placeholder 1">
            <a:extLst>
              <a:ext uri="{FF2B5EF4-FFF2-40B4-BE49-F238E27FC236}">
                <a16:creationId xmlns:a16="http://schemas.microsoft.com/office/drawing/2014/main" id="{FAB18E6D-38B2-A10C-6163-1D735D601D95}"/>
              </a:ext>
            </a:extLst>
          </p:cNvPr>
          <p:cNvSpPr>
            <a:spLocks noGrp="1"/>
          </p:cNvSpPr>
          <p:nvPr>
            <p:ph type="sldNum" sz="quarter" idx="12"/>
          </p:nvPr>
        </p:nvSpPr>
        <p:spPr/>
        <p:txBody>
          <a:bodyPr/>
          <a:lstStyle/>
          <a:p>
            <a:fld id="{46D0E966-1BD1-4C85-866E-DF3AF3395196}" type="slidenum">
              <a:rPr lang="fr-FR" smtClean="0"/>
              <a:t>34</a:t>
            </a:fld>
            <a:endParaRPr lang="fr-FR"/>
          </a:p>
        </p:txBody>
      </p:sp>
      <p:sp>
        <p:nvSpPr>
          <p:cNvPr id="3" name="Title 2">
            <a:extLst>
              <a:ext uri="{FF2B5EF4-FFF2-40B4-BE49-F238E27FC236}">
                <a16:creationId xmlns:a16="http://schemas.microsoft.com/office/drawing/2014/main" id="{FC4BBEDC-1457-0795-33E6-109DDE47DD86}"/>
              </a:ext>
            </a:extLst>
          </p:cNvPr>
          <p:cNvSpPr>
            <a:spLocks noGrp="1"/>
          </p:cNvSpPr>
          <p:nvPr>
            <p:ph type="title"/>
          </p:nvPr>
        </p:nvSpPr>
        <p:spPr/>
        <p:txBody>
          <a:bodyPr/>
          <a:lstStyle/>
          <a:p>
            <a:r>
              <a:rPr lang="en-US" dirty="0"/>
              <a:t>Validation check standardization</a:t>
            </a:r>
          </a:p>
        </p:txBody>
      </p:sp>
    </p:spTree>
    <p:extLst>
      <p:ext uri="{BB962C8B-B14F-4D97-AF65-F5344CB8AC3E}">
        <p14:creationId xmlns:p14="http://schemas.microsoft.com/office/powerpoint/2010/main" val="6313902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28438-005C-9FB9-5D4E-32E72711B14C}"/>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FC90358-2B9C-47DB-ECA3-2EBA1DD815E8}"/>
              </a:ext>
            </a:extLst>
          </p:cNvPr>
          <p:cNvSpPr>
            <a:spLocks noGrp="1"/>
          </p:cNvSpPr>
          <p:nvPr>
            <p:ph idx="1"/>
          </p:nvPr>
        </p:nvSpPr>
        <p:spPr>
          <a:xfrm>
            <a:off x="952671" y="954344"/>
            <a:ext cx="10515600" cy="5402005"/>
          </a:xfrm>
        </p:spPr>
        <p:txBody>
          <a:bodyPr>
            <a:normAutofit fontScale="92500" lnSpcReduction="10000"/>
          </a:bodyPr>
          <a:lstStyle/>
          <a:p>
            <a:pPr>
              <a:lnSpc>
                <a:spcPct val="120000"/>
              </a:lnSpc>
            </a:pPr>
            <a:r>
              <a:rPr lang="en-US" sz="1800" dirty="0"/>
              <a:t>Typical examples where “delegation” </a:t>
            </a:r>
            <a:r>
              <a:rPr lang="en-US" sz="1800" dirty="0">
                <a:solidFill>
                  <a:schemeClr val="accent6">
                    <a:lumMod val="75000"/>
                  </a:schemeClr>
                </a:solidFill>
              </a:rPr>
              <a:t>works</a:t>
            </a:r>
            <a:r>
              <a:rPr lang="en-US" sz="1800" dirty="0"/>
              <a:t> and </a:t>
            </a:r>
            <a:r>
              <a:rPr lang="en-US" sz="1800" dirty="0">
                <a:solidFill>
                  <a:srgbClr val="FF0000"/>
                </a:solidFill>
              </a:rPr>
              <a:t>does not work</a:t>
            </a:r>
            <a:r>
              <a:rPr lang="en-US" sz="1800" dirty="0"/>
              <a:t>:</a:t>
            </a:r>
          </a:p>
          <a:p>
            <a:pPr lvl="1">
              <a:lnSpc>
                <a:spcPct val="120000"/>
              </a:lnSpc>
            </a:pPr>
            <a:r>
              <a:rPr lang="en-US" sz="1400" dirty="0">
                <a:solidFill>
                  <a:srgbClr val="FF0000"/>
                </a:solidFill>
              </a:rPr>
              <a:t>Values of HDF5 data fields in attributes and datasets must conform to the constraints defined by the Product Specification. (100_0189)</a:t>
            </a:r>
          </a:p>
          <a:p>
            <a:pPr lvl="1">
              <a:lnSpc>
                <a:spcPct val="120000"/>
              </a:lnSpc>
            </a:pPr>
            <a:r>
              <a:rPr lang="en-US" sz="1400" dirty="0">
                <a:solidFill>
                  <a:schemeClr val="accent6">
                    <a:lumMod val="75000"/>
                  </a:schemeClr>
                </a:solidFill>
              </a:rPr>
              <a:t>For each IACS-IACD subfield value that is not defined by the product specification's feature catalogue. (100_0103)</a:t>
            </a:r>
          </a:p>
          <a:p>
            <a:pPr lvl="1">
              <a:lnSpc>
                <a:spcPct val="120000"/>
              </a:lnSpc>
            </a:pPr>
            <a:r>
              <a:rPr lang="en-US" sz="1400" dirty="0">
                <a:solidFill>
                  <a:schemeClr val="accent6">
                    <a:lumMod val="75000"/>
                  </a:schemeClr>
                </a:solidFill>
              </a:rPr>
              <a:t>The name of each data group is must be of the form '</a:t>
            </a:r>
            <a:r>
              <a:rPr lang="en-US" sz="1400" dirty="0" err="1">
                <a:solidFill>
                  <a:schemeClr val="accent6">
                    <a:lumMod val="75000"/>
                  </a:schemeClr>
                </a:solidFill>
              </a:rPr>
              <a:t>Group_nnn</a:t>
            </a:r>
            <a:r>
              <a:rPr lang="en-US" sz="1400" dirty="0">
                <a:solidFill>
                  <a:schemeClr val="accent6">
                    <a:lumMod val="75000"/>
                  </a:schemeClr>
                </a:solidFill>
              </a:rPr>
              <a:t>’. (100_0195)</a:t>
            </a:r>
          </a:p>
          <a:p>
            <a:pPr>
              <a:lnSpc>
                <a:spcPct val="120000"/>
              </a:lnSpc>
            </a:pPr>
            <a:r>
              <a:rPr lang="en-US" sz="1800" dirty="0"/>
              <a:t>Comments received:</a:t>
            </a:r>
          </a:p>
          <a:p>
            <a:pPr lvl="1">
              <a:lnSpc>
                <a:spcPct val="120000"/>
              </a:lnSpc>
            </a:pPr>
            <a:r>
              <a:rPr lang="en-US" sz="1400" dirty="0"/>
              <a:t>As a statement of conformance, delegation works. Checks that test S-100 Part 10c container mechanics — presence of </a:t>
            </a:r>
            <a:r>
              <a:rPr lang="en-US" sz="1400" dirty="0" err="1"/>
              <a:t>Group_F</a:t>
            </a:r>
            <a:r>
              <a:rPr lang="en-US" sz="1400" dirty="0"/>
              <a:t>, the </a:t>
            </a:r>
            <a:r>
              <a:rPr lang="en-US" sz="1400" dirty="0" err="1"/>
              <a:t>featureCode</a:t>
            </a:r>
            <a:r>
              <a:rPr lang="en-US" sz="1400" dirty="0"/>
              <a:t> array, feature information compound types, </a:t>
            </a:r>
            <a:r>
              <a:rPr lang="en-US" sz="1400" dirty="0" err="1"/>
              <a:t>Group_NNN</a:t>
            </a:r>
            <a:r>
              <a:rPr lang="en-US" sz="1400" dirty="0"/>
              <a:t> naming — are genuinely S-100 level, and restating them per product mainly creates copies that drift from the original.</a:t>
            </a:r>
          </a:p>
          <a:p>
            <a:pPr lvl="1">
              <a:lnSpc>
                <a:spcPct val="120000"/>
              </a:lnSpc>
            </a:pPr>
            <a:r>
              <a:rPr lang="en-US" sz="1400" dirty="0"/>
              <a:t>As a specification for a validator, delegation fails for value constraints. The load-bearing generic checks are 100_0189 (“Values of HDF5 data fields in attributes and datasets must conform to the constraints defined by the Product Specification”) and 100_0214 (“… where the value does not conform to the constraints specified in Table 10c-10 or the Product Specification …”). Both are true statements and neither is executable, because a validator implementing them needs the product constraints in machine-readable form.</a:t>
            </a:r>
          </a:p>
          <a:p>
            <a:pPr>
              <a:lnSpc>
                <a:spcPct val="120000"/>
              </a:lnSpc>
            </a:pPr>
            <a:r>
              <a:rPr lang="en-US" sz="1800" dirty="0"/>
              <a:t>Proposed solutions (perhaps depending on the S-100 Part?):</a:t>
            </a:r>
          </a:p>
          <a:p>
            <a:pPr lvl="1">
              <a:lnSpc>
                <a:spcPct val="120000"/>
              </a:lnSpc>
            </a:pPr>
            <a:r>
              <a:rPr lang="en-US" sz="1400" dirty="0"/>
              <a:t>Remove checks mentioning PS value constraints or attributes defined in the PS from S-158:100 and make them product-specific checks.</a:t>
            </a:r>
          </a:p>
          <a:p>
            <a:pPr lvl="1">
              <a:lnSpc>
                <a:spcPct val="120000"/>
              </a:lnSpc>
            </a:pPr>
            <a:r>
              <a:rPr lang="en-US" sz="1400" dirty="0"/>
              <a:t>Remove references to PS from S-158:100. S-100 generic checks should reference only S-100. Product-specific checks should reference only the PS. Product-specific checks should be written so as not to duplicate S-100 requirements. The Project Teams should be responsible for avoiding unnecessary redundancy in S-158:1xx</a:t>
            </a:r>
          </a:p>
          <a:p>
            <a:pPr lvl="1">
              <a:lnSpc>
                <a:spcPct val="120000"/>
              </a:lnSpc>
            </a:pPr>
            <a:endParaRPr lang="en-US" sz="1400" dirty="0">
              <a:solidFill>
                <a:schemeClr val="accent6">
                  <a:lumMod val="75000"/>
                </a:schemeClr>
              </a:solidFill>
            </a:endParaRPr>
          </a:p>
          <a:p>
            <a:pPr marL="0" indent="0">
              <a:lnSpc>
                <a:spcPct val="120000"/>
              </a:lnSpc>
              <a:buNone/>
            </a:pPr>
            <a:endParaRPr lang="en-US" sz="1800" dirty="0"/>
          </a:p>
        </p:txBody>
      </p:sp>
      <p:sp>
        <p:nvSpPr>
          <p:cNvPr id="2" name="Slide Number Placeholder 1">
            <a:extLst>
              <a:ext uri="{FF2B5EF4-FFF2-40B4-BE49-F238E27FC236}">
                <a16:creationId xmlns:a16="http://schemas.microsoft.com/office/drawing/2014/main" id="{88439F12-DE23-3DC8-49DD-2327300D93F3}"/>
              </a:ext>
            </a:extLst>
          </p:cNvPr>
          <p:cNvSpPr>
            <a:spLocks noGrp="1"/>
          </p:cNvSpPr>
          <p:nvPr>
            <p:ph type="sldNum" sz="quarter" idx="12"/>
          </p:nvPr>
        </p:nvSpPr>
        <p:spPr/>
        <p:txBody>
          <a:bodyPr/>
          <a:lstStyle/>
          <a:p>
            <a:fld id="{46D0E966-1BD1-4C85-866E-DF3AF3395196}" type="slidenum">
              <a:rPr lang="fr-FR" smtClean="0"/>
              <a:t>35</a:t>
            </a:fld>
            <a:endParaRPr lang="fr-FR"/>
          </a:p>
        </p:txBody>
      </p:sp>
      <p:sp>
        <p:nvSpPr>
          <p:cNvPr id="3" name="Title 2">
            <a:extLst>
              <a:ext uri="{FF2B5EF4-FFF2-40B4-BE49-F238E27FC236}">
                <a16:creationId xmlns:a16="http://schemas.microsoft.com/office/drawing/2014/main" id="{20CFE9F2-BE42-5C95-DA44-7B3C0AA46FAA}"/>
              </a:ext>
            </a:extLst>
          </p:cNvPr>
          <p:cNvSpPr>
            <a:spLocks noGrp="1"/>
          </p:cNvSpPr>
          <p:nvPr>
            <p:ph type="title"/>
          </p:nvPr>
        </p:nvSpPr>
        <p:spPr/>
        <p:txBody>
          <a:bodyPr/>
          <a:lstStyle/>
          <a:p>
            <a:r>
              <a:rPr lang="en-US" dirty="0"/>
              <a:t>Combining S-100 and PS in Generic checks</a:t>
            </a:r>
          </a:p>
        </p:txBody>
      </p:sp>
    </p:spTree>
    <p:extLst>
      <p:ext uri="{BB962C8B-B14F-4D97-AF65-F5344CB8AC3E}">
        <p14:creationId xmlns:p14="http://schemas.microsoft.com/office/powerpoint/2010/main" val="1829523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23A53-5BDE-405B-386C-3419635C5450}"/>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87DA971-AB2C-A046-0C4C-BE1BB4F97462}"/>
              </a:ext>
            </a:extLst>
          </p:cNvPr>
          <p:cNvSpPr>
            <a:spLocks noGrp="1"/>
          </p:cNvSpPr>
          <p:nvPr>
            <p:ph idx="1"/>
          </p:nvPr>
        </p:nvSpPr>
        <p:spPr>
          <a:xfrm>
            <a:off x="943707" y="1025524"/>
            <a:ext cx="10515600" cy="5330826"/>
          </a:xfrm>
        </p:spPr>
        <p:txBody>
          <a:bodyPr>
            <a:normAutofit/>
          </a:bodyPr>
          <a:lstStyle/>
          <a:p>
            <a:pPr>
              <a:lnSpc>
                <a:spcPct val="120000"/>
              </a:lnSpc>
            </a:pPr>
            <a:r>
              <a:rPr lang="en-US" sz="2400" dirty="0"/>
              <a:t>Whether a check is expected to be implemented by “traditional” validation or other means.</a:t>
            </a:r>
          </a:p>
          <a:p>
            <a:pPr lvl="1">
              <a:lnSpc>
                <a:spcPct val="120000"/>
              </a:lnSpc>
            </a:pPr>
            <a:r>
              <a:rPr lang="en-US" sz="2000" dirty="0"/>
              <a:t>Visual inspection of feature</a:t>
            </a:r>
          </a:p>
          <a:p>
            <a:pPr lvl="1">
              <a:lnSpc>
                <a:spcPct val="120000"/>
              </a:lnSpc>
            </a:pPr>
            <a:r>
              <a:rPr lang="en-US" sz="2000" dirty="0"/>
              <a:t>Heuristic, for coordinates – compare coordinates to bounding box, (other heuristics?)</a:t>
            </a:r>
          </a:p>
          <a:p>
            <a:pPr lvl="1">
              <a:lnSpc>
                <a:spcPct val="120000"/>
              </a:lnSpc>
            </a:pPr>
            <a:r>
              <a:rPr lang="en-US" sz="2000" dirty="0"/>
              <a:t>“Historical” – compatibility with history of dataset (e.g., edition &amp; update numbers)</a:t>
            </a:r>
          </a:p>
          <a:p>
            <a:pPr lvl="1">
              <a:lnSpc>
                <a:spcPct val="120000"/>
              </a:lnSpc>
            </a:pPr>
            <a:r>
              <a:rPr lang="en-US" sz="2000" dirty="0"/>
              <a:t>Outline of expected implementation</a:t>
            </a:r>
          </a:p>
          <a:p>
            <a:pPr lvl="1">
              <a:lnSpc>
                <a:spcPct val="120000"/>
              </a:lnSpc>
            </a:pPr>
            <a:r>
              <a:rPr lang="en-US" sz="2000" dirty="0"/>
              <a:t>Partial implementation – some combinations of possibilities may lead to a definite pass or fail, some may lead to an “undetermined” result</a:t>
            </a:r>
            <a:endParaRPr lang="en-US" sz="2400" dirty="0"/>
          </a:p>
          <a:p>
            <a:pPr>
              <a:lnSpc>
                <a:spcPct val="120000"/>
              </a:lnSpc>
            </a:pPr>
            <a:r>
              <a:rPr lang="en-US" sz="2400" dirty="0"/>
              <a:t>Other types of check-specific guidance?</a:t>
            </a:r>
          </a:p>
          <a:p>
            <a:pPr>
              <a:lnSpc>
                <a:spcPct val="120000"/>
              </a:lnSpc>
            </a:pPr>
            <a:r>
              <a:rPr lang="en-US" sz="2400" dirty="0"/>
              <a:t>Validation software should add “undetermined” as a check result.</a:t>
            </a:r>
          </a:p>
          <a:p>
            <a:pPr lvl="1">
              <a:lnSpc>
                <a:spcPct val="120000"/>
              </a:lnSpc>
            </a:pPr>
            <a:r>
              <a:rPr lang="en-US" sz="2000" dirty="0"/>
              <a:t>“undetermined” is not equivalent to “not implemented”</a:t>
            </a:r>
          </a:p>
        </p:txBody>
      </p:sp>
      <p:sp>
        <p:nvSpPr>
          <p:cNvPr id="2" name="Slide Number Placeholder 1">
            <a:extLst>
              <a:ext uri="{FF2B5EF4-FFF2-40B4-BE49-F238E27FC236}">
                <a16:creationId xmlns:a16="http://schemas.microsoft.com/office/drawing/2014/main" id="{5B221A06-19A6-894D-34C8-B48EA50FBD3E}"/>
              </a:ext>
            </a:extLst>
          </p:cNvPr>
          <p:cNvSpPr>
            <a:spLocks noGrp="1"/>
          </p:cNvSpPr>
          <p:nvPr>
            <p:ph type="sldNum" sz="quarter" idx="12"/>
          </p:nvPr>
        </p:nvSpPr>
        <p:spPr/>
        <p:txBody>
          <a:bodyPr/>
          <a:lstStyle/>
          <a:p>
            <a:fld id="{46D0E966-1BD1-4C85-866E-DF3AF3395196}" type="slidenum">
              <a:rPr lang="fr-FR" smtClean="0"/>
              <a:t>36</a:t>
            </a:fld>
            <a:endParaRPr lang="fr-FR"/>
          </a:p>
        </p:txBody>
      </p:sp>
      <p:sp>
        <p:nvSpPr>
          <p:cNvPr id="3" name="Title 2">
            <a:extLst>
              <a:ext uri="{FF2B5EF4-FFF2-40B4-BE49-F238E27FC236}">
                <a16:creationId xmlns:a16="http://schemas.microsoft.com/office/drawing/2014/main" id="{80BEB314-BD0B-5B97-B7DA-6099445A49BD}"/>
              </a:ext>
            </a:extLst>
          </p:cNvPr>
          <p:cNvSpPr>
            <a:spLocks noGrp="1"/>
          </p:cNvSpPr>
          <p:nvPr>
            <p:ph type="title"/>
          </p:nvPr>
        </p:nvSpPr>
        <p:spPr/>
        <p:txBody>
          <a:bodyPr/>
          <a:lstStyle/>
          <a:p>
            <a:r>
              <a:rPr lang="en-US" dirty="0"/>
              <a:t>Implementation guidance</a:t>
            </a:r>
          </a:p>
        </p:txBody>
      </p:sp>
    </p:spTree>
    <p:extLst>
      <p:ext uri="{BB962C8B-B14F-4D97-AF65-F5344CB8AC3E}">
        <p14:creationId xmlns:p14="http://schemas.microsoft.com/office/powerpoint/2010/main" val="22882458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8F374-3C7F-CD5C-8101-DA1A3EC5293B}"/>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85D824A-6036-A24D-0C84-11C912841D1D}"/>
              </a:ext>
            </a:extLst>
          </p:cNvPr>
          <p:cNvSpPr>
            <a:spLocks noGrp="1"/>
          </p:cNvSpPr>
          <p:nvPr>
            <p:ph idx="1"/>
          </p:nvPr>
        </p:nvSpPr>
        <p:spPr>
          <a:xfrm>
            <a:off x="943707" y="1025524"/>
            <a:ext cx="10515600" cy="5330826"/>
          </a:xfrm>
        </p:spPr>
        <p:txBody>
          <a:bodyPr>
            <a:normAutofit/>
          </a:bodyPr>
          <a:lstStyle/>
          <a:p>
            <a:pPr>
              <a:lnSpc>
                <a:spcPct val="120000"/>
              </a:lnSpc>
            </a:pPr>
            <a:r>
              <a:rPr lang="en-US" sz="2400" dirty="0"/>
              <a:t>Update references</a:t>
            </a:r>
          </a:p>
          <a:p>
            <a:pPr lvl="1">
              <a:lnSpc>
                <a:spcPct val="120000"/>
              </a:lnSpc>
            </a:pPr>
            <a:r>
              <a:rPr lang="en-US" sz="2000" dirty="0"/>
              <a:t>S-100 5.2.1, S-98 3.0.0</a:t>
            </a:r>
          </a:p>
          <a:p>
            <a:pPr>
              <a:lnSpc>
                <a:spcPct val="120000"/>
              </a:lnSpc>
            </a:pPr>
            <a:r>
              <a:rPr lang="en-US" sz="2400" dirty="0"/>
              <a:t>Add “Implementation guidance” column to check structure</a:t>
            </a:r>
          </a:p>
          <a:p>
            <a:pPr>
              <a:lnSpc>
                <a:spcPct val="120000"/>
              </a:lnSpc>
            </a:pPr>
            <a:r>
              <a:rPr lang="en-US" sz="2400" dirty="0"/>
              <a:t>Collection B checks removed from S-158:100</a:t>
            </a:r>
          </a:p>
          <a:p>
            <a:pPr>
              <a:lnSpc>
                <a:spcPct val="120000"/>
              </a:lnSpc>
            </a:pPr>
            <a:endParaRPr lang="en-US" sz="2400" dirty="0"/>
          </a:p>
          <a:p>
            <a:pPr>
              <a:lnSpc>
                <a:spcPct val="120000"/>
              </a:lnSpc>
            </a:pPr>
            <a:endParaRPr lang="en-US" sz="6400" dirty="0"/>
          </a:p>
          <a:p>
            <a:pPr lvl="1">
              <a:lnSpc>
                <a:spcPct val="120000"/>
              </a:lnSpc>
            </a:pPr>
            <a:endParaRPr lang="en-US" sz="2000" dirty="0"/>
          </a:p>
        </p:txBody>
      </p:sp>
      <p:sp>
        <p:nvSpPr>
          <p:cNvPr id="2" name="Slide Number Placeholder 1">
            <a:extLst>
              <a:ext uri="{FF2B5EF4-FFF2-40B4-BE49-F238E27FC236}">
                <a16:creationId xmlns:a16="http://schemas.microsoft.com/office/drawing/2014/main" id="{2F98EA7D-27C8-22B7-5364-BB45328A6735}"/>
              </a:ext>
            </a:extLst>
          </p:cNvPr>
          <p:cNvSpPr>
            <a:spLocks noGrp="1"/>
          </p:cNvSpPr>
          <p:nvPr>
            <p:ph type="sldNum" sz="quarter" idx="12"/>
          </p:nvPr>
        </p:nvSpPr>
        <p:spPr/>
        <p:txBody>
          <a:bodyPr/>
          <a:lstStyle/>
          <a:p>
            <a:fld id="{46D0E966-1BD1-4C85-866E-DF3AF3395196}" type="slidenum">
              <a:rPr lang="fr-FR" smtClean="0"/>
              <a:t>37</a:t>
            </a:fld>
            <a:endParaRPr lang="fr-FR"/>
          </a:p>
        </p:txBody>
      </p:sp>
      <p:sp>
        <p:nvSpPr>
          <p:cNvPr id="3" name="Title 2">
            <a:extLst>
              <a:ext uri="{FF2B5EF4-FFF2-40B4-BE49-F238E27FC236}">
                <a16:creationId xmlns:a16="http://schemas.microsoft.com/office/drawing/2014/main" id="{B207E66D-A4FA-5BC2-AD6E-5C0093724EB5}"/>
              </a:ext>
            </a:extLst>
          </p:cNvPr>
          <p:cNvSpPr>
            <a:spLocks noGrp="1"/>
          </p:cNvSpPr>
          <p:nvPr>
            <p:ph type="title"/>
          </p:nvPr>
        </p:nvSpPr>
        <p:spPr/>
        <p:txBody>
          <a:bodyPr/>
          <a:lstStyle/>
          <a:p>
            <a:r>
              <a:rPr lang="en-US" dirty="0"/>
              <a:t>Upgrade of cover documents</a:t>
            </a:r>
          </a:p>
        </p:txBody>
      </p:sp>
    </p:spTree>
    <p:extLst>
      <p:ext uri="{BB962C8B-B14F-4D97-AF65-F5344CB8AC3E}">
        <p14:creationId xmlns:p14="http://schemas.microsoft.com/office/powerpoint/2010/main" val="12499594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DFA57-F4E1-C4F8-25DF-89622C6A5934}"/>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D3602E9-0451-6AAF-0823-692BD021241E}"/>
              </a:ext>
            </a:extLst>
          </p:cNvPr>
          <p:cNvSpPr>
            <a:spLocks noGrp="1"/>
          </p:cNvSpPr>
          <p:nvPr>
            <p:ph idx="1"/>
          </p:nvPr>
        </p:nvSpPr>
        <p:spPr>
          <a:xfrm>
            <a:off x="943707" y="1025524"/>
            <a:ext cx="10515600" cy="5330826"/>
          </a:xfrm>
        </p:spPr>
        <p:txBody>
          <a:bodyPr>
            <a:normAutofit fontScale="25000" lnSpcReduction="20000"/>
          </a:bodyPr>
          <a:lstStyle/>
          <a:p>
            <a:pPr>
              <a:lnSpc>
                <a:spcPct val="120000"/>
              </a:lnSpc>
            </a:pPr>
            <a:r>
              <a:rPr lang="en-US" sz="6200" dirty="0"/>
              <a:t>List-form display as in Excel lists of checks for Edition 2.</a:t>
            </a:r>
          </a:p>
          <a:p>
            <a:pPr>
              <a:lnSpc>
                <a:spcPct val="120000"/>
              </a:lnSpc>
            </a:pPr>
            <a:r>
              <a:rPr lang="en-US" sz="6200" dirty="0"/>
              <a:t>Provide for additional product-specific fields in checks.</a:t>
            </a:r>
          </a:p>
          <a:p>
            <a:pPr>
              <a:lnSpc>
                <a:spcPct val="120000"/>
              </a:lnSpc>
            </a:pPr>
            <a:r>
              <a:rPr lang="en-US" sz="6200" dirty="0"/>
              <a:t>Provide for associating an optional free-text or structured annotation (for example a table) to each check.</a:t>
            </a:r>
          </a:p>
          <a:p>
            <a:pPr>
              <a:lnSpc>
                <a:spcPct val="120000"/>
              </a:lnSpc>
            </a:pPr>
            <a:r>
              <a:rPr lang="en-US" sz="6200" dirty="0"/>
              <a:t>Designate checks as common to multiple data products.</a:t>
            </a:r>
          </a:p>
          <a:p>
            <a:pPr>
              <a:lnSpc>
                <a:spcPct val="120000"/>
              </a:lnSpc>
            </a:pPr>
            <a:r>
              <a:rPr lang="en-US" sz="6200" dirty="0"/>
              <a:t>Select checks by data product or generic S-100 checks and the edition </a:t>
            </a:r>
            <a:r>
              <a:rPr lang="en-US" sz="6200" u="sng" dirty="0"/>
              <a:t>to which a check is applicable</a:t>
            </a:r>
            <a:r>
              <a:rPr lang="en-US" sz="6200" dirty="0"/>
              <a:t>, in addition to the introduced/modified/deleted fields</a:t>
            </a:r>
            <a:endParaRPr lang="en-US" sz="6200" u="sng" dirty="0"/>
          </a:p>
          <a:p>
            <a:pPr>
              <a:lnSpc>
                <a:spcPct val="120000"/>
              </a:lnSpc>
            </a:pPr>
            <a:r>
              <a:rPr lang="en-US" sz="6200" dirty="0"/>
              <a:t>Text search of Message, Description, and Solution fields.</a:t>
            </a:r>
          </a:p>
          <a:p>
            <a:pPr>
              <a:lnSpc>
                <a:spcPct val="120000"/>
              </a:lnSpc>
            </a:pPr>
            <a:r>
              <a:rPr lang="en-US" sz="6200" dirty="0"/>
              <a:t>Export results in spreadsheet (or at least CSV?) and XML</a:t>
            </a:r>
          </a:p>
          <a:p>
            <a:pPr lvl="1">
              <a:lnSpc>
                <a:spcPct val="120000"/>
              </a:lnSpc>
            </a:pPr>
            <a:r>
              <a:rPr lang="en-US" sz="5800" dirty="0"/>
              <a:t>Export as Word, HTML or PDF document (only if need is identified)?</a:t>
            </a:r>
          </a:p>
          <a:p>
            <a:pPr lvl="1">
              <a:lnSpc>
                <a:spcPct val="120000"/>
              </a:lnSpc>
            </a:pPr>
            <a:r>
              <a:rPr lang="en-US" sz="5800" dirty="0"/>
              <a:t>Select fields to be exported</a:t>
            </a:r>
          </a:p>
          <a:p>
            <a:pPr>
              <a:lnSpc>
                <a:spcPct val="120000"/>
              </a:lnSpc>
            </a:pPr>
            <a:r>
              <a:rPr lang="en-US" sz="6200" dirty="0"/>
              <a:t>Add Key Terms field to facilitate search – allow S-158:... authors to tag checks with terms which provide more details than the standard fields, such as “root group”, “regular grid”, etc.</a:t>
            </a:r>
          </a:p>
          <a:p>
            <a:pPr lvl="1">
              <a:lnSpc>
                <a:spcPct val="120000"/>
              </a:lnSpc>
            </a:pPr>
            <a:r>
              <a:rPr lang="en-US" sz="5800" dirty="0"/>
              <a:t>Provide for a standardized but easily expandable list of key terms.</a:t>
            </a:r>
          </a:p>
          <a:p>
            <a:pPr>
              <a:lnSpc>
                <a:spcPct val="120000"/>
              </a:lnSpc>
            </a:pPr>
            <a:r>
              <a:rPr lang="en-US" sz="6200" dirty="0"/>
              <a:t>Other requirements?</a:t>
            </a:r>
          </a:p>
        </p:txBody>
      </p:sp>
      <p:sp>
        <p:nvSpPr>
          <p:cNvPr id="2" name="Slide Number Placeholder 1">
            <a:extLst>
              <a:ext uri="{FF2B5EF4-FFF2-40B4-BE49-F238E27FC236}">
                <a16:creationId xmlns:a16="http://schemas.microsoft.com/office/drawing/2014/main" id="{6853DC8C-6979-7DCC-368B-2AEB81DBF65C}"/>
              </a:ext>
            </a:extLst>
          </p:cNvPr>
          <p:cNvSpPr>
            <a:spLocks noGrp="1"/>
          </p:cNvSpPr>
          <p:nvPr>
            <p:ph type="sldNum" sz="quarter" idx="12"/>
          </p:nvPr>
        </p:nvSpPr>
        <p:spPr/>
        <p:txBody>
          <a:bodyPr/>
          <a:lstStyle/>
          <a:p>
            <a:fld id="{46D0E966-1BD1-4C85-866E-DF3AF3395196}" type="slidenum">
              <a:rPr lang="fr-FR" smtClean="0"/>
              <a:t>38</a:t>
            </a:fld>
            <a:endParaRPr lang="fr-FR"/>
          </a:p>
        </p:txBody>
      </p:sp>
      <p:sp>
        <p:nvSpPr>
          <p:cNvPr id="3" name="Title 2">
            <a:extLst>
              <a:ext uri="{FF2B5EF4-FFF2-40B4-BE49-F238E27FC236}">
                <a16:creationId xmlns:a16="http://schemas.microsoft.com/office/drawing/2014/main" id="{4D933A42-8A69-6176-6715-6CB4BF7218E0}"/>
              </a:ext>
            </a:extLst>
          </p:cNvPr>
          <p:cNvSpPr>
            <a:spLocks noGrp="1"/>
          </p:cNvSpPr>
          <p:nvPr>
            <p:ph type="title"/>
          </p:nvPr>
        </p:nvSpPr>
        <p:spPr/>
        <p:txBody>
          <a:bodyPr/>
          <a:lstStyle/>
          <a:p>
            <a:r>
              <a:rPr lang="en-US" dirty="0"/>
              <a:t>Requirements for Infrastructure / artefacts</a:t>
            </a:r>
          </a:p>
        </p:txBody>
      </p:sp>
    </p:spTree>
    <p:extLst>
      <p:ext uri="{BB962C8B-B14F-4D97-AF65-F5344CB8AC3E}">
        <p14:creationId xmlns:p14="http://schemas.microsoft.com/office/powerpoint/2010/main" val="10657323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ACBB6-7C65-AD7E-978F-2ACE4198285B}"/>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53CBF5A-BDDB-CA84-78A1-DDF5DB684FEA}"/>
              </a:ext>
            </a:extLst>
          </p:cNvPr>
          <p:cNvSpPr>
            <a:spLocks noGrp="1"/>
          </p:cNvSpPr>
          <p:nvPr>
            <p:ph idx="1"/>
          </p:nvPr>
        </p:nvSpPr>
        <p:spPr>
          <a:xfrm>
            <a:off x="943707" y="1025524"/>
            <a:ext cx="10515600" cy="5330826"/>
          </a:xfrm>
        </p:spPr>
        <p:txBody>
          <a:bodyPr>
            <a:normAutofit/>
          </a:bodyPr>
          <a:lstStyle/>
          <a:p>
            <a:pPr>
              <a:lnSpc>
                <a:spcPct val="120000"/>
              </a:lnSpc>
            </a:pPr>
            <a:r>
              <a:rPr lang="en-US" sz="2600" dirty="0"/>
              <a:t>Validation subgroup meeting</a:t>
            </a:r>
          </a:p>
          <a:p>
            <a:pPr lvl="1">
              <a:lnSpc>
                <a:spcPct val="120000"/>
              </a:lnSpc>
            </a:pPr>
            <a:r>
              <a:rPr lang="en-US" sz="2200" dirty="0"/>
              <a:t>September 1</a:t>
            </a:r>
          </a:p>
          <a:p>
            <a:pPr lvl="1">
              <a:lnSpc>
                <a:spcPct val="120000"/>
              </a:lnSpc>
            </a:pPr>
            <a:r>
              <a:rPr lang="en-US" sz="2200" dirty="0"/>
              <a:t>...</a:t>
            </a:r>
          </a:p>
          <a:p>
            <a:pPr>
              <a:lnSpc>
                <a:spcPct val="120000"/>
              </a:lnSpc>
            </a:pPr>
            <a:r>
              <a:rPr lang="en-US" sz="2600" dirty="0"/>
              <a:t>Materials for S-100 WG meeting September 2026</a:t>
            </a:r>
          </a:p>
          <a:p>
            <a:pPr lvl="1">
              <a:lnSpc>
                <a:spcPct val="120000"/>
              </a:lnSpc>
            </a:pPr>
            <a:r>
              <a:rPr lang="en-US" sz="2200" dirty="0"/>
              <a:t>Draft Edition 2.0.0 of S-158:100 </a:t>
            </a:r>
          </a:p>
          <a:p>
            <a:pPr lvl="1">
              <a:lnSpc>
                <a:spcPct val="120000"/>
              </a:lnSpc>
            </a:pPr>
            <a:r>
              <a:rPr lang="en-US" sz="2200" dirty="0"/>
              <a:t>Draft Edition 2.0.0 of S-158:98  </a:t>
            </a:r>
          </a:p>
          <a:p>
            <a:pPr lvl="1">
              <a:lnSpc>
                <a:spcPct val="120000"/>
              </a:lnSpc>
            </a:pPr>
            <a:endParaRPr lang="en-US" sz="2000" dirty="0"/>
          </a:p>
        </p:txBody>
      </p:sp>
      <p:sp>
        <p:nvSpPr>
          <p:cNvPr id="2" name="Slide Number Placeholder 1">
            <a:extLst>
              <a:ext uri="{FF2B5EF4-FFF2-40B4-BE49-F238E27FC236}">
                <a16:creationId xmlns:a16="http://schemas.microsoft.com/office/drawing/2014/main" id="{68931AC5-269E-1CCF-02F2-AD3F0E59C13B}"/>
              </a:ext>
            </a:extLst>
          </p:cNvPr>
          <p:cNvSpPr>
            <a:spLocks noGrp="1"/>
          </p:cNvSpPr>
          <p:nvPr>
            <p:ph type="sldNum" sz="quarter" idx="12"/>
          </p:nvPr>
        </p:nvSpPr>
        <p:spPr/>
        <p:txBody>
          <a:bodyPr/>
          <a:lstStyle/>
          <a:p>
            <a:fld id="{46D0E966-1BD1-4C85-866E-DF3AF3395196}" type="slidenum">
              <a:rPr lang="fr-FR" smtClean="0"/>
              <a:t>39</a:t>
            </a:fld>
            <a:endParaRPr lang="fr-FR"/>
          </a:p>
        </p:txBody>
      </p:sp>
      <p:sp>
        <p:nvSpPr>
          <p:cNvPr id="3" name="Title 2">
            <a:extLst>
              <a:ext uri="{FF2B5EF4-FFF2-40B4-BE49-F238E27FC236}">
                <a16:creationId xmlns:a16="http://schemas.microsoft.com/office/drawing/2014/main" id="{C6B1C6A5-8546-2FD3-8FB1-7BFD9CB91CFC}"/>
              </a:ext>
            </a:extLst>
          </p:cNvPr>
          <p:cNvSpPr>
            <a:spLocks noGrp="1"/>
          </p:cNvSpPr>
          <p:nvPr>
            <p:ph type="title"/>
          </p:nvPr>
        </p:nvSpPr>
        <p:spPr/>
        <p:txBody>
          <a:bodyPr/>
          <a:lstStyle/>
          <a:p>
            <a:r>
              <a:rPr lang="en-US" dirty="0"/>
              <a:t>Engagement and review</a:t>
            </a:r>
          </a:p>
        </p:txBody>
      </p:sp>
    </p:spTree>
    <p:extLst>
      <p:ext uri="{BB962C8B-B14F-4D97-AF65-F5344CB8AC3E}">
        <p14:creationId xmlns:p14="http://schemas.microsoft.com/office/powerpoint/2010/main" val="3937928398"/>
      </p:ext>
    </p:extLst>
  </p:cSld>
  <p:clrMapOvr>
    <a:masterClrMapping/>
  </p:clrMapOvr>
</p:sld>
</file>

<file path=ppt/theme/theme1.xml><?xml version="1.0" encoding="utf-8"?>
<a:theme xmlns:a="http://schemas.openxmlformats.org/drawingml/2006/main" name="Master_IHO_New_Log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ster_IHO_New_Logo" id="{92376390-61D0-4A4A-9DAB-DA9E6EE3EAC4}" vid="{E943696B-60C2-4457-926B-515312E413CF}"/>
    </a:ext>
  </a:extLst>
</a:theme>
</file>

<file path=docProps/app.xml><?xml version="1.0" encoding="utf-8"?>
<Properties xmlns="http://schemas.openxmlformats.org/officeDocument/2006/extended-properties" xmlns:vt="http://schemas.openxmlformats.org/officeDocument/2006/docPropsVTypes">
  <TotalTime>10840</TotalTime>
  <Words>5451</Words>
  <Application>Microsoft Office PowerPoint</Application>
  <PresentationFormat>Widescreen</PresentationFormat>
  <Paragraphs>572</Paragraphs>
  <Slides>39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Arial Black</vt:lpstr>
      <vt:lpstr>Calibri</vt:lpstr>
      <vt:lpstr>Calibri Light</vt:lpstr>
      <vt:lpstr>Times New Roman</vt:lpstr>
      <vt:lpstr>Master_IHO_New_Logo</vt:lpstr>
      <vt:lpstr>PowerPoint Presentation</vt:lpstr>
      <vt:lpstr>Meeting protocol</vt:lpstr>
      <vt:lpstr>AGENDA</vt:lpstr>
      <vt:lpstr>S100 validation sub group standards</vt:lpstr>
      <vt:lpstr>Update from S-100 Test Strategy Meeting 12 (TSM) </vt:lpstr>
      <vt:lpstr>Check Classification</vt:lpstr>
      <vt:lpstr>Update from HSSC 18</vt:lpstr>
      <vt:lpstr>PowerPoint Presentation</vt:lpstr>
      <vt:lpstr>Work plan for Edition 2.0.0 </vt:lpstr>
      <vt:lpstr>Co-ordination with S-158:1xx leads</vt:lpstr>
      <vt:lpstr>Preparation for S-100 WG 11 (22-25th September)</vt:lpstr>
      <vt:lpstr>Alignment with S-100 edition 5.2.1 - 1</vt:lpstr>
      <vt:lpstr>Alignment with S-100 edition 5.2.1 - 2</vt:lpstr>
      <vt:lpstr>Alignment with S-100 edition 5.2.1 - 3</vt:lpstr>
      <vt:lpstr>Alignment with S-100 edition 5.2.1- 4</vt:lpstr>
      <vt:lpstr>Alignment with S-100 edition 5.2.1 - 5</vt:lpstr>
      <vt:lpstr>Review and resolution of validation issues - 1</vt:lpstr>
      <vt:lpstr>Review and resolution of validation issues - 2</vt:lpstr>
      <vt:lpstr>Validation check standardization</vt:lpstr>
      <vt:lpstr>Combining S-100 and PS in Generic checks</vt:lpstr>
      <vt:lpstr>Outstanding issues and topics </vt:lpstr>
      <vt:lpstr>Next meetings</vt:lpstr>
      <vt:lpstr>PowerPoint Presentation</vt:lpstr>
      <vt:lpstr>Changes arising from S-98 D.C.A. (MAR 2026) - 1</vt:lpstr>
      <vt:lpstr>Changes arising from S-98 D.C.A. (MAR 2026) - 2</vt:lpstr>
      <vt:lpstr>Changes arising from S-98 D.C.A. (MAR 2026) - 3</vt:lpstr>
      <vt:lpstr>Data constraints Annex clause 6</vt:lpstr>
      <vt:lpstr>Changes arising from S-98 D.C.A. (MAR 2026) - 4</vt:lpstr>
      <vt:lpstr>Changes arising from S-98 D.C.A. (MAR 2026) - 5</vt:lpstr>
      <vt:lpstr>Changes arising from S-98 D.C.A. (MAR 2026) - 6</vt:lpstr>
      <vt:lpstr>Changes arising from S-98 D.C.A. (MAR 2026) - 7</vt:lpstr>
      <vt:lpstr>Changes arising from S-98 D.C.A. (MAR 2026) - 8</vt:lpstr>
      <vt:lpstr>Changes arising from S-58 edition 9 and S-158:101</vt:lpstr>
      <vt:lpstr>Validation check standardization</vt:lpstr>
      <vt:lpstr>Combining S-100 and PS in Generic checks</vt:lpstr>
      <vt:lpstr>Implementation guidance</vt:lpstr>
      <vt:lpstr>Upgrade of cover documents</vt:lpstr>
      <vt:lpstr>Requirements for Infrastructure / artefacts</vt:lpstr>
      <vt:lpstr>Engagement and 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Elizabeth Helen Hahessy</dc:creator>
  <cp:lastModifiedBy>Elizabeth Helen Hahessy</cp:lastModifiedBy>
  <cp:revision>333</cp:revision>
  <cp:lastPrinted>2023-04-25T14:17:38Z</cp:lastPrinted>
  <dcterms:created xsi:type="dcterms:W3CDTF">2023-04-24T11:04:19Z</dcterms:created>
  <dcterms:modified xsi:type="dcterms:W3CDTF">2026-09-01T10:18:51Z</dcterms:modified>
</cp:coreProperties>
</file>